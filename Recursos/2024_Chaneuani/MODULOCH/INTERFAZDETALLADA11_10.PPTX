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1" r:id="rId3"/>
    <p:sldId id="264" r:id="rId4"/>
    <p:sldId id="258" r:id="rId5"/>
    <p:sldId id="259" r:id="rId6"/>
    <p:sldId id="260" r:id="rId7"/>
    <p:sldId id="265" r:id="rId8"/>
    <p:sldId id="266" r:id="rId9"/>
    <p:sldId id="269" r:id="rId10"/>
    <p:sldId id="267" r:id="rId11"/>
    <p:sldId id="270" r:id="rId12"/>
    <p:sldId id="268" r:id="rId13"/>
    <p:sldId id="271" r:id="rId14"/>
    <p:sldId id="272" r:id="rId15"/>
    <p:sldId id="273" r:id="rId16"/>
    <p:sldId id="274" r:id="rId17"/>
    <p:sldId id="275" r:id="rId1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63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9983" autoAdjust="0"/>
    <p:restoredTop sz="98791" autoAdjust="0"/>
  </p:normalViewPr>
  <p:slideViewPr>
    <p:cSldViewPr>
      <p:cViewPr>
        <p:scale>
          <a:sx n="100" d="100"/>
          <a:sy n="100" d="100"/>
        </p:scale>
        <p:origin x="-366" y="192"/>
      </p:cViewPr>
      <p:guideLst>
        <p:guide orient="horz" pos="2160"/>
        <p:guide pos="2880"/>
      </p:guideLst>
    </p:cSldViewPr>
  </p:slideViewPr>
  <p:notesTextViewPr>
    <p:cViewPr>
      <p:scale>
        <a:sx n="150" d="100"/>
        <a:sy n="15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1536CE-7266-C242-A57D-2CECCAE1A9E8}" type="datetimeFigureOut">
              <a:rPr lang="en-US" smtClean="0"/>
              <a:pPr/>
              <a:t>10/26/2010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_tradnl" smtClean="0"/>
              <a:t>Click to edit Master text styles</a:t>
            </a:r>
          </a:p>
          <a:p>
            <a:pPr lvl="1"/>
            <a:r>
              <a:rPr lang="es-ES_tradnl" smtClean="0"/>
              <a:t>Second level</a:t>
            </a:r>
          </a:p>
          <a:p>
            <a:pPr lvl="2"/>
            <a:r>
              <a:rPr lang="es-ES_tradnl" smtClean="0"/>
              <a:t>Third level</a:t>
            </a:r>
          </a:p>
          <a:p>
            <a:pPr lvl="3"/>
            <a:r>
              <a:rPr lang="es-ES_tradnl" smtClean="0"/>
              <a:t>Fourth level</a:t>
            </a:r>
          </a:p>
          <a:p>
            <a:pPr lvl="4"/>
            <a:r>
              <a:rPr lang="es-ES_tradnl"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7D18A0-BFD4-F648-8EAD-9A80CE5B715E}" type="slidenum">
              <a:rPr lang="en-US" smtClean="0"/>
              <a:pPr/>
              <a:t>‹Nº›</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A7D18A0-BFD4-F648-8EAD-9A80CE5B715E}"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14677E84-3089-4973-BA30-83BE5ED66E35}" type="datetimeFigureOut">
              <a:rPr lang="es-ES" smtClean="0"/>
              <a:pPr/>
              <a:t>26/10/2010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40178A2E-5F7F-42FA-BC9B-58C4DB79AB28}"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677E84-3089-4973-BA30-83BE5ED66E35}" type="datetimeFigureOut">
              <a:rPr lang="es-ES" smtClean="0"/>
              <a:pPr/>
              <a:t>26/10/2010</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178A2E-5F7F-42FA-BC9B-58C4DB79AB28}"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0" y="9144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r>
              <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rPr>
              <a:t>Aprendamos </a:t>
            </a:r>
          </a:p>
          <a:p>
            <a:pPr algn="ctr"/>
            <a:r>
              <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rPr>
              <a:t>Náhuatl</a:t>
            </a:r>
          </a:p>
          <a:p>
            <a:pPr algn="ctr"/>
            <a:r>
              <a:rPr lang="es-MX" sz="2400" dirty="0" err="1" smtClean="0">
                <a:solidFill>
                  <a:schemeClr val="tx2">
                    <a:lumMod val="75000"/>
                  </a:schemeClr>
                </a:solidFill>
                <a:effectLst>
                  <a:outerShdw blurRad="38100" dist="38100" dir="2700000" algn="tl">
                    <a:srgbClr val="000000">
                      <a:alpha val="43137"/>
                    </a:srgbClr>
                  </a:outerShdw>
                </a:effectLst>
                <a:latin typeface="MS Reference Sans Serif" pitchFamily="34" charset="0"/>
              </a:rPr>
              <a:t>Matimomachtica</a:t>
            </a:r>
            <a:endParaRPr lang="es-MX" sz="2400"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r>
              <a:rPr lang="es-MX" sz="2400" dirty="0" err="1" smtClean="0">
                <a:solidFill>
                  <a:schemeClr val="tx2">
                    <a:lumMod val="75000"/>
                  </a:schemeClr>
                </a:solidFill>
                <a:effectLst>
                  <a:outerShdw blurRad="38100" dist="38100" dir="2700000" algn="tl">
                    <a:srgbClr val="000000">
                      <a:alpha val="43137"/>
                    </a:srgbClr>
                  </a:outerShdw>
                </a:effectLst>
                <a:latin typeface="MS Reference Sans Serif" pitchFamily="34" charset="0"/>
              </a:rPr>
              <a:t>Mexcatl</a:t>
            </a:r>
            <a:endParaRPr lang="es-MX" sz="2400"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7" name="6 Rectángulo"/>
          <p:cNvSpPr/>
          <p:nvPr/>
        </p:nvSpPr>
        <p:spPr>
          <a:xfrm>
            <a:off x="71406" y="214290"/>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Español</a:t>
            </a:r>
            <a:endParaRPr lang="es-ES" dirty="0"/>
          </a:p>
        </p:txBody>
      </p:sp>
      <p:sp>
        <p:nvSpPr>
          <p:cNvPr id="8" name="7 Rectángulo"/>
          <p:cNvSpPr/>
          <p:nvPr/>
        </p:nvSpPr>
        <p:spPr>
          <a:xfrm>
            <a:off x="7215206" y="214290"/>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err="1" smtClean="0"/>
              <a:t>Francais</a:t>
            </a:r>
            <a:endParaRPr lang="es-ES" dirty="0"/>
          </a:p>
        </p:txBody>
      </p:sp>
      <p:sp>
        <p:nvSpPr>
          <p:cNvPr id="9" name="8 Rectángulo"/>
          <p:cNvSpPr/>
          <p:nvPr/>
        </p:nvSpPr>
        <p:spPr>
          <a:xfrm>
            <a:off x="323528" y="6093296"/>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LOGO UPN</a:t>
            </a:r>
            <a:endParaRPr lang="es-ES" dirty="0"/>
          </a:p>
        </p:txBody>
      </p:sp>
      <p:sp>
        <p:nvSpPr>
          <p:cNvPr id="10" name="9 Rectángulo"/>
          <p:cNvSpPr/>
          <p:nvPr/>
        </p:nvSpPr>
        <p:spPr>
          <a:xfrm>
            <a:off x="7236296" y="6093296"/>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LOGO </a:t>
            </a:r>
            <a:r>
              <a:rPr lang="es-MX" dirty="0" err="1" smtClean="0"/>
              <a:t>UBl</a:t>
            </a:r>
            <a:endParaRPr lang="es-ES" dirty="0"/>
          </a:p>
        </p:txBody>
      </p:sp>
      <p:sp>
        <p:nvSpPr>
          <p:cNvPr id="12" name="11 CuadroTexto"/>
          <p:cNvSpPr txBox="1"/>
          <p:nvPr/>
        </p:nvSpPr>
        <p:spPr>
          <a:xfrm>
            <a:off x="179512" y="2261708"/>
            <a:ext cx="2378375" cy="738664"/>
          </a:xfrm>
          <a:prstGeom prst="rect">
            <a:avLst/>
          </a:prstGeom>
          <a:noFill/>
        </p:spPr>
        <p:txBody>
          <a:bodyPr wrap="none" rtlCol="0">
            <a:spAutoFit/>
          </a:bodyPr>
          <a:lstStyle/>
          <a:p>
            <a:r>
              <a:rPr lang="es-MX" sz="1400" dirty="0" smtClean="0">
                <a:latin typeface="Arial Narrow" pitchFamily="34" charset="0"/>
              </a:rPr>
              <a:t>Imagen de fondo: Transparencia </a:t>
            </a:r>
          </a:p>
          <a:p>
            <a:r>
              <a:rPr lang="es-MX" sz="1400" dirty="0" smtClean="0">
                <a:latin typeface="Arial Narrow" pitchFamily="34" charset="0"/>
              </a:rPr>
              <a:t>Con diseño que evoque la cultura</a:t>
            </a:r>
          </a:p>
          <a:p>
            <a:r>
              <a:rPr lang="es-MX" sz="1400" dirty="0" smtClean="0">
                <a:latin typeface="Arial Narrow" pitchFamily="34" charset="0"/>
              </a:rPr>
              <a:t>del maíz y lo cíclico.</a:t>
            </a:r>
          </a:p>
          <a:p>
            <a:endParaRPr lang="es-MX" sz="1400" dirty="0" smtClean="0">
              <a:latin typeface="Arial Narrow" pitchFamily="34" charset="0"/>
            </a:endParaRPr>
          </a:p>
        </p:txBody>
      </p:sp>
      <p:sp>
        <p:nvSpPr>
          <p:cNvPr id="13" name="9 CuadroTexto"/>
          <p:cNvSpPr txBox="1"/>
          <p:nvPr/>
        </p:nvSpPr>
        <p:spPr>
          <a:xfrm>
            <a:off x="4148134" y="214290"/>
            <a:ext cx="500066" cy="400110"/>
          </a:xfrm>
          <a:prstGeom prst="rect">
            <a:avLst/>
          </a:prstGeom>
          <a:noFill/>
        </p:spPr>
        <p:txBody>
          <a:bodyPr wrap="square" rtlCol="0">
            <a:spAutoFit/>
          </a:bodyPr>
          <a:lstStyle/>
          <a:p>
            <a:r>
              <a:rPr lang="es-MX" sz="2000" dirty="0" smtClean="0">
                <a:latin typeface="Arial Narrow" pitchFamily="34" charset="0"/>
              </a:rPr>
              <a:t>MP</a:t>
            </a:r>
          </a:p>
        </p:txBody>
      </p:sp>
      <p:sp>
        <p:nvSpPr>
          <p:cNvPr id="16" name="15 Rectángulo"/>
          <p:cNvSpPr/>
          <p:nvPr/>
        </p:nvSpPr>
        <p:spPr>
          <a:xfrm>
            <a:off x="130304" y="924680"/>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Características</a:t>
            </a:r>
          </a:p>
          <a:p>
            <a:pPr algn="ctr"/>
            <a:r>
              <a:rPr lang="es-MX" dirty="0"/>
              <a:t>d</a:t>
            </a:r>
            <a:r>
              <a:rPr lang="es-MX" dirty="0" smtClean="0"/>
              <a:t>el material</a:t>
            </a:r>
            <a:endParaRPr lang="es-ES" dirty="0"/>
          </a:p>
        </p:txBody>
      </p:sp>
      <p:sp>
        <p:nvSpPr>
          <p:cNvPr id="17" name="16 Rectángulo"/>
          <p:cNvSpPr/>
          <p:nvPr/>
        </p:nvSpPr>
        <p:spPr>
          <a:xfrm>
            <a:off x="2362200" y="924680"/>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La lengua</a:t>
            </a:r>
          </a:p>
          <a:p>
            <a:pPr algn="ctr"/>
            <a:r>
              <a:rPr lang="es-MX" dirty="0" smtClean="0"/>
              <a:t>Náhuatl</a:t>
            </a:r>
          </a:p>
        </p:txBody>
      </p:sp>
      <p:sp>
        <p:nvSpPr>
          <p:cNvPr id="20" name="19 Rectángulo"/>
          <p:cNvSpPr/>
          <p:nvPr/>
        </p:nvSpPr>
        <p:spPr>
          <a:xfrm>
            <a:off x="7202666" y="928670"/>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Usuario</a:t>
            </a:r>
            <a:endParaRPr lang="es-ES" dirty="0"/>
          </a:p>
        </p:txBody>
      </p:sp>
      <p:sp>
        <p:nvSpPr>
          <p:cNvPr id="21" name="20 Rectángulo"/>
          <p:cNvSpPr/>
          <p:nvPr/>
        </p:nvSpPr>
        <p:spPr>
          <a:xfrm>
            <a:off x="4773774" y="928670"/>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Módulos de </a:t>
            </a:r>
          </a:p>
          <a:p>
            <a:pPr algn="ctr"/>
            <a:r>
              <a:rPr lang="es-MX" dirty="0" smtClean="0"/>
              <a:t>Aprendizaje</a:t>
            </a:r>
            <a:endParaRPr lang="es-E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0" y="762000"/>
            <a:ext cx="9144000" cy="50432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7" name="6 Rectángulo"/>
          <p:cNvSpPr/>
          <p:nvPr/>
        </p:nvSpPr>
        <p:spPr>
          <a:xfrm>
            <a:off x="285720" y="785794"/>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Características</a:t>
            </a:r>
          </a:p>
          <a:p>
            <a:pPr algn="ctr"/>
            <a:r>
              <a:rPr lang="es-MX" dirty="0"/>
              <a:t>d</a:t>
            </a:r>
            <a:r>
              <a:rPr lang="es-MX" dirty="0" smtClean="0"/>
              <a:t>el material</a:t>
            </a:r>
            <a:endParaRPr lang="es-ES" dirty="0"/>
          </a:p>
        </p:txBody>
      </p:sp>
      <p:sp>
        <p:nvSpPr>
          <p:cNvPr id="8" name="7 Rectángulo"/>
          <p:cNvSpPr/>
          <p:nvPr/>
        </p:nvSpPr>
        <p:spPr>
          <a:xfrm>
            <a:off x="6858000" y="762000"/>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Usuario</a:t>
            </a:r>
            <a:endParaRPr lang="es-ES" dirty="0"/>
          </a:p>
        </p:txBody>
      </p:sp>
      <p:sp>
        <p:nvSpPr>
          <p:cNvPr id="9" name="8 Rectángulo"/>
          <p:cNvSpPr/>
          <p:nvPr/>
        </p:nvSpPr>
        <p:spPr>
          <a:xfrm>
            <a:off x="323528" y="6093296"/>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Mapa</a:t>
            </a:r>
            <a:endParaRPr lang="es-ES" dirty="0"/>
          </a:p>
        </p:txBody>
      </p:sp>
      <p:sp>
        <p:nvSpPr>
          <p:cNvPr id="13" name="12 Rectángulo"/>
          <p:cNvSpPr/>
          <p:nvPr/>
        </p:nvSpPr>
        <p:spPr>
          <a:xfrm>
            <a:off x="2362200" y="762000"/>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La lengua</a:t>
            </a:r>
          </a:p>
          <a:p>
            <a:pPr algn="ctr"/>
            <a:r>
              <a:rPr lang="es-MX" dirty="0" smtClean="0"/>
              <a:t>Náhuatl</a:t>
            </a:r>
          </a:p>
        </p:txBody>
      </p:sp>
      <p:sp>
        <p:nvSpPr>
          <p:cNvPr id="14" name="13 Rectángulo"/>
          <p:cNvSpPr/>
          <p:nvPr/>
        </p:nvSpPr>
        <p:spPr>
          <a:xfrm>
            <a:off x="4572000" y="762000"/>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Módulos de </a:t>
            </a:r>
          </a:p>
          <a:p>
            <a:pPr algn="ctr"/>
            <a:r>
              <a:rPr lang="es-MX" dirty="0" smtClean="0"/>
              <a:t>Aprendizaje</a:t>
            </a:r>
            <a:endParaRPr lang="es-ES" dirty="0"/>
          </a:p>
        </p:txBody>
      </p:sp>
      <p:sp>
        <p:nvSpPr>
          <p:cNvPr id="12" name="TextBox 11"/>
          <p:cNvSpPr txBox="1"/>
          <p:nvPr/>
        </p:nvSpPr>
        <p:spPr>
          <a:xfrm>
            <a:off x="152400" y="1371600"/>
            <a:ext cx="8915400" cy="5740034"/>
          </a:xfrm>
          <a:prstGeom prst="rect">
            <a:avLst/>
          </a:prstGeom>
          <a:noFill/>
        </p:spPr>
        <p:txBody>
          <a:bodyPr wrap="square" rtlCol="0">
            <a:spAutoFit/>
          </a:bodyPr>
          <a:lstStyle/>
          <a:p>
            <a:r>
              <a:rPr lang="es-MX" sz="1000" b="1" dirty="0" smtClean="0">
                <a:latin typeface="Arial Narrow"/>
                <a:cs typeface="Arial Narrow"/>
              </a:rPr>
              <a:t>Propósitos</a:t>
            </a:r>
            <a:endParaRPr lang="es-ES_tradnl" sz="1000" dirty="0" smtClean="0">
              <a:latin typeface="Arial Narrow"/>
              <a:cs typeface="Arial Narrow"/>
            </a:endParaRPr>
          </a:p>
          <a:p>
            <a:r>
              <a:rPr lang="es-MX" sz="1000" i="1" dirty="0" smtClean="0">
                <a:latin typeface="Arial Narrow"/>
                <a:cs typeface="Arial Narrow"/>
              </a:rPr>
              <a:t>Aprendamos Nahuatl </a:t>
            </a:r>
            <a:r>
              <a:rPr lang="es-MX" sz="1000" dirty="0" smtClean="0">
                <a:latin typeface="Arial Narrow"/>
                <a:cs typeface="Arial Narrow"/>
              </a:rPr>
              <a:t> es un material elaborado para el aprendizaje de la lengua náhuatl.</a:t>
            </a:r>
            <a:endParaRPr lang="es-ES_tradnl" sz="1000" dirty="0" smtClean="0">
              <a:latin typeface="Arial Narrow"/>
              <a:cs typeface="Arial Narrow"/>
            </a:endParaRPr>
          </a:p>
          <a:p>
            <a:r>
              <a:rPr lang="es-MX" sz="1000" dirty="0" smtClean="0">
                <a:latin typeface="Arial Narrow"/>
                <a:cs typeface="Arial Narrow"/>
              </a:rPr>
              <a:t>Fue diseñado para promover un aprendizaje de nivel introductorio, por lo que la persona interesada encontrará frases y expresiones que permiten comprender diálogos sencillos para cubrir necesidades cotidianas inmediatas.</a:t>
            </a:r>
            <a:endParaRPr lang="es-ES_tradnl" sz="1000" dirty="0" smtClean="0">
              <a:latin typeface="Arial Narrow"/>
              <a:cs typeface="Arial Narrow"/>
            </a:endParaRPr>
          </a:p>
          <a:p>
            <a:r>
              <a:rPr lang="es-MX" sz="1000" dirty="0" smtClean="0">
                <a:latin typeface="Arial Narrow"/>
                <a:cs typeface="Arial Narrow"/>
              </a:rPr>
              <a:t>Dado que en el náhuatl, como en otras lenguas indígenas de México, prevalece la expresión oral;  este material pondera las habilidades de comprensión y producción orales del aprendiz. </a:t>
            </a:r>
            <a:endParaRPr lang="es-ES_tradnl" sz="1000" dirty="0" smtClean="0">
              <a:latin typeface="Arial Narrow"/>
              <a:cs typeface="Arial Narrow"/>
            </a:endParaRPr>
          </a:p>
          <a:p>
            <a:r>
              <a:rPr lang="es-MX" sz="1000" dirty="0" smtClean="0">
                <a:latin typeface="Arial Narrow"/>
                <a:cs typeface="Arial Narrow"/>
              </a:rPr>
              <a:t>Los textos son una herramienta para apoyar la discriminación de sonidos y palabras, así como para coadyuvar en las actividades de análisis de las expresiones aquí contenidas.</a:t>
            </a:r>
            <a:endParaRPr lang="es-ES_tradnl" sz="1000" dirty="0" smtClean="0">
              <a:latin typeface="Arial Narrow"/>
              <a:cs typeface="Arial Narrow"/>
            </a:endParaRPr>
          </a:p>
          <a:p>
            <a:r>
              <a:rPr lang="es-MX" sz="1000" dirty="0" smtClean="0">
                <a:latin typeface="Arial Narrow"/>
                <a:cs typeface="Arial Narrow"/>
              </a:rPr>
              <a:t>La variante de náhuatl de este material corresponde a la región denominada Mixteca Alta Veracruzana</a:t>
            </a:r>
          </a:p>
          <a:p>
            <a:endParaRPr lang="es-MX" sz="1000" dirty="0" smtClean="0">
              <a:latin typeface="Arial Narrow"/>
              <a:cs typeface="Arial Narrow"/>
            </a:endParaRPr>
          </a:p>
          <a:p>
            <a:r>
              <a:rPr lang="es-MX" sz="1000" b="1" dirty="0" smtClean="0"/>
              <a:t>Organización</a:t>
            </a:r>
            <a:endParaRPr lang="es-ES_tradnl" sz="1000" dirty="0" smtClean="0"/>
          </a:p>
          <a:p>
            <a:r>
              <a:rPr lang="es-MX" sz="1000" i="1" dirty="0" smtClean="0"/>
              <a:t>Aprendamos Nahuatl </a:t>
            </a:r>
            <a:r>
              <a:rPr lang="es-MX" sz="1000" dirty="0" smtClean="0"/>
              <a:t>está organizado en cinco módulos de aprendizaje.  Cada módulo representa un sector de la vida social de las comunidades hablantes de náhuatl.</a:t>
            </a:r>
            <a:endParaRPr lang="es-ES_tradnl" sz="1000" dirty="0" smtClean="0"/>
          </a:p>
          <a:p>
            <a:r>
              <a:rPr lang="es-MX" sz="1000" dirty="0" smtClean="0"/>
              <a:t>En estos ámbitos se generan diversas relaciones sociales enmarcadas en las formas de vida, creencias,  concepciones de la familia, del hombre, de la naturaleza y de la sociedad; a través del diálogo que recrea y transforma la lengua ancestral.</a:t>
            </a:r>
            <a:endParaRPr lang="es-ES_tradnl" sz="1000" dirty="0" smtClean="0"/>
          </a:p>
          <a:p>
            <a:r>
              <a:rPr lang="es-MX" sz="1000" dirty="0" smtClean="0"/>
              <a:t>	 Los módulos de aprendizaje son: Chaneuanij, Tlamachtilistli, Tianguistli, Xantoloj, Miltequitl.</a:t>
            </a:r>
          </a:p>
          <a:p>
            <a:r>
              <a:rPr lang="es-MX" sz="1000" b="1" dirty="0" smtClean="0"/>
              <a:t>Usuarios</a:t>
            </a:r>
            <a:endParaRPr lang="es-MX" sz="1000" dirty="0" smtClean="0"/>
          </a:p>
          <a:p>
            <a:r>
              <a:rPr lang="es-MX" sz="1000" dirty="0" smtClean="0"/>
              <a:t>En su origen, </a:t>
            </a:r>
            <a:r>
              <a:rPr lang="es-MX" sz="1000" i="1" dirty="0" smtClean="0"/>
              <a:t>Aprendamos Nahuatl</a:t>
            </a:r>
            <a:r>
              <a:rPr lang="es-MX" sz="1000" dirty="0" smtClean="0"/>
              <a:t> se concibió para ser utilizado por los estudiantes de la Licenciatura en Enseñanza del Francés (LEF), quienes en el transcurso del tercer año de formación universitaria, deben realizar un ejercicio de análisis y reflexión en torno al proceso cognitivo y situaciones socioculturales a las que se enfrentan las personas cuando aprenden una nueva lengua.</a:t>
            </a:r>
            <a:endParaRPr lang="es-ES_tradnl" sz="1000" dirty="0" smtClean="0"/>
          </a:p>
          <a:p>
            <a:r>
              <a:rPr lang="es-MX" sz="1000" dirty="0" smtClean="0"/>
              <a:t> Su uso, sin embargo, está disponible para todas las personas que deseen iniciarse en el aprendizaje de una de las lenguas que fundan la cultura mexicana.</a:t>
            </a:r>
            <a:endParaRPr lang="es-ES_tradnl" sz="1000" dirty="0" smtClean="0"/>
          </a:p>
          <a:p>
            <a:r>
              <a:rPr lang="es-MX" sz="1000" dirty="0" smtClean="0"/>
              <a:t> Si usted es estudiante de la LEF utilice su registro. Usted deberá realizar la totalidad de actividades, ejercicios y evaluaciones que presenta este material.  Su trabajo será acompañado por el asesor del módulo.</a:t>
            </a:r>
            <a:endParaRPr lang="es-ES_tradnl" sz="1000" dirty="0" smtClean="0"/>
          </a:p>
          <a:p>
            <a:r>
              <a:rPr lang="es-MX" sz="1000" dirty="0" smtClean="0"/>
              <a:t> Si usted es una persona interesada en explorar el material e introducirse en el universo cultural y lingüístico del náhuatl, le damos una cordial bienvenida. Si desea hacer alguna observación o comentario para enriquecerlo, agradeceremos su comunicación a la dirección de contacto.</a:t>
            </a:r>
            <a:endParaRPr lang="es-ES_tradnl" sz="1000" dirty="0" smtClean="0"/>
          </a:p>
          <a:p>
            <a:r>
              <a:rPr lang="es-MX" sz="1000" dirty="0" smtClean="0"/>
              <a:t> </a:t>
            </a:r>
            <a:endParaRPr lang="es-ES_tradnl" sz="1000" dirty="0" smtClean="0"/>
          </a:p>
          <a:p>
            <a:r>
              <a:rPr lang="es-MX" sz="1000" b="1" dirty="0" smtClean="0"/>
              <a:t>Navegación</a:t>
            </a:r>
            <a:endParaRPr lang="es-ES_tradnl" sz="1000" dirty="0" smtClean="0"/>
          </a:p>
          <a:p>
            <a:r>
              <a:rPr lang="es-MX" sz="1000" dirty="0" smtClean="0"/>
              <a:t>El usuario de </a:t>
            </a:r>
            <a:r>
              <a:rPr lang="es-MX" sz="1000" i="1" dirty="0" smtClean="0"/>
              <a:t>Aprendamos Nahuatl </a:t>
            </a:r>
            <a:r>
              <a:rPr lang="es-MX" sz="1000" dirty="0" smtClean="0"/>
              <a:t>puede elegir el camino a seguir por los distintos diálogos y actividades que se le proponen. </a:t>
            </a:r>
            <a:endParaRPr lang="es-ES_tradnl" sz="1000" dirty="0" smtClean="0"/>
          </a:p>
          <a:p>
            <a:r>
              <a:rPr lang="es-MX" sz="1000" dirty="0" smtClean="0"/>
              <a:t> En caso de que requiera ubicar el espacio donde se encuentra, use el </a:t>
            </a:r>
            <a:r>
              <a:rPr lang="es-MX" sz="1000" b="1" dirty="0" smtClean="0"/>
              <a:t>Mapa</a:t>
            </a:r>
            <a:r>
              <a:rPr lang="es-MX" sz="1000" dirty="0" smtClean="0"/>
              <a:t> situado permanentemente en la esquina inferior izquierda del sitio web.</a:t>
            </a:r>
            <a:endParaRPr lang="es-ES_tradnl" sz="1000" dirty="0" smtClean="0"/>
          </a:p>
          <a:p>
            <a:r>
              <a:rPr lang="es-MX" sz="1000" dirty="0" smtClean="0"/>
              <a:t> Al internarse en los espacios de este sitio encontrará una </a:t>
            </a:r>
            <a:r>
              <a:rPr lang="es-MX" sz="1000" b="1" dirty="0" smtClean="0"/>
              <a:t>Ayuda</a:t>
            </a:r>
            <a:r>
              <a:rPr lang="es-MX" sz="1000" dirty="0" smtClean="0"/>
              <a:t> ubicada en la esquina inferior derecha, que le indica la función o significado de los íconos utilizados en el material.</a:t>
            </a:r>
            <a:endParaRPr lang="es-ES_tradnl" sz="1000" dirty="0" smtClean="0"/>
          </a:p>
          <a:p>
            <a:endParaRPr lang="es-MX" sz="1100" dirty="0" smtClean="0"/>
          </a:p>
          <a:p>
            <a:endParaRPr lang="es-MX" sz="1100" dirty="0" smtClean="0"/>
          </a:p>
          <a:p>
            <a:endParaRPr lang="es-ES_tradnl" sz="1100" dirty="0" smtClean="0"/>
          </a:p>
          <a:p>
            <a:r>
              <a:rPr lang="es-MX" sz="1100" b="1" dirty="0" smtClean="0"/>
              <a:t> </a:t>
            </a:r>
            <a:endParaRPr lang="es-ES_tradnl" sz="1100" dirty="0" smtClean="0"/>
          </a:p>
          <a:p>
            <a:endParaRPr lang="es-MX" sz="1100" dirty="0" smtClean="0">
              <a:latin typeface="Arial Narrow"/>
              <a:cs typeface="Arial Narrow"/>
            </a:endParaRPr>
          </a:p>
          <a:p>
            <a:endParaRPr lang="es-MX" sz="1100" dirty="0" smtClean="0">
              <a:latin typeface="Arial Narrow"/>
              <a:cs typeface="Arial Narrow"/>
            </a:endParaRPr>
          </a:p>
          <a:p>
            <a:r>
              <a:rPr lang="es-MX" sz="1100" dirty="0" smtClean="0">
                <a:latin typeface="Arial Narrow"/>
                <a:cs typeface="Arial Narrow"/>
              </a:rPr>
              <a:t> </a:t>
            </a:r>
            <a:endParaRPr lang="en-US" sz="1100" dirty="0">
              <a:latin typeface="Arial Narrow"/>
              <a:cs typeface="Arial Narrow"/>
            </a:endParaRPr>
          </a:p>
        </p:txBody>
      </p:sp>
      <p:sp>
        <p:nvSpPr>
          <p:cNvPr id="16" name="Action Button: Custom 15">
            <a:hlinkClick r:id="rId2" action="ppaction://hlinksldjump" highlightClick="1"/>
          </p:cNvPr>
          <p:cNvSpPr/>
          <p:nvPr/>
        </p:nvSpPr>
        <p:spPr>
          <a:xfrm>
            <a:off x="4572000" y="762000"/>
            <a:ext cx="1600200" cy="533400"/>
          </a:xfrm>
          <a:prstGeom prst="actionButtonBlank">
            <a:avLst/>
          </a:prstGeom>
          <a:solidFill>
            <a:schemeClr val="accent5">
              <a:lumMod val="60000"/>
              <a:lumOff val="40000"/>
              <a:alpha val="0"/>
            </a:schemeClr>
          </a:solidFill>
          <a:ln>
            <a:solidFill>
              <a:schemeClr val="accent1">
                <a:shade val="95000"/>
                <a:satMod val="105000"/>
                <a:alpha val="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9 CuadroTexto"/>
          <p:cNvSpPr txBox="1"/>
          <p:nvPr/>
        </p:nvSpPr>
        <p:spPr>
          <a:xfrm>
            <a:off x="285720" y="214290"/>
            <a:ext cx="500066" cy="400110"/>
          </a:xfrm>
          <a:prstGeom prst="rect">
            <a:avLst/>
          </a:prstGeom>
          <a:noFill/>
        </p:spPr>
        <p:txBody>
          <a:bodyPr wrap="square" rtlCol="0">
            <a:spAutoFit/>
          </a:bodyPr>
          <a:lstStyle/>
          <a:p>
            <a:r>
              <a:rPr lang="es-MX" sz="2000" dirty="0" smtClean="0">
                <a:latin typeface="Arial Narrow" pitchFamily="34" charset="0"/>
              </a:rPr>
              <a:t>M1</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0" y="980728"/>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7" name="6 Rectángulo"/>
          <p:cNvSpPr/>
          <p:nvPr/>
        </p:nvSpPr>
        <p:spPr>
          <a:xfrm>
            <a:off x="251520" y="980728"/>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Características</a:t>
            </a:r>
          </a:p>
          <a:p>
            <a:pPr algn="ctr"/>
            <a:r>
              <a:rPr lang="es-MX" dirty="0"/>
              <a:t>d</a:t>
            </a:r>
            <a:r>
              <a:rPr lang="es-MX" dirty="0" smtClean="0"/>
              <a:t>el material©</a:t>
            </a:r>
            <a:endParaRPr lang="es-ES" dirty="0"/>
          </a:p>
        </p:txBody>
      </p:sp>
      <p:sp>
        <p:nvSpPr>
          <p:cNvPr id="8" name="7 Rectángulo"/>
          <p:cNvSpPr/>
          <p:nvPr/>
        </p:nvSpPr>
        <p:spPr>
          <a:xfrm>
            <a:off x="7092280" y="980728"/>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Usuario</a:t>
            </a:r>
            <a:endParaRPr lang="es-ES" dirty="0"/>
          </a:p>
        </p:txBody>
      </p:sp>
      <p:sp>
        <p:nvSpPr>
          <p:cNvPr id="9" name="8 Rectángulo"/>
          <p:cNvSpPr/>
          <p:nvPr/>
        </p:nvSpPr>
        <p:spPr>
          <a:xfrm>
            <a:off x="323528" y="6093296"/>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Mapa</a:t>
            </a:r>
            <a:endParaRPr lang="es-ES" dirty="0"/>
          </a:p>
        </p:txBody>
      </p:sp>
      <p:sp>
        <p:nvSpPr>
          <p:cNvPr id="13" name="12 Rectángulo"/>
          <p:cNvSpPr/>
          <p:nvPr/>
        </p:nvSpPr>
        <p:spPr>
          <a:xfrm>
            <a:off x="2555776" y="980728"/>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La lengua</a:t>
            </a:r>
          </a:p>
          <a:p>
            <a:pPr algn="ctr"/>
            <a:r>
              <a:rPr lang="es-MX" dirty="0" smtClean="0"/>
              <a:t>Náhuatl</a:t>
            </a:r>
          </a:p>
        </p:txBody>
      </p:sp>
      <p:sp>
        <p:nvSpPr>
          <p:cNvPr id="14" name="13 Rectángulo"/>
          <p:cNvSpPr/>
          <p:nvPr/>
        </p:nvSpPr>
        <p:spPr>
          <a:xfrm>
            <a:off x="4788024" y="980728"/>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Módulos de </a:t>
            </a:r>
          </a:p>
          <a:p>
            <a:pPr algn="ctr"/>
            <a:r>
              <a:rPr lang="es-MX" dirty="0" smtClean="0"/>
              <a:t>Aprendizaje</a:t>
            </a:r>
            <a:endParaRPr lang="es-ES" dirty="0"/>
          </a:p>
        </p:txBody>
      </p:sp>
      <p:sp>
        <p:nvSpPr>
          <p:cNvPr id="10" name="9 CuadroTexto"/>
          <p:cNvSpPr txBox="1"/>
          <p:nvPr/>
        </p:nvSpPr>
        <p:spPr>
          <a:xfrm>
            <a:off x="285720" y="214290"/>
            <a:ext cx="500066" cy="400110"/>
          </a:xfrm>
          <a:prstGeom prst="rect">
            <a:avLst/>
          </a:prstGeom>
          <a:noFill/>
        </p:spPr>
        <p:txBody>
          <a:bodyPr wrap="square" rtlCol="0">
            <a:spAutoFit/>
          </a:bodyPr>
          <a:lstStyle/>
          <a:p>
            <a:r>
              <a:rPr lang="es-MX" sz="2000" dirty="0" smtClean="0">
                <a:latin typeface="Arial Narrow" pitchFamily="34" charset="0"/>
              </a:rPr>
              <a:t>M2</a:t>
            </a:r>
          </a:p>
        </p:txBody>
      </p:sp>
      <p:sp>
        <p:nvSpPr>
          <p:cNvPr id="11" name="10 Rectángulo redondeado"/>
          <p:cNvSpPr/>
          <p:nvPr/>
        </p:nvSpPr>
        <p:spPr>
          <a:xfrm>
            <a:off x="2786050" y="2195174"/>
            <a:ext cx="2952328" cy="2448272"/>
          </a:xfrm>
          <a:prstGeom prst="roundRect">
            <a:avLst/>
          </a:prstGeom>
        </p:spPr>
        <p:style>
          <a:lnRef idx="1">
            <a:schemeClr val="dk1"/>
          </a:lnRef>
          <a:fillRef idx="1003">
            <a:schemeClr val="lt1"/>
          </a:fillRef>
          <a:effectRef idx="1">
            <a:schemeClr val="dk1"/>
          </a:effectRef>
          <a:fontRef idx="minor">
            <a:schemeClr val="dk1"/>
          </a:fontRef>
        </p:style>
        <p:txBody>
          <a:bodyPr rtlCol="0" anchor="ctr"/>
          <a:lstStyle/>
          <a:p>
            <a:pPr algn="ctr"/>
            <a:endParaRPr lang="es-ES"/>
          </a:p>
        </p:txBody>
      </p:sp>
      <p:sp>
        <p:nvSpPr>
          <p:cNvPr id="12" name="11 CuadroTexto"/>
          <p:cNvSpPr txBox="1"/>
          <p:nvPr/>
        </p:nvSpPr>
        <p:spPr>
          <a:xfrm>
            <a:off x="304800" y="2133600"/>
            <a:ext cx="1691680" cy="523220"/>
          </a:xfrm>
          <a:prstGeom prst="rect">
            <a:avLst/>
          </a:prstGeom>
          <a:noFill/>
        </p:spPr>
        <p:txBody>
          <a:bodyPr wrap="square" rtlCol="0">
            <a:spAutoFit/>
          </a:bodyPr>
          <a:lstStyle/>
          <a:p>
            <a:r>
              <a:rPr lang="es-MX" sz="1400" dirty="0" smtClean="0">
                <a:latin typeface="Arial Narrow" pitchFamily="34" charset="0"/>
              </a:rPr>
              <a:t>Video que presenta La lengua </a:t>
            </a:r>
            <a:r>
              <a:rPr lang="es-MX" sz="1400" dirty="0" err="1" smtClean="0">
                <a:latin typeface="Arial Narrow" pitchFamily="34" charset="0"/>
              </a:rPr>
              <a:t>Nahuatl</a:t>
            </a:r>
            <a:endParaRPr lang="es-MX" sz="1400" dirty="0" smtClean="0">
              <a:latin typeface="Arial Narrow"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32" y="1000108"/>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Mapa</a:t>
            </a:r>
            <a:endParaRPr lang="es-ES" dirty="0"/>
          </a:p>
        </p:txBody>
      </p:sp>
      <p:sp>
        <p:nvSpPr>
          <p:cNvPr id="15" name="14 CuadroTexto"/>
          <p:cNvSpPr txBox="1"/>
          <p:nvPr/>
        </p:nvSpPr>
        <p:spPr>
          <a:xfrm>
            <a:off x="2267744" y="303039"/>
            <a:ext cx="4577087" cy="461665"/>
          </a:xfrm>
          <a:prstGeom prst="rect">
            <a:avLst/>
          </a:prstGeom>
          <a:noFill/>
        </p:spPr>
        <p:txBody>
          <a:bodyPr wrap="none" rtlCol="0">
            <a:spAutoFit/>
          </a:bodyPr>
          <a:lstStyle/>
          <a:p>
            <a:r>
              <a:rPr lang="es-MX" sz="2400" dirty="0" smtClean="0">
                <a:effectLst>
                  <a:outerShdw blurRad="38100" dist="38100" dir="2700000" algn="tl">
                    <a:srgbClr val="000000">
                      <a:alpha val="43137"/>
                    </a:srgbClr>
                  </a:outerShdw>
                </a:effectLst>
                <a:latin typeface="MS Reference Sans Serif" pitchFamily="34" charset="0"/>
              </a:rPr>
              <a:t>MÓDULOS DE APRENDIZAJE</a:t>
            </a:r>
            <a:endParaRPr lang="es-ES" sz="2400" dirty="0">
              <a:effectLst>
                <a:outerShdw blurRad="38100" dist="38100" dir="2700000" algn="tl">
                  <a:srgbClr val="000000">
                    <a:alpha val="43137"/>
                  </a:srgbClr>
                </a:outerShdw>
              </a:effectLst>
              <a:latin typeface="MS Reference Sans Serif" pitchFamily="34" charset="0"/>
            </a:endParaRPr>
          </a:p>
        </p:txBody>
      </p:sp>
      <p:sp>
        <p:nvSpPr>
          <p:cNvPr id="18" name="17 Rectángulo redondeado"/>
          <p:cNvSpPr/>
          <p:nvPr/>
        </p:nvSpPr>
        <p:spPr>
          <a:xfrm>
            <a:off x="323528" y="2636912"/>
            <a:ext cx="1440160" cy="122413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sz="2000" b="1" dirty="0" err="1" smtClean="0">
                <a:latin typeface="Arial Narrow" pitchFamily="34" charset="0"/>
              </a:rPr>
              <a:t>Chaneuanij</a:t>
            </a:r>
            <a:endParaRPr lang="es-ES" sz="2000" b="1" dirty="0">
              <a:latin typeface="Arial Narrow" pitchFamily="34" charset="0"/>
            </a:endParaRPr>
          </a:p>
        </p:txBody>
      </p:sp>
      <p:sp>
        <p:nvSpPr>
          <p:cNvPr id="19" name="18 Rectángulo redondeado"/>
          <p:cNvSpPr/>
          <p:nvPr/>
        </p:nvSpPr>
        <p:spPr>
          <a:xfrm>
            <a:off x="1979712" y="2636912"/>
            <a:ext cx="1440160" cy="1224136"/>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MX" sz="2000" b="1" dirty="0" err="1" smtClean="0">
                <a:effectLst>
                  <a:outerShdw blurRad="38100" dist="38100" dir="2700000" algn="tl">
                    <a:srgbClr val="000000">
                      <a:alpha val="43137"/>
                    </a:srgbClr>
                  </a:outerShdw>
                </a:effectLst>
                <a:latin typeface="Arial Narrow" pitchFamily="34" charset="0"/>
              </a:rPr>
              <a:t>Tianguistli</a:t>
            </a:r>
            <a:endParaRPr lang="es-ES" sz="2000" b="1" dirty="0">
              <a:effectLst>
                <a:outerShdw blurRad="38100" dist="38100" dir="2700000" algn="tl">
                  <a:srgbClr val="000000">
                    <a:alpha val="43137"/>
                  </a:srgbClr>
                </a:outerShdw>
              </a:effectLst>
              <a:latin typeface="Arial Narrow" pitchFamily="34" charset="0"/>
            </a:endParaRPr>
          </a:p>
        </p:txBody>
      </p:sp>
      <p:sp>
        <p:nvSpPr>
          <p:cNvPr id="20" name="19 Rectángulo redondeado"/>
          <p:cNvSpPr/>
          <p:nvPr/>
        </p:nvSpPr>
        <p:spPr>
          <a:xfrm>
            <a:off x="3635896" y="2636912"/>
            <a:ext cx="1872208" cy="1224136"/>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MX" sz="2000" b="1" dirty="0" err="1" smtClean="0">
                <a:effectLst>
                  <a:outerShdw blurRad="38100" dist="38100" dir="2700000" algn="tl">
                    <a:srgbClr val="000000">
                      <a:alpha val="43137"/>
                    </a:srgbClr>
                  </a:outerShdw>
                </a:effectLst>
                <a:latin typeface="Arial Narrow" pitchFamily="34" charset="0"/>
              </a:rPr>
              <a:t>Tlamachtilistli</a:t>
            </a:r>
            <a:endParaRPr lang="es-ES" sz="2000" b="1" dirty="0">
              <a:effectLst>
                <a:outerShdw blurRad="38100" dist="38100" dir="2700000" algn="tl">
                  <a:srgbClr val="000000">
                    <a:alpha val="43137"/>
                  </a:srgbClr>
                </a:outerShdw>
              </a:effectLst>
              <a:latin typeface="Arial Narrow" pitchFamily="34" charset="0"/>
            </a:endParaRPr>
          </a:p>
        </p:txBody>
      </p:sp>
      <p:sp>
        <p:nvSpPr>
          <p:cNvPr id="21" name="20 Rectángulo redondeado"/>
          <p:cNvSpPr/>
          <p:nvPr/>
        </p:nvSpPr>
        <p:spPr>
          <a:xfrm>
            <a:off x="5724128" y="2636912"/>
            <a:ext cx="1440160" cy="122413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s-MX" sz="2000" b="1" dirty="0" err="1" smtClean="0">
                <a:effectLst>
                  <a:outerShdw blurRad="38100" dist="38100" dir="2700000" algn="tl">
                    <a:srgbClr val="000000">
                      <a:alpha val="43137"/>
                    </a:srgbClr>
                  </a:outerShdw>
                </a:effectLst>
                <a:latin typeface="Arial Narrow" pitchFamily="34" charset="0"/>
              </a:rPr>
              <a:t>Miltekitl</a:t>
            </a:r>
            <a:endParaRPr lang="es-ES" sz="2000" b="1" dirty="0">
              <a:effectLst>
                <a:outerShdw blurRad="38100" dist="38100" dir="2700000" algn="tl">
                  <a:srgbClr val="000000">
                    <a:alpha val="43137"/>
                  </a:srgbClr>
                </a:outerShdw>
              </a:effectLst>
              <a:latin typeface="Arial Narrow" pitchFamily="34" charset="0"/>
            </a:endParaRPr>
          </a:p>
        </p:txBody>
      </p:sp>
      <p:sp>
        <p:nvSpPr>
          <p:cNvPr id="22" name="21 Rectángulo redondeado"/>
          <p:cNvSpPr/>
          <p:nvPr/>
        </p:nvSpPr>
        <p:spPr>
          <a:xfrm>
            <a:off x="7308304" y="2636912"/>
            <a:ext cx="1440160" cy="122413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MX" sz="2000" b="1" dirty="0" err="1" smtClean="0">
                <a:effectLst>
                  <a:outerShdw blurRad="38100" dist="38100" dir="2700000" algn="tl">
                    <a:srgbClr val="000000">
                      <a:alpha val="43137"/>
                    </a:srgbClr>
                  </a:outerShdw>
                </a:effectLst>
                <a:latin typeface="Arial Narrow" pitchFamily="34" charset="0"/>
              </a:rPr>
              <a:t>Xantoloj</a:t>
            </a:r>
            <a:endParaRPr lang="es-ES" sz="2000" b="1" dirty="0">
              <a:effectLst>
                <a:outerShdw blurRad="38100" dist="38100" dir="2700000" algn="tl">
                  <a:srgbClr val="000000">
                    <a:alpha val="43137"/>
                  </a:srgbClr>
                </a:outerShdw>
              </a:effectLst>
              <a:latin typeface="Arial Narrow" pitchFamily="34" charset="0"/>
            </a:endParaRPr>
          </a:p>
        </p:txBody>
      </p:sp>
      <p:sp>
        <p:nvSpPr>
          <p:cNvPr id="10" name="Action Button: Custom 9">
            <a:hlinkClick r:id="rId2" action="ppaction://hlinksldjump" highlightClick="1"/>
          </p:cNvPr>
          <p:cNvSpPr/>
          <p:nvPr/>
        </p:nvSpPr>
        <p:spPr>
          <a:xfrm>
            <a:off x="304800" y="2590800"/>
            <a:ext cx="1447800" cy="1295400"/>
          </a:xfrm>
          <a:prstGeom prst="actionButtonBlank">
            <a:avLst/>
          </a:prstGeom>
          <a:solidFill>
            <a:schemeClr val="accent5">
              <a:lumMod val="60000"/>
              <a:lumOff val="40000"/>
              <a:alpha val="0"/>
            </a:schemeClr>
          </a:solidFill>
          <a:ln>
            <a:solidFill>
              <a:schemeClr val="accent1">
                <a:shade val="95000"/>
                <a:satMod val="105000"/>
                <a:alpha val="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10 CuadroTexto"/>
          <p:cNvSpPr txBox="1"/>
          <p:nvPr/>
        </p:nvSpPr>
        <p:spPr>
          <a:xfrm>
            <a:off x="285720" y="214290"/>
            <a:ext cx="642942" cy="400110"/>
          </a:xfrm>
          <a:prstGeom prst="rect">
            <a:avLst/>
          </a:prstGeom>
          <a:noFill/>
        </p:spPr>
        <p:txBody>
          <a:bodyPr wrap="square" rtlCol="0">
            <a:spAutoFit/>
          </a:bodyPr>
          <a:lstStyle/>
          <a:p>
            <a:r>
              <a:rPr lang="es-MX" sz="2000" dirty="0" smtClean="0">
                <a:latin typeface="Arial Narrow" pitchFamily="34" charset="0"/>
              </a:rPr>
              <a:t>MA</a:t>
            </a:r>
          </a:p>
        </p:txBody>
      </p:sp>
      <p:sp>
        <p:nvSpPr>
          <p:cNvPr id="12" name="11 CuadroTexto"/>
          <p:cNvSpPr txBox="1"/>
          <p:nvPr/>
        </p:nvSpPr>
        <p:spPr>
          <a:xfrm>
            <a:off x="642910" y="4071942"/>
            <a:ext cx="928694" cy="338554"/>
          </a:xfrm>
          <a:prstGeom prst="rect">
            <a:avLst/>
          </a:prstGeom>
          <a:noFill/>
        </p:spPr>
        <p:txBody>
          <a:bodyPr wrap="square" rtlCol="0">
            <a:spAutoFit/>
          </a:bodyPr>
          <a:lstStyle/>
          <a:p>
            <a:r>
              <a:rPr lang="es-MX" sz="1600" dirty="0" smtClean="0">
                <a:latin typeface="Arial Narrow" pitchFamily="34" charset="0"/>
              </a:rPr>
              <a:t>MA-CH</a:t>
            </a:r>
          </a:p>
        </p:txBody>
      </p:sp>
      <p:sp>
        <p:nvSpPr>
          <p:cNvPr id="13" name="12 CuadroTexto"/>
          <p:cNvSpPr txBox="1"/>
          <p:nvPr/>
        </p:nvSpPr>
        <p:spPr>
          <a:xfrm>
            <a:off x="2285984" y="4071942"/>
            <a:ext cx="928694" cy="338554"/>
          </a:xfrm>
          <a:prstGeom prst="rect">
            <a:avLst/>
          </a:prstGeom>
          <a:noFill/>
        </p:spPr>
        <p:txBody>
          <a:bodyPr wrap="square" rtlCol="0">
            <a:spAutoFit/>
          </a:bodyPr>
          <a:lstStyle/>
          <a:p>
            <a:r>
              <a:rPr lang="es-MX" sz="1600" dirty="0" smtClean="0">
                <a:latin typeface="Arial Narrow" pitchFamily="34" charset="0"/>
              </a:rPr>
              <a:t>MA-TI</a:t>
            </a:r>
          </a:p>
        </p:txBody>
      </p:sp>
      <p:sp>
        <p:nvSpPr>
          <p:cNvPr id="14" name="13 CuadroTexto"/>
          <p:cNvSpPr txBox="1"/>
          <p:nvPr/>
        </p:nvSpPr>
        <p:spPr>
          <a:xfrm>
            <a:off x="4214810" y="4071942"/>
            <a:ext cx="928694" cy="338554"/>
          </a:xfrm>
          <a:prstGeom prst="rect">
            <a:avLst/>
          </a:prstGeom>
          <a:noFill/>
        </p:spPr>
        <p:txBody>
          <a:bodyPr wrap="square" rtlCol="0">
            <a:spAutoFit/>
          </a:bodyPr>
          <a:lstStyle/>
          <a:p>
            <a:r>
              <a:rPr lang="es-MX" sz="1600" dirty="0" smtClean="0">
                <a:latin typeface="Arial Narrow" pitchFamily="34" charset="0"/>
              </a:rPr>
              <a:t>MA-TL</a:t>
            </a:r>
          </a:p>
        </p:txBody>
      </p:sp>
      <p:sp>
        <p:nvSpPr>
          <p:cNvPr id="16" name="15 CuadroTexto"/>
          <p:cNvSpPr txBox="1"/>
          <p:nvPr/>
        </p:nvSpPr>
        <p:spPr>
          <a:xfrm>
            <a:off x="6072198" y="4090578"/>
            <a:ext cx="928694" cy="338554"/>
          </a:xfrm>
          <a:prstGeom prst="rect">
            <a:avLst/>
          </a:prstGeom>
          <a:noFill/>
        </p:spPr>
        <p:txBody>
          <a:bodyPr wrap="square" rtlCol="0">
            <a:spAutoFit/>
          </a:bodyPr>
          <a:lstStyle/>
          <a:p>
            <a:r>
              <a:rPr lang="es-MX" sz="1600" dirty="0" smtClean="0">
                <a:latin typeface="Arial Narrow" pitchFamily="34" charset="0"/>
              </a:rPr>
              <a:t>MA-MI</a:t>
            </a:r>
          </a:p>
        </p:txBody>
      </p:sp>
      <p:sp>
        <p:nvSpPr>
          <p:cNvPr id="17" name="16 CuadroTexto"/>
          <p:cNvSpPr txBox="1"/>
          <p:nvPr/>
        </p:nvSpPr>
        <p:spPr>
          <a:xfrm>
            <a:off x="7643834" y="4071942"/>
            <a:ext cx="928694" cy="338554"/>
          </a:xfrm>
          <a:prstGeom prst="rect">
            <a:avLst/>
          </a:prstGeom>
          <a:noFill/>
        </p:spPr>
        <p:txBody>
          <a:bodyPr wrap="square" rtlCol="0">
            <a:spAutoFit/>
          </a:bodyPr>
          <a:lstStyle/>
          <a:p>
            <a:r>
              <a:rPr lang="es-MX" sz="1600" dirty="0" smtClean="0">
                <a:latin typeface="Arial Narrow" pitchFamily="34" charset="0"/>
              </a:rPr>
              <a:t>MA-XA</a:t>
            </a:r>
          </a:p>
        </p:txBody>
      </p:sp>
      <p:sp>
        <p:nvSpPr>
          <p:cNvPr id="23" name="11 CuadroTexto"/>
          <p:cNvSpPr txBox="1"/>
          <p:nvPr/>
        </p:nvSpPr>
        <p:spPr>
          <a:xfrm>
            <a:off x="152400" y="1676400"/>
            <a:ext cx="2743200" cy="738664"/>
          </a:xfrm>
          <a:prstGeom prst="rect">
            <a:avLst/>
          </a:prstGeom>
          <a:noFill/>
        </p:spPr>
        <p:txBody>
          <a:bodyPr wrap="square" rtlCol="0">
            <a:spAutoFit/>
          </a:bodyPr>
          <a:lstStyle/>
          <a:p>
            <a:r>
              <a:rPr lang="es-MX" sz="1400" dirty="0" smtClean="0">
                <a:latin typeface="Arial Narrow" pitchFamily="34" charset="0"/>
              </a:rPr>
              <a:t>Iconografía que permite el acceso a los </a:t>
            </a:r>
          </a:p>
          <a:p>
            <a:r>
              <a:rPr lang="es-MX" sz="1400" dirty="0" smtClean="0">
                <a:latin typeface="Arial Narrow" pitchFamily="34" charset="0"/>
              </a:rPr>
              <a:t>diversos módulos: Actividades de aprendizaje</a:t>
            </a:r>
          </a:p>
          <a:p>
            <a:endParaRPr lang="es-MX" sz="1400" dirty="0" smtClean="0">
              <a:latin typeface="Arial Narrow" pitchFamily="34" charset="0"/>
            </a:endParaRPr>
          </a:p>
        </p:txBody>
      </p:sp>
      <p:sp>
        <p:nvSpPr>
          <p:cNvPr id="26" name="7 Rectángulo"/>
          <p:cNvSpPr/>
          <p:nvPr/>
        </p:nvSpPr>
        <p:spPr>
          <a:xfrm>
            <a:off x="0" y="990600"/>
            <a:ext cx="15841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MPrincipal</a:t>
            </a:r>
            <a:endParaRPr lang="es-E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80728"/>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11" name="10 Rectángulo redondeado"/>
          <p:cNvSpPr/>
          <p:nvPr/>
        </p:nvSpPr>
        <p:spPr>
          <a:xfrm>
            <a:off x="179512" y="1124744"/>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12" name="11 Rectángulo redondeado"/>
          <p:cNvSpPr/>
          <p:nvPr/>
        </p:nvSpPr>
        <p:spPr>
          <a:xfrm>
            <a:off x="611560" y="1124744"/>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13" name="12 Rectángulo redondeado"/>
          <p:cNvSpPr/>
          <p:nvPr/>
        </p:nvSpPr>
        <p:spPr>
          <a:xfrm>
            <a:off x="1043608" y="1124744"/>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14" name="13 Rectángulo redondeado"/>
          <p:cNvSpPr/>
          <p:nvPr/>
        </p:nvSpPr>
        <p:spPr>
          <a:xfrm>
            <a:off x="1475656" y="1124744"/>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17" name="16 Rectángulo redondeado"/>
          <p:cNvSpPr/>
          <p:nvPr/>
        </p:nvSpPr>
        <p:spPr>
          <a:xfrm>
            <a:off x="2915816" y="1844824"/>
            <a:ext cx="2952328" cy="2448272"/>
          </a:xfrm>
          <a:prstGeom prst="roundRect">
            <a:avLst/>
          </a:prstGeom>
        </p:spPr>
        <p:style>
          <a:lnRef idx="1">
            <a:schemeClr val="dk1"/>
          </a:lnRef>
          <a:fillRef idx="1003">
            <a:schemeClr val="lt1"/>
          </a:fillRef>
          <a:effectRef idx="1">
            <a:schemeClr val="dk1"/>
          </a:effectRef>
          <a:fontRef idx="minor">
            <a:schemeClr val="dk1"/>
          </a:fontRef>
        </p:style>
        <p:txBody>
          <a:bodyPr rtlCol="0" anchor="ctr"/>
          <a:lstStyle/>
          <a:p>
            <a:pPr algn="ctr"/>
            <a:endParaRPr lang="es-ES"/>
          </a:p>
        </p:txBody>
      </p:sp>
      <p:sp>
        <p:nvSpPr>
          <p:cNvPr id="23" name="22 Rectángulo"/>
          <p:cNvSpPr/>
          <p:nvPr/>
        </p:nvSpPr>
        <p:spPr>
          <a:xfrm>
            <a:off x="3491880"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Objetivos</a:t>
            </a:r>
            <a:endParaRPr lang="es-ES" b="1" dirty="0">
              <a:solidFill>
                <a:schemeClr val="tx1"/>
              </a:solidFill>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sp>
        <p:nvSpPr>
          <p:cNvPr id="25" name="24 Rectángulo redondeado"/>
          <p:cNvSpPr/>
          <p:nvPr/>
        </p:nvSpPr>
        <p:spPr>
          <a:xfrm>
            <a:off x="6286512" y="4500570"/>
            <a:ext cx="2232248" cy="50405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sz="2000" b="1" dirty="0" smtClean="0">
                <a:effectLst>
                  <a:outerShdw blurRad="38100" dist="38100" dir="2700000" algn="tl">
                    <a:srgbClr val="000000">
                      <a:alpha val="43137"/>
                    </a:srgbClr>
                  </a:outerShdw>
                </a:effectLst>
                <a:latin typeface="Arial Narrow" pitchFamily="34" charset="0"/>
              </a:rPr>
              <a:t>Actividades</a:t>
            </a:r>
            <a:endParaRPr lang="es-ES" sz="2000" b="1" dirty="0">
              <a:effectLst>
                <a:outerShdw blurRad="38100" dist="38100" dir="2700000" algn="tl">
                  <a:srgbClr val="000000">
                    <a:alpha val="43137"/>
                  </a:srgbClr>
                </a:outerShdw>
              </a:effectLst>
              <a:latin typeface="Arial Narrow" pitchFamily="34" charset="0"/>
            </a:endParaRPr>
          </a:p>
        </p:txBody>
      </p:sp>
      <p:sp>
        <p:nvSpPr>
          <p:cNvPr id="26" name="25 CuadroTexto"/>
          <p:cNvSpPr txBox="1"/>
          <p:nvPr/>
        </p:nvSpPr>
        <p:spPr>
          <a:xfrm>
            <a:off x="228600" y="2209800"/>
            <a:ext cx="1691680" cy="1169551"/>
          </a:xfrm>
          <a:prstGeom prst="rect">
            <a:avLst/>
          </a:prstGeom>
          <a:noFill/>
        </p:spPr>
        <p:txBody>
          <a:bodyPr wrap="square" rtlCol="0">
            <a:spAutoFit/>
          </a:bodyPr>
          <a:lstStyle/>
          <a:p>
            <a:r>
              <a:rPr lang="es-MX" sz="1400" dirty="0" smtClean="0">
                <a:latin typeface="Arial Narrow" pitchFamily="34" charset="0"/>
              </a:rPr>
              <a:t>Video que presenta el contexto socio-cultural</a:t>
            </a:r>
          </a:p>
          <a:p>
            <a:r>
              <a:rPr lang="es-MX" sz="1400" dirty="0" smtClean="0">
                <a:latin typeface="Arial Narrow" pitchFamily="34" charset="0"/>
              </a:rPr>
              <a:t>del módulo. (Arranca al iniciar el módulo).</a:t>
            </a:r>
          </a:p>
          <a:p>
            <a:r>
              <a:rPr lang="es-MX" sz="1400" dirty="0" smtClean="0">
                <a:latin typeface="Arial Narrow" pitchFamily="34" charset="0"/>
              </a:rPr>
              <a:t>Incluir “Play” y “stop”</a:t>
            </a:r>
          </a:p>
        </p:txBody>
      </p:sp>
      <p:sp>
        <p:nvSpPr>
          <p:cNvPr id="27" name="26 CuadroTexto"/>
          <p:cNvSpPr txBox="1"/>
          <p:nvPr/>
        </p:nvSpPr>
        <p:spPr>
          <a:xfrm>
            <a:off x="1979712" y="1104999"/>
            <a:ext cx="2088232" cy="307777"/>
          </a:xfrm>
          <a:prstGeom prst="rect">
            <a:avLst/>
          </a:prstGeom>
          <a:noFill/>
        </p:spPr>
        <p:txBody>
          <a:bodyPr wrap="square" rtlCol="0">
            <a:spAutoFit/>
          </a:bodyPr>
          <a:lstStyle/>
          <a:p>
            <a:r>
              <a:rPr lang="es-MX" sz="1400" dirty="0" smtClean="0">
                <a:latin typeface="Arial Narrow" pitchFamily="34" charset="0"/>
              </a:rPr>
              <a:t>Regreso a menú. Módulos</a:t>
            </a:r>
          </a:p>
        </p:txBody>
      </p:sp>
      <p:sp>
        <p:nvSpPr>
          <p:cNvPr id="16" name="Action Button: Custom 15">
            <a:hlinkClick r:id="rId2" action="ppaction://hlinksldjump" highlightClick="1"/>
          </p:cNvPr>
          <p:cNvSpPr/>
          <p:nvPr/>
        </p:nvSpPr>
        <p:spPr>
          <a:xfrm>
            <a:off x="0" y="1066800"/>
            <a:ext cx="1981200" cy="381000"/>
          </a:xfrm>
          <a:prstGeom prst="actionButtonBlank">
            <a:avLst/>
          </a:prstGeom>
          <a:solidFill>
            <a:schemeClr val="accent5">
              <a:lumMod val="60000"/>
              <a:lumOff val="40000"/>
              <a:alpha val="0"/>
            </a:schemeClr>
          </a:solidFill>
          <a:ln>
            <a:solidFill>
              <a:schemeClr val="accent1">
                <a:shade val="95000"/>
                <a:satMod val="105000"/>
                <a:alpha val="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Action Button: Custom 17">
            <a:hlinkClick r:id="rId3" action="ppaction://hlinksldjump" highlightClick="1"/>
          </p:cNvPr>
          <p:cNvSpPr/>
          <p:nvPr/>
        </p:nvSpPr>
        <p:spPr>
          <a:xfrm>
            <a:off x="6286512" y="4572008"/>
            <a:ext cx="2362200" cy="685800"/>
          </a:xfrm>
          <a:prstGeom prst="actionButtonBlank">
            <a:avLst/>
          </a:prstGeom>
          <a:solidFill>
            <a:schemeClr val="accent5">
              <a:lumMod val="60000"/>
              <a:lumOff val="40000"/>
              <a:alpha val="0"/>
            </a:schemeClr>
          </a:solidFill>
          <a:ln>
            <a:solidFill>
              <a:schemeClr val="accent1">
                <a:shade val="95000"/>
                <a:satMod val="105000"/>
                <a:alpha val="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18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MA-CH-1</a:t>
            </a:r>
          </a:p>
        </p:txBody>
      </p:sp>
      <p:sp>
        <p:nvSpPr>
          <p:cNvPr id="20" name="19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21" name="20 CuadroTexto"/>
          <p:cNvSpPr txBox="1"/>
          <p:nvPr/>
        </p:nvSpPr>
        <p:spPr>
          <a:xfrm>
            <a:off x="6929454" y="5000636"/>
            <a:ext cx="928694" cy="338554"/>
          </a:xfrm>
          <a:prstGeom prst="rect">
            <a:avLst/>
          </a:prstGeom>
          <a:noFill/>
        </p:spPr>
        <p:txBody>
          <a:bodyPr wrap="square" rtlCol="0">
            <a:spAutoFit/>
          </a:bodyPr>
          <a:lstStyle/>
          <a:p>
            <a:r>
              <a:rPr lang="es-MX" sz="1600" dirty="0" smtClean="0">
                <a:latin typeface="Arial Narrow" pitchFamily="34" charset="0"/>
              </a:rPr>
              <a:t>MA-CH-2</a:t>
            </a:r>
            <a:endParaRPr lang="es-MX" sz="1600" dirty="0" smtClean="0">
              <a:solidFill>
                <a:schemeClr val="bg1"/>
              </a:solidFill>
              <a:latin typeface="Arial Narrow"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11" name="10 Rectángulo redondeado"/>
          <p:cNvSpPr/>
          <p:nvPr/>
        </p:nvSpPr>
        <p:spPr>
          <a:xfrm>
            <a:off x="179512" y="1124744"/>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12" name="11 Rectángulo redondeado"/>
          <p:cNvSpPr/>
          <p:nvPr/>
        </p:nvSpPr>
        <p:spPr>
          <a:xfrm>
            <a:off x="611560" y="1124744"/>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13" name="12 Rectángulo redondeado"/>
          <p:cNvSpPr/>
          <p:nvPr/>
        </p:nvSpPr>
        <p:spPr>
          <a:xfrm>
            <a:off x="1043608" y="1124744"/>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14" name="13 Rectángulo redondeado"/>
          <p:cNvSpPr/>
          <p:nvPr/>
        </p:nvSpPr>
        <p:spPr>
          <a:xfrm>
            <a:off x="1475656" y="1124744"/>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sp>
        <p:nvSpPr>
          <p:cNvPr id="27" name="26 CuadroTexto"/>
          <p:cNvSpPr txBox="1"/>
          <p:nvPr/>
        </p:nvSpPr>
        <p:spPr>
          <a:xfrm>
            <a:off x="1979712" y="1066800"/>
            <a:ext cx="2088232" cy="307777"/>
          </a:xfrm>
          <a:prstGeom prst="rect">
            <a:avLst/>
          </a:prstGeom>
          <a:noFill/>
        </p:spPr>
        <p:txBody>
          <a:bodyPr wrap="square" rtlCol="0">
            <a:spAutoFit/>
          </a:bodyPr>
          <a:lstStyle/>
          <a:p>
            <a:r>
              <a:rPr lang="es-MX" sz="1400" dirty="0" smtClean="0">
                <a:latin typeface="Arial Narrow" pitchFamily="34" charset="0"/>
              </a:rPr>
              <a:t>Regreso a menú. Módulos</a:t>
            </a:r>
          </a:p>
        </p:txBody>
      </p:sp>
      <p:sp>
        <p:nvSpPr>
          <p:cNvPr id="28" name="26 CuadroTexto"/>
          <p:cNvSpPr txBox="1"/>
          <p:nvPr/>
        </p:nvSpPr>
        <p:spPr>
          <a:xfrm>
            <a:off x="0" y="2209800"/>
            <a:ext cx="2209800" cy="523220"/>
          </a:xfrm>
          <a:prstGeom prst="rect">
            <a:avLst/>
          </a:prstGeom>
          <a:noFill/>
        </p:spPr>
        <p:txBody>
          <a:bodyPr wrap="square" rtlCol="0">
            <a:spAutoFit/>
          </a:bodyPr>
          <a:lstStyle/>
          <a:p>
            <a:r>
              <a:rPr lang="es-MX" sz="1400" dirty="0" smtClean="0">
                <a:latin typeface="Arial Narrow" pitchFamily="34" charset="0"/>
              </a:rPr>
              <a:t>Escenario. 3 zonas sensibles</a:t>
            </a:r>
          </a:p>
          <a:p>
            <a:r>
              <a:rPr lang="es-MX" sz="1400" dirty="0" smtClean="0">
                <a:latin typeface="Arial Narrow" pitchFamily="34" charset="0"/>
              </a:rPr>
              <a:t>Cada una es una imagen</a:t>
            </a:r>
          </a:p>
          <a:p>
            <a:endParaRPr lang="es-MX" sz="1400" dirty="0" smtClean="0">
              <a:latin typeface="Arial Narrow" pitchFamily="34" charset="0"/>
            </a:endParaRPr>
          </a:p>
        </p:txBody>
      </p:sp>
      <p:sp>
        <p:nvSpPr>
          <p:cNvPr id="16" name="Oval 15"/>
          <p:cNvSpPr/>
          <p:nvPr/>
        </p:nvSpPr>
        <p:spPr>
          <a:xfrm>
            <a:off x="3857620" y="1714488"/>
            <a:ext cx="914400" cy="83820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p:cNvSpPr/>
          <p:nvPr/>
        </p:nvSpPr>
        <p:spPr>
          <a:xfrm>
            <a:off x="2667000" y="3657600"/>
            <a:ext cx="914400" cy="838200"/>
          </a:xfrm>
          <a:prstGeom prst="ellipse">
            <a:avLst/>
          </a:prstGeom>
          <a:solidFill>
            <a:srgbClr val="4DE63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p:cNvSpPr/>
          <p:nvPr/>
        </p:nvSpPr>
        <p:spPr>
          <a:xfrm>
            <a:off x="5105400" y="3733800"/>
            <a:ext cx="914400" cy="838200"/>
          </a:xfrm>
          <a:prstGeom prst="ellipse">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Action Button: Custom 19">
            <a:hlinkClick r:id="rId3" action="ppaction://hlinksldjump" highlightClick="1"/>
          </p:cNvPr>
          <p:cNvSpPr/>
          <p:nvPr/>
        </p:nvSpPr>
        <p:spPr>
          <a:xfrm>
            <a:off x="3786182" y="1571612"/>
            <a:ext cx="1042416" cy="1042416"/>
          </a:xfrm>
          <a:prstGeom prst="actionButtonBlank">
            <a:avLst/>
          </a:prstGeom>
          <a:solidFill>
            <a:schemeClr val="accent5">
              <a:lumMod val="60000"/>
              <a:lumOff val="40000"/>
              <a:alpha val="0"/>
            </a:schemeClr>
          </a:solidFill>
          <a:ln>
            <a:solidFill>
              <a:schemeClr val="accent1">
                <a:shade val="95000"/>
                <a:satMod val="105000"/>
                <a:alpha val="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20 Cilindro"/>
          <p:cNvSpPr/>
          <p:nvPr/>
        </p:nvSpPr>
        <p:spPr>
          <a:xfrm>
            <a:off x="862010" y="3124200"/>
            <a:ext cx="357190" cy="1428760"/>
          </a:xfrm>
          <a:prstGeom prst="can">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21 CuadroTexto"/>
          <p:cNvSpPr txBox="1"/>
          <p:nvPr/>
        </p:nvSpPr>
        <p:spPr>
          <a:xfrm>
            <a:off x="152400" y="4724400"/>
            <a:ext cx="1828800" cy="830997"/>
          </a:xfrm>
          <a:prstGeom prst="rect">
            <a:avLst/>
          </a:prstGeom>
          <a:noFill/>
        </p:spPr>
        <p:txBody>
          <a:bodyPr wrap="square" rtlCol="0">
            <a:spAutoFit/>
          </a:bodyPr>
          <a:lstStyle/>
          <a:p>
            <a:pPr algn="ctr"/>
            <a:r>
              <a:rPr lang="es-MX" sz="1200" dirty="0" smtClean="0"/>
              <a:t>Indicador de avance</a:t>
            </a:r>
          </a:p>
          <a:p>
            <a:pPr algn="ctr"/>
            <a:r>
              <a:rPr lang="es-MX" sz="1200" dirty="0" smtClean="0"/>
              <a:t>0%</a:t>
            </a:r>
          </a:p>
          <a:p>
            <a:pPr algn="ctr"/>
            <a:r>
              <a:rPr lang="es-MX" sz="1200" dirty="0" smtClean="0"/>
              <a:t>Registra actividades que el usuario va realizando</a:t>
            </a:r>
          </a:p>
          <a:p>
            <a:pPr algn="ctr"/>
            <a:endParaRPr lang="es-MX" sz="1200" dirty="0" smtClean="0"/>
          </a:p>
        </p:txBody>
      </p:sp>
      <p:sp>
        <p:nvSpPr>
          <p:cNvPr id="25" name="24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MA-CH-2</a:t>
            </a:r>
          </a:p>
        </p:txBody>
      </p:sp>
      <p:sp>
        <p:nvSpPr>
          <p:cNvPr id="26" name="25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29" name="28 CuadroTexto"/>
          <p:cNvSpPr txBox="1"/>
          <p:nvPr/>
        </p:nvSpPr>
        <p:spPr>
          <a:xfrm>
            <a:off x="4024306" y="2633246"/>
            <a:ext cx="928694" cy="338554"/>
          </a:xfrm>
          <a:prstGeom prst="rect">
            <a:avLst/>
          </a:prstGeom>
          <a:noFill/>
        </p:spPr>
        <p:txBody>
          <a:bodyPr wrap="square" rtlCol="0">
            <a:spAutoFit/>
          </a:bodyPr>
          <a:lstStyle/>
          <a:p>
            <a:r>
              <a:rPr lang="es-MX" sz="1600" dirty="0" smtClean="0">
                <a:latin typeface="Arial Narrow" pitchFamily="34" charset="0"/>
              </a:rPr>
              <a:t>Zona 1 </a:t>
            </a:r>
          </a:p>
        </p:txBody>
      </p:sp>
      <p:sp>
        <p:nvSpPr>
          <p:cNvPr id="32" name="28 CuadroTexto"/>
          <p:cNvSpPr txBox="1"/>
          <p:nvPr/>
        </p:nvSpPr>
        <p:spPr>
          <a:xfrm>
            <a:off x="2743200" y="4614446"/>
            <a:ext cx="928694" cy="338554"/>
          </a:xfrm>
          <a:prstGeom prst="rect">
            <a:avLst/>
          </a:prstGeom>
          <a:noFill/>
        </p:spPr>
        <p:txBody>
          <a:bodyPr wrap="square" rtlCol="0">
            <a:spAutoFit/>
          </a:bodyPr>
          <a:lstStyle/>
          <a:p>
            <a:r>
              <a:rPr lang="es-MX" sz="1600" dirty="0" smtClean="0">
                <a:latin typeface="Arial Narrow" pitchFamily="34" charset="0"/>
              </a:rPr>
              <a:t>Zona 2 </a:t>
            </a:r>
          </a:p>
        </p:txBody>
      </p:sp>
      <p:sp>
        <p:nvSpPr>
          <p:cNvPr id="33" name="28 CuadroTexto"/>
          <p:cNvSpPr txBox="1"/>
          <p:nvPr/>
        </p:nvSpPr>
        <p:spPr>
          <a:xfrm>
            <a:off x="5167306" y="4614446"/>
            <a:ext cx="928694" cy="338554"/>
          </a:xfrm>
          <a:prstGeom prst="rect">
            <a:avLst/>
          </a:prstGeom>
          <a:noFill/>
        </p:spPr>
        <p:txBody>
          <a:bodyPr wrap="square" rtlCol="0">
            <a:spAutoFit/>
          </a:bodyPr>
          <a:lstStyle/>
          <a:p>
            <a:r>
              <a:rPr lang="es-MX" sz="1600" dirty="0" smtClean="0">
                <a:latin typeface="Arial Narrow" pitchFamily="34" charset="0"/>
              </a:rPr>
              <a:t>Zona 3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11" name="10 Rectángulo redondeado"/>
          <p:cNvSpPr/>
          <p:nvPr/>
        </p:nvSpPr>
        <p:spPr>
          <a:xfrm>
            <a:off x="179512" y="1124744"/>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12" name="11 Rectángulo redondeado"/>
          <p:cNvSpPr/>
          <p:nvPr/>
        </p:nvSpPr>
        <p:spPr>
          <a:xfrm>
            <a:off x="611560" y="1124744"/>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13" name="12 Rectángulo redondeado"/>
          <p:cNvSpPr/>
          <p:nvPr/>
        </p:nvSpPr>
        <p:spPr>
          <a:xfrm>
            <a:off x="1043608" y="1124744"/>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14" name="13 Rectángulo redondeado"/>
          <p:cNvSpPr/>
          <p:nvPr/>
        </p:nvSpPr>
        <p:spPr>
          <a:xfrm>
            <a:off x="1475656" y="1124744"/>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sp>
        <p:nvSpPr>
          <p:cNvPr id="27" name="26 CuadroTexto"/>
          <p:cNvSpPr txBox="1"/>
          <p:nvPr/>
        </p:nvSpPr>
        <p:spPr>
          <a:xfrm>
            <a:off x="1979712" y="1066800"/>
            <a:ext cx="2088232" cy="307777"/>
          </a:xfrm>
          <a:prstGeom prst="rect">
            <a:avLst/>
          </a:prstGeom>
          <a:noFill/>
        </p:spPr>
        <p:txBody>
          <a:bodyPr wrap="square" rtlCol="0">
            <a:spAutoFit/>
          </a:bodyPr>
          <a:lstStyle/>
          <a:p>
            <a:r>
              <a:rPr lang="es-MX" sz="1400" dirty="0" smtClean="0">
                <a:latin typeface="Arial Narrow" pitchFamily="34" charset="0"/>
              </a:rPr>
              <a:t>Regreso a menú. Módulos</a:t>
            </a:r>
          </a:p>
        </p:txBody>
      </p:sp>
      <p:sp>
        <p:nvSpPr>
          <p:cNvPr id="23" name="Rectangle 22"/>
          <p:cNvSpPr/>
          <p:nvPr/>
        </p:nvSpPr>
        <p:spPr>
          <a:xfrm>
            <a:off x="1905000" y="1752600"/>
            <a:ext cx="4800600" cy="320040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rgbClr val="002060"/>
              </a:solidFill>
              <a:latin typeface="Arial Narrow" pitchFamily="34" charset="0"/>
            </a:endParaRPr>
          </a:p>
        </p:txBody>
      </p:sp>
      <p:sp>
        <p:nvSpPr>
          <p:cNvPr id="28" name="Rectangle 27"/>
          <p:cNvSpPr/>
          <p:nvPr/>
        </p:nvSpPr>
        <p:spPr>
          <a:xfrm>
            <a:off x="1905000" y="1752600"/>
            <a:ext cx="990600" cy="2590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p:cNvSpPr/>
          <p:nvPr/>
        </p:nvSpPr>
        <p:spPr>
          <a:xfrm>
            <a:off x="5715000" y="1752600"/>
            <a:ext cx="990600" cy="2590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p:cNvSpPr/>
          <p:nvPr/>
        </p:nvSpPr>
        <p:spPr>
          <a:xfrm>
            <a:off x="1905000" y="4343400"/>
            <a:ext cx="4800600" cy="6096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Action Button: Forward or Next 30">
            <a:hlinkClick r:id="" action="ppaction://noaction" highlightClick="1"/>
          </p:cNvPr>
          <p:cNvSpPr/>
          <p:nvPr/>
        </p:nvSpPr>
        <p:spPr>
          <a:xfrm>
            <a:off x="2286000" y="4495800"/>
            <a:ext cx="381000" cy="381000"/>
          </a:xfrm>
          <a:prstGeom prst="actionButtonForwardNext">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Action Button: End 31">
            <a:hlinkClick r:id="" action="ppaction://noaction" highlightClick="1"/>
          </p:cNvPr>
          <p:cNvSpPr/>
          <p:nvPr/>
        </p:nvSpPr>
        <p:spPr>
          <a:xfrm>
            <a:off x="2895600" y="4495800"/>
            <a:ext cx="381000" cy="381000"/>
          </a:xfrm>
          <a:prstGeom prst="actionButtonEnd">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Action Button: Document 32">
            <a:hlinkClick r:id="" action="ppaction://noaction" highlightClick="1"/>
          </p:cNvPr>
          <p:cNvSpPr/>
          <p:nvPr/>
        </p:nvSpPr>
        <p:spPr>
          <a:xfrm>
            <a:off x="4724400" y="4495800"/>
            <a:ext cx="509016" cy="432816"/>
          </a:xfrm>
          <a:prstGeom prst="actionButtonDocument">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33"/>
          <p:cNvSpPr txBox="1"/>
          <p:nvPr/>
        </p:nvSpPr>
        <p:spPr>
          <a:xfrm>
            <a:off x="0" y="1828800"/>
            <a:ext cx="1752600" cy="3046987"/>
          </a:xfrm>
          <a:prstGeom prst="rect">
            <a:avLst/>
          </a:prstGeom>
          <a:noFill/>
        </p:spPr>
        <p:txBody>
          <a:bodyPr wrap="square" rtlCol="0">
            <a:spAutoFit/>
          </a:bodyPr>
          <a:lstStyle/>
          <a:p>
            <a:r>
              <a:rPr lang="en-US" sz="1200" dirty="0" err="1" smtClean="0">
                <a:latin typeface="Arial Narrow"/>
                <a:cs typeface="Arial Narrow"/>
              </a:rPr>
              <a:t>Imagen</a:t>
            </a:r>
            <a:r>
              <a:rPr lang="en-US" sz="1200" dirty="0" smtClean="0">
                <a:latin typeface="Arial Narrow"/>
                <a:cs typeface="Arial Narrow"/>
              </a:rPr>
              <a:t> de </a:t>
            </a:r>
            <a:r>
              <a:rPr lang="en-US" sz="1200" dirty="0" err="1" smtClean="0">
                <a:latin typeface="Arial Narrow"/>
                <a:cs typeface="Arial Narrow"/>
              </a:rPr>
              <a:t>fondo</a:t>
            </a:r>
            <a:r>
              <a:rPr lang="en-US" sz="1200" dirty="0" smtClean="0">
                <a:latin typeface="Arial Narrow"/>
                <a:cs typeface="Arial Narrow"/>
              </a:rPr>
              <a:t> </a:t>
            </a:r>
            <a:r>
              <a:rPr lang="en-US" sz="1200" dirty="0" err="1" smtClean="0">
                <a:latin typeface="Arial Narrow"/>
                <a:cs typeface="Arial Narrow"/>
              </a:rPr>
              <a:t>que</a:t>
            </a:r>
            <a:r>
              <a:rPr lang="en-US" sz="1200" dirty="0" smtClean="0">
                <a:latin typeface="Arial Narrow"/>
                <a:cs typeface="Arial Narrow"/>
              </a:rPr>
              <a:t> </a:t>
            </a:r>
            <a:r>
              <a:rPr lang="en-US" sz="1200" dirty="0" err="1" smtClean="0">
                <a:latin typeface="Arial Narrow"/>
                <a:cs typeface="Arial Narrow"/>
              </a:rPr>
              <a:t>remite</a:t>
            </a:r>
            <a:r>
              <a:rPr lang="en-US" sz="1200" dirty="0" smtClean="0">
                <a:latin typeface="Arial Narrow"/>
                <a:cs typeface="Arial Narrow"/>
              </a:rPr>
              <a:t> </a:t>
            </a:r>
          </a:p>
          <a:p>
            <a:r>
              <a:rPr lang="en-US" sz="1200" dirty="0" smtClean="0">
                <a:latin typeface="Arial Narrow"/>
                <a:cs typeface="Arial Narrow"/>
              </a:rPr>
              <a:t>a </a:t>
            </a:r>
            <a:r>
              <a:rPr lang="en-US" sz="1200" dirty="0" err="1" smtClean="0">
                <a:latin typeface="Arial Narrow"/>
                <a:cs typeface="Arial Narrow"/>
              </a:rPr>
              <a:t>diálogo</a:t>
            </a:r>
            <a:r>
              <a:rPr lang="en-US" sz="1200" dirty="0" smtClean="0">
                <a:latin typeface="Arial Narrow"/>
                <a:cs typeface="Arial Narrow"/>
              </a:rPr>
              <a:t>,</a:t>
            </a:r>
          </a:p>
          <a:p>
            <a:endParaRPr lang="en-US" sz="1200" dirty="0" smtClean="0">
              <a:latin typeface="Arial Narrow"/>
              <a:cs typeface="Arial Narrow"/>
            </a:endParaRPr>
          </a:p>
          <a:p>
            <a:r>
              <a:rPr lang="en-US" sz="1200" dirty="0" smtClean="0">
                <a:latin typeface="Arial Narrow"/>
                <a:cs typeface="Arial Narrow"/>
              </a:rPr>
              <a:t>En primer </a:t>
            </a:r>
            <a:r>
              <a:rPr lang="en-US" sz="1200" dirty="0" err="1" smtClean="0">
                <a:latin typeface="Arial Narrow"/>
                <a:cs typeface="Arial Narrow"/>
              </a:rPr>
              <a:t>plano</a:t>
            </a:r>
            <a:r>
              <a:rPr lang="en-US" sz="1200" dirty="0" smtClean="0">
                <a:latin typeface="Arial Narrow"/>
                <a:cs typeface="Arial Narrow"/>
              </a:rPr>
              <a:t> </a:t>
            </a:r>
            <a:r>
              <a:rPr lang="en-US" sz="1200" dirty="0" err="1" smtClean="0">
                <a:latin typeface="Arial Narrow"/>
                <a:cs typeface="Arial Narrow"/>
              </a:rPr>
              <a:t>una</a:t>
            </a:r>
            <a:r>
              <a:rPr lang="en-US" sz="1200" dirty="0" smtClean="0">
                <a:latin typeface="Arial Narrow"/>
                <a:cs typeface="Arial Narrow"/>
              </a:rPr>
              <a:t> </a:t>
            </a:r>
            <a:r>
              <a:rPr lang="en-US" sz="1200" dirty="0" err="1" smtClean="0">
                <a:latin typeface="Arial Narrow"/>
                <a:cs typeface="Arial Narrow"/>
              </a:rPr>
              <a:t>consola</a:t>
            </a:r>
            <a:r>
              <a:rPr lang="en-US" sz="1200" dirty="0" smtClean="0">
                <a:latin typeface="Arial Narrow"/>
                <a:cs typeface="Arial Narrow"/>
              </a:rPr>
              <a:t> </a:t>
            </a:r>
            <a:r>
              <a:rPr lang="en-US" sz="1200" dirty="0" err="1" smtClean="0">
                <a:latin typeface="Arial Narrow"/>
                <a:cs typeface="Arial Narrow"/>
              </a:rPr>
              <a:t>que</a:t>
            </a:r>
            <a:r>
              <a:rPr lang="en-US" sz="1200" dirty="0" smtClean="0">
                <a:latin typeface="Arial Narrow"/>
                <a:cs typeface="Arial Narrow"/>
              </a:rPr>
              <a:t> </a:t>
            </a:r>
            <a:r>
              <a:rPr lang="en-US" sz="1200" dirty="0" err="1" smtClean="0">
                <a:latin typeface="Arial Narrow"/>
                <a:cs typeface="Arial Narrow"/>
              </a:rPr>
              <a:t>nos</a:t>
            </a:r>
            <a:r>
              <a:rPr lang="en-US" sz="1200" dirty="0" smtClean="0">
                <a:latin typeface="Arial Narrow"/>
                <a:cs typeface="Arial Narrow"/>
              </a:rPr>
              <a:t> </a:t>
            </a:r>
            <a:r>
              <a:rPr lang="en-US" sz="1200" dirty="0" err="1" smtClean="0">
                <a:latin typeface="Arial Narrow"/>
                <a:cs typeface="Arial Narrow"/>
              </a:rPr>
              <a:t>permitirá</a:t>
            </a:r>
            <a:r>
              <a:rPr lang="en-US" sz="1200" dirty="0" smtClean="0">
                <a:latin typeface="Arial Narrow"/>
                <a:cs typeface="Arial Narrow"/>
              </a:rPr>
              <a:t>:</a:t>
            </a:r>
          </a:p>
          <a:p>
            <a:endParaRPr lang="en-US" sz="1200" dirty="0" smtClean="0">
              <a:latin typeface="Arial Narrow"/>
              <a:cs typeface="Arial Narrow"/>
            </a:endParaRPr>
          </a:p>
          <a:p>
            <a:r>
              <a:rPr lang="en-US" sz="1200" dirty="0" smtClean="0">
                <a:latin typeface="Arial Narrow"/>
                <a:cs typeface="Arial Narrow"/>
              </a:rPr>
              <a:t>1. Dar play a </a:t>
            </a:r>
            <a:r>
              <a:rPr lang="en-US" sz="1200" dirty="0" err="1" smtClean="0">
                <a:latin typeface="Arial Narrow"/>
                <a:cs typeface="Arial Narrow"/>
              </a:rPr>
              <a:t>dialogo</a:t>
            </a:r>
            <a:r>
              <a:rPr lang="en-US" sz="1200" dirty="0" smtClean="0">
                <a:latin typeface="Arial Narrow"/>
                <a:cs typeface="Arial Narrow"/>
              </a:rPr>
              <a:t> MA-CH-3 </a:t>
            </a:r>
          </a:p>
          <a:p>
            <a:endParaRPr lang="en-US" sz="1200" dirty="0" smtClean="0">
              <a:latin typeface="Arial Narrow"/>
              <a:cs typeface="Arial Narrow"/>
            </a:endParaRPr>
          </a:p>
          <a:p>
            <a:r>
              <a:rPr lang="en-US" sz="1200" dirty="0" smtClean="0">
                <a:latin typeface="Arial Narrow"/>
                <a:cs typeface="Arial Narrow"/>
              </a:rPr>
              <a:t>2.-Incluir “Stop”</a:t>
            </a:r>
          </a:p>
          <a:p>
            <a:endParaRPr lang="en-US" sz="1200" dirty="0" smtClean="0">
              <a:latin typeface="Arial Narrow"/>
              <a:cs typeface="Arial Narrow"/>
            </a:endParaRPr>
          </a:p>
          <a:p>
            <a:r>
              <a:rPr lang="en-US" sz="1200" dirty="0" smtClean="0">
                <a:latin typeface="Arial Narrow"/>
                <a:cs typeface="Arial Narrow"/>
              </a:rPr>
              <a:t>3.- 2 </a:t>
            </a:r>
            <a:r>
              <a:rPr lang="en-US" sz="1200" dirty="0" err="1" smtClean="0">
                <a:latin typeface="Arial Narrow"/>
                <a:cs typeface="Arial Narrow"/>
              </a:rPr>
              <a:t>velocidades</a:t>
            </a:r>
            <a:r>
              <a:rPr lang="en-US" sz="1200" dirty="0" smtClean="0">
                <a:latin typeface="Arial Narrow"/>
                <a:cs typeface="Arial Narrow"/>
              </a:rPr>
              <a:t> </a:t>
            </a:r>
            <a:r>
              <a:rPr lang="en-US" sz="1200" dirty="0" err="1" smtClean="0">
                <a:latin typeface="Arial Narrow"/>
                <a:cs typeface="Arial Narrow"/>
              </a:rPr>
              <a:t>para</a:t>
            </a:r>
            <a:r>
              <a:rPr lang="en-US" sz="1200" dirty="0" smtClean="0">
                <a:latin typeface="Arial Narrow"/>
                <a:cs typeface="Arial Narrow"/>
              </a:rPr>
              <a:t> el audio, </a:t>
            </a:r>
            <a:r>
              <a:rPr lang="en-US" sz="1200" dirty="0" err="1" smtClean="0">
                <a:latin typeface="Arial Narrow"/>
                <a:cs typeface="Arial Narrow"/>
              </a:rPr>
              <a:t>medio</a:t>
            </a:r>
            <a:r>
              <a:rPr lang="en-US" sz="1200" dirty="0" smtClean="0">
                <a:latin typeface="Arial Narrow"/>
                <a:cs typeface="Arial Narrow"/>
              </a:rPr>
              <a:t> </a:t>
            </a:r>
            <a:r>
              <a:rPr lang="en-US" sz="1200" dirty="0" err="1" smtClean="0">
                <a:latin typeface="Arial Narrow"/>
                <a:cs typeface="Arial Narrow"/>
              </a:rPr>
              <a:t>y</a:t>
            </a:r>
            <a:r>
              <a:rPr lang="en-US" sz="1200" dirty="0" smtClean="0">
                <a:latin typeface="Arial Narrow"/>
                <a:cs typeface="Arial Narrow"/>
              </a:rPr>
              <a:t> lento</a:t>
            </a:r>
          </a:p>
          <a:p>
            <a:endParaRPr lang="en-US" sz="1200" dirty="0" smtClean="0">
              <a:latin typeface="Arial Narrow"/>
              <a:cs typeface="Arial Narrow"/>
            </a:endParaRPr>
          </a:p>
          <a:p>
            <a:r>
              <a:rPr lang="en-US" sz="1200" dirty="0" smtClean="0">
                <a:latin typeface="Arial Narrow"/>
                <a:cs typeface="Arial Narrow"/>
              </a:rPr>
              <a:t>4.- </a:t>
            </a:r>
            <a:r>
              <a:rPr lang="en-US" sz="1200" dirty="0" err="1" smtClean="0">
                <a:latin typeface="Arial Narrow"/>
                <a:cs typeface="Arial Narrow"/>
              </a:rPr>
              <a:t>Imprimir</a:t>
            </a:r>
            <a:endParaRPr lang="en-US" sz="1200" dirty="0" smtClean="0">
              <a:latin typeface="Arial Narrow"/>
              <a:cs typeface="Arial Narrow"/>
            </a:endParaRPr>
          </a:p>
          <a:p>
            <a:r>
              <a:rPr lang="en-US" sz="1200" dirty="0" smtClean="0">
                <a:latin typeface="Arial Narrow"/>
                <a:cs typeface="Arial Narrow"/>
              </a:rPr>
              <a:t> </a:t>
            </a:r>
            <a:endParaRPr lang="en-US" sz="1200" dirty="0">
              <a:latin typeface="Arial Narrow"/>
              <a:cs typeface="Arial Narrow"/>
            </a:endParaRPr>
          </a:p>
        </p:txBody>
      </p:sp>
      <p:sp>
        <p:nvSpPr>
          <p:cNvPr id="35" name="34 CuadroTexto"/>
          <p:cNvSpPr txBox="1"/>
          <p:nvPr/>
        </p:nvSpPr>
        <p:spPr>
          <a:xfrm>
            <a:off x="2857488" y="2143116"/>
            <a:ext cx="2829696" cy="2492990"/>
          </a:xfrm>
          <a:prstGeom prst="rect">
            <a:avLst/>
          </a:prstGeom>
          <a:noFill/>
        </p:spPr>
        <p:txBody>
          <a:bodyPr wrap="none" rtlCol="0">
            <a:spAutoFit/>
          </a:bodyPr>
          <a:lstStyle/>
          <a:p>
            <a:r>
              <a:rPr lang="en-US" sz="1200" dirty="0" smtClean="0">
                <a:solidFill>
                  <a:srgbClr val="002060"/>
                </a:solidFill>
              </a:rPr>
              <a:t>¿</a:t>
            </a:r>
            <a:r>
              <a:rPr lang="en-US" sz="1200" dirty="0" err="1" smtClean="0">
                <a:solidFill>
                  <a:srgbClr val="002060"/>
                </a:solidFill>
                <a:latin typeface="Arial Narrow" pitchFamily="34" charset="0"/>
              </a:rPr>
              <a:t>Cómo</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estás</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Quenihqui</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tiitstoc</a:t>
            </a:r>
            <a:r>
              <a:rPr lang="en-US" sz="1200" dirty="0" smtClean="0">
                <a:solidFill>
                  <a:srgbClr val="002060"/>
                </a:solidFill>
                <a:latin typeface="Arial Narrow" pitchFamily="34" charset="0"/>
              </a:rPr>
              <a:t>?,</a:t>
            </a:r>
          </a:p>
          <a:p>
            <a:r>
              <a:rPr lang="en-US" sz="1200" dirty="0" smtClean="0">
                <a:solidFill>
                  <a:srgbClr val="002060"/>
                </a:solidFill>
                <a:latin typeface="Arial Narrow" pitchFamily="34" charset="0"/>
              </a:rPr>
              <a:t>Bien                :  </a:t>
            </a:r>
            <a:r>
              <a:rPr lang="en-US" sz="1200" dirty="0" err="1" smtClean="0">
                <a:solidFill>
                  <a:srgbClr val="002060"/>
                </a:solidFill>
                <a:latin typeface="Arial Narrow" pitchFamily="34" charset="0"/>
              </a:rPr>
              <a:t>Cuali</a:t>
            </a:r>
            <a:endParaRPr lang="en-US" sz="1200" dirty="0" smtClean="0">
              <a:solidFill>
                <a:srgbClr val="002060"/>
              </a:solidFill>
              <a:latin typeface="Arial Narrow" pitchFamily="34" charset="0"/>
            </a:endParaRPr>
          </a:p>
          <a:p>
            <a:endParaRPr lang="en-US" sz="1200" dirty="0" smtClean="0">
              <a:solidFill>
                <a:srgbClr val="002060"/>
              </a:solidFill>
              <a:latin typeface="Arial Narrow" pitchFamily="34" charset="0"/>
            </a:endParaRPr>
          </a:p>
          <a:p>
            <a:r>
              <a:rPr lang="en-US" sz="1200" dirty="0" smtClean="0">
                <a:solidFill>
                  <a:srgbClr val="002060"/>
                </a:solidFill>
                <a:latin typeface="Arial Narrow" pitchFamily="34" charset="0"/>
              </a:rPr>
              <a:t>¿y </a:t>
            </a:r>
            <a:r>
              <a:rPr lang="en-US" sz="1200" dirty="0" err="1" smtClean="0">
                <a:solidFill>
                  <a:srgbClr val="002060"/>
                </a:solidFill>
                <a:latin typeface="Arial Narrow" pitchFamily="34" charset="0"/>
              </a:rPr>
              <a:t>tú</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cómo</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estás</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Iuan</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ta</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quenihqui</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tiitstoc</a:t>
            </a:r>
            <a:r>
              <a:rPr lang="en-US" sz="1200" dirty="0" smtClean="0">
                <a:solidFill>
                  <a:srgbClr val="002060"/>
                </a:solidFill>
                <a:latin typeface="Arial Narrow" pitchFamily="34" charset="0"/>
              </a:rPr>
              <a:t>?  </a:t>
            </a:r>
          </a:p>
          <a:p>
            <a:r>
              <a:rPr lang="en-US" sz="1200" dirty="0" smtClean="0">
                <a:solidFill>
                  <a:srgbClr val="002060"/>
                </a:solidFill>
                <a:latin typeface="Arial Narrow" pitchFamily="34" charset="0"/>
              </a:rPr>
              <a:t>Bien Gracias:  </a:t>
            </a:r>
            <a:r>
              <a:rPr lang="en-US" sz="1200" dirty="0" err="1" smtClean="0">
                <a:solidFill>
                  <a:srgbClr val="002060"/>
                </a:solidFill>
                <a:latin typeface="Arial Narrow" pitchFamily="34" charset="0"/>
              </a:rPr>
              <a:t>Cuali</a:t>
            </a:r>
            <a:r>
              <a:rPr lang="en-US" sz="1200" dirty="0" smtClean="0">
                <a:solidFill>
                  <a:srgbClr val="002060"/>
                </a:solidFill>
                <a:latin typeface="Arial Narrow" pitchFamily="34" charset="0"/>
              </a:rPr>
              <a:t> </a:t>
            </a:r>
            <a:r>
              <a:rPr lang="en-US" sz="1200" dirty="0" err="1" smtClean="0">
                <a:solidFill>
                  <a:srgbClr val="002060"/>
                </a:solidFill>
                <a:latin typeface="Arial Narrow" pitchFamily="34" charset="0"/>
              </a:rPr>
              <a:t>tlascamati</a:t>
            </a:r>
            <a:endParaRPr lang="en-US" sz="1200" dirty="0" smtClean="0">
              <a:solidFill>
                <a:srgbClr val="002060"/>
              </a:solidFill>
              <a:latin typeface="Arial Narrow" pitchFamily="34" charset="0"/>
            </a:endParaRPr>
          </a:p>
          <a:p>
            <a:endParaRPr lang="es-MX" sz="1200" dirty="0" smtClean="0">
              <a:solidFill>
                <a:srgbClr val="002060"/>
              </a:solidFill>
              <a:latin typeface="Arial Narrow" pitchFamily="34" charset="0"/>
            </a:endParaRPr>
          </a:p>
          <a:p>
            <a:r>
              <a:rPr lang="es-MX" sz="1200" dirty="0" smtClean="0">
                <a:solidFill>
                  <a:srgbClr val="002060"/>
                </a:solidFill>
                <a:latin typeface="Arial Narrow" pitchFamily="34" charset="0"/>
              </a:rPr>
              <a:t>¿Dónde vas?:	 ¿</a:t>
            </a:r>
            <a:r>
              <a:rPr lang="es-MX" sz="1200" dirty="0" err="1" smtClean="0">
                <a:solidFill>
                  <a:srgbClr val="002060"/>
                </a:solidFill>
                <a:latin typeface="Arial Narrow" pitchFamily="34" charset="0"/>
              </a:rPr>
              <a:t>Cani</a:t>
            </a:r>
            <a:r>
              <a:rPr lang="es-MX" sz="1200" dirty="0" smtClean="0">
                <a:solidFill>
                  <a:srgbClr val="002060"/>
                </a:solidFill>
                <a:latin typeface="Arial Narrow" pitchFamily="34" charset="0"/>
              </a:rPr>
              <a:t> </a:t>
            </a:r>
            <a:r>
              <a:rPr lang="es-MX" sz="1200" dirty="0" err="1" smtClean="0">
                <a:solidFill>
                  <a:srgbClr val="002060"/>
                </a:solidFill>
                <a:latin typeface="Arial Narrow" pitchFamily="34" charset="0"/>
              </a:rPr>
              <a:t>tiya</a:t>
            </a:r>
            <a:r>
              <a:rPr lang="es-MX" sz="1200" dirty="0" smtClean="0">
                <a:solidFill>
                  <a:srgbClr val="002060"/>
                </a:solidFill>
                <a:latin typeface="Arial Narrow" pitchFamily="34" charset="0"/>
              </a:rPr>
              <a:t>?</a:t>
            </a:r>
          </a:p>
          <a:p>
            <a:r>
              <a:rPr lang="es-MX" sz="1200" dirty="0" smtClean="0">
                <a:solidFill>
                  <a:srgbClr val="002060"/>
                </a:solidFill>
                <a:latin typeface="Arial Narrow" pitchFamily="34" charset="0"/>
              </a:rPr>
              <a:t>Voy al tianguis:  </a:t>
            </a:r>
            <a:r>
              <a:rPr lang="es-MX" sz="1200" dirty="0" err="1" smtClean="0">
                <a:solidFill>
                  <a:srgbClr val="002060"/>
                </a:solidFill>
                <a:latin typeface="Arial Narrow" pitchFamily="34" charset="0"/>
              </a:rPr>
              <a:t>niya</a:t>
            </a:r>
            <a:r>
              <a:rPr lang="es-MX" sz="1200" dirty="0" smtClean="0">
                <a:solidFill>
                  <a:srgbClr val="002060"/>
                </a:solidFill>
                <a:latin typeface="Arial Narrow" pitchFamily="34" charset="0"/>
              </a:rPr>
              <a:t> tianguis</a:t>
            </a:r>
          </a:p>
          <a:p>
            <a:endParaRPr lang="es-MX" sz="1200" dirty="0" smtClean="0">
              <a:solidFill>
                <a:srgbClr val="002060"/>
              </a:solidFill>
              <a:latin typeface="Arial Narrow" pitchFamily="34" charset="0"/>
            </a:endParaRPr>
          </a:p>
          <a:p>
            <a:r>
              <a:rPr lang="es-MX" sz="1200" dirty="0" smtClean="0">
                <a:solidFill>
                  <a:srgbClr val="002060"/>
                </a:solidFill>
                <a:latin typeface="Arial Narrow" pitchFamily="34" charset="0"/>
              </a:rPr>
              <a:t>Nos vemos mañana: timoitaseh mostla</a:t>
            </a:r>
          </a:p>
          <a:p>
            <a:endParaRPr lang="es-MX" sz="1200" dirty="0" smtClean="0">
              <a:solidFill>
                <a:srgbClr val="002060"/>
              </a:solidFill>
              <a:latin typeface="Arial Narrow" pitchFamily="34" charset="0"/>
            </a:endParaRPr>
          </a:p>
          <a:p>
            <a:endParaRPr lang="es-MX" sz="1200" dirty="0" smtClean="0">
              <a:solidFill>
                <a:srgbClr val="002060"/>
              </a:solidFill>
              <a:latin typeface="Arial Narrow" pitchFamily="34" charset="0"/>
            </a:endParaRPr>
          </a:p>
          <a:p>
            <a:endParaRPr lang="en-US" sz="1200" dirty="0" smtClean="0">
              <a:solidFill>
                <a:srgbClr val="002060"/>
              </a:solidFill>
              <a:latin typeface="Arial Narrow" pitchFamily="34" charset="0"/>
            </a:endParaRPr>
          </a:p>
          <a:p>
            <a:endParaRPr lang="es-MX" dirty="0"/>
          </a:p>
        </p:txBody>
      </p:sp>
      <p:sp>
        <p:nvSpPr>
          <p:cNvPr id="36" name="Action Button: Custom 19">
            <a:hlinkClick r:id="rId2" action="ppaction://hlinksldjump" highlightClick="1"/>
          </p:cNvPr>
          <p:cNvSpPr/>
          <p:nvPr/>
        </p:nvSpPr>
        <p:spPr>
          <a:xfrm>
            <a:off x="3810000" y="2005584"/>
            <a:ext cx="1042416" cy="1042416"/>
          </a:xfrm>
          <a:prstGeom prst="actionButtonBlank">
            <a:avLst/>
          </a:prstGeom>
          <a:solidFill>
            <a:schemeClr val="accent5">
              <a:lumMod val="60000"/>
              <a:lumOff val="40000"/>
              <a:alpha val="0"/>
            </a:schemeClr>
          </a:solidFill>
          <a:ln>
            <a:solidFill>
              <a:schemeClr val="accent1">
                <a:shade val="95000"/>
                <a:satMod val="105000"/>
                <a:alpha val="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36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MA-CH-3</a:t>
            </a:r>
          </a:p>
        </p:txBody>
      </p:sp>
      <p:sp>
        <p:nvSpPr>
          <p:cNvPr id="39" name="38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80" name="13 Rectángulo redondeado"/>
          <p:cNvSpPr/>
          <p:nvPr/>
        </p:nvSpPr>
        <p:spPr>
          <a:xfrm>
            <a:off x="7677136" y="50720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81" name="13 Rectángulo redondeado"/>
          <p:cNvSpPr/>
          <p:nvPr/>
        </p:nvSpPr>
        <p:spPr>
          <a:xfrm>
            <a:off x="6915136" y="50720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82" name="13 Rectángulo redondeado"/>
          <p:cNvSpPr/>
          <p:nvPr/>
        </p:nvSpPr>
        <p:spPr>
          <a:xfrm>
            <a:off x="8439136" y="50720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83" name="26 CuadroTexto"/>
          <p:cNvSpPr txBox="1"/>
          <p:nvPr/>
        </p:nvSpPr>
        <p:spPr>
          <a:xfrm rot="16200000">
            <a:off x="6572236" y="43815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84" name="26 CuadroTexto"/>
          <p:cNvSpPr txBox="1"/>
          <p:nvPr/>
        </p:nvSpPr>
        <p:spPr>
          <a:xfrm rot="16200000">
            <a:off x="7280361" y="43276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85" name="26 CuadroTexto"/>
          <p:cNvSpPr txBox="1"/>
          <p:nvPr/>
        </p:nvSpPr>
        <p:spPr>
          <a:xfrm rot="16200000">
            <a:off x="8020036" y="43815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86" name="33 CuadroTexto"/>
          <p:cNvSpPr txBox="1"/>
          <p:nvPr/>
        </p:nvSpPr>
        <p:spPr>
          <a:xfrm>
            <a:off x="6781800" y="5429264"/>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87" name="33 CuadroTexto"/>
          <p:cNvSpPr txBox="1"/>
          <p:nvPr/>
        </p:nvSpPr>
        <p:spPr>
          <a:xfrm>
            <a:off x="7572356" y="5438001"/>
            <a:ext cx="714380" cy="276999"/>
          </a:xfrm>
          <a:prstGeom prst="rect">
            <a:avLst/>
          </a:prstGeom>
          <a:noFill/>
        </p:spPr>
        <p:txBody>
          <a:bodyPr wrap="square" rtlCol="0">
            <a:spAutoFit/>
          </a:bodyPr>
          <a:lstStyle/>
          <a:p>
            <a:r>
              <a:rPr lang="es-MX" sz="1200" dirty="0" smtClean="0">
                <a:latin typeface="Arial Narrow" pitchFamily="34" charset="0"/>
              </a:rPr>
              <a:t>MA-CH-4</a:t>
            </a:r>
            <a:endParaRPr lang="es-MX" sz="1200" dirty="0" smtClean="0">
              <a:solidFill>
                <a:schemeClr val="bg1"/>
              </a:solidFill>
              <a:latin typeface="Arial Narrow" pitchFamily="34" charset="0"/>
            </a:endParaRPr>
          </a:p>
        </p:txBody>
      </p:sp>
      <p:sp>
        <p:nvSpPr>
          <p:cNvPr id="88" name="33 CuadroTexto"/>
          <p:cNvSpPr txBox="1"/>
          <p:nvPr/>
        </p:nvSpPr>
        <p:spPr>
          <a:xfrm>
            <a:off x="8334356" y="5438001"/>
            <a:ext cx="714380" cy="276999"/>
          </a:xfrm>
          <a:prstGeom prst="rect">
            <a:avLst/>
          </a:prstGeom>
          <a:noFill/>
        </p:spPr>
        <p:txBody>
          <a:bodyPr wrap="square" rtlCol="0">
            <a:spAutoFit/>
          </a:bodyPr>
          <a:lstStyle/>
          <a:p>
            <a:r>
              <a:rPr lang="es-MX" sz="1200" dirty="0" smtClean="0">
                <a:latin typeface="Arial Narrow" pitchFamily="34" charset="0"/>
              </a:rPr>
              <a:t>MA-CH-6</a:t>
            </a:r>
            <a:endParaRPr lang="es-MX" sz="1200" dirty="0" smtClean="0">
              <a:solidFill>
                <a:schemeClr val="bg1"/>
              </a:solidFill>
              <a:latin typeface="Arial Narrow"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32" y="704706"/>
            <a:ext cx="9143968" cy="53150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214282" y="6286520"/>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7143768" y="6215082"/>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39" name="38 Grupo"/>
          <p:cNvGrpSpPr/>
          <p:nvPr/>
        </p:nvGrpSpPr>
        <p:grpSpPr>
          <a:xfrm>
            <a:off x="285720" y="857232"/>
            <a:ext cx="1431610" cy="500066"/>
            <a:chOff x="285720" y="857232"/>
            <a:chExt cx="1431610" cy="500066"/>
          </a:xfrm>
        </p:grpSpPr>
        <p:sp>
          <p:nvSpPr>
            <p:cNvPr id="11" name="10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12" name="11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13" name="12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14" name="13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27" name="26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23" name="TextBox 22"/>
          <p:cNvSpPr txBox="1"/>
          <p:nvPr/>
        </p:nvSpPr>
        <p:spPr>
          <a:xfrm>
            <a:off x="152400" y="4800600"/>
            <a:ext cx="4968027" cy="830997"/>
          </a:xfrm>
          <a:prstGeom prst="rect">
            <a:avLst/>
          </a:prstGeom>
          <a:noFill/>
        </p:spPr>
        <p:txBody>
          <a:bodyPr wrap="none" rtlCol="0">
            <a:spAutoFit/>
          </a:bodyPr>
          <a:lstStyle/>
          <a:p>
            <a:r>
              <a:rPr lang="en-US" sz="1200" dirty="0" smtClean="0"/>
              <a:t>5 </a:t>
            </a:r>
            <a:r>
              <a:rPr lang="en-US" sz="1200" dirty="0" err="1" smtClean="0"/>
              <a:t>retratos</a:t>
            </a:r>
            <a:r>
              <a:rPr lang="en-US" sz="1200" dirty="0" smtClean="0"/>
              <a:t> (</a:t>
            </a:r>
            <a:r>
              <a:rPr lang="en-US" sz="1200" dirty="0" err="1" smtClean="0"/>
              <a:t>fotografías</a:t>
            </a:r>
            <a:r>
              <a:rPr lang="en-US" sz="1200" dirty="0" smtClean="0"/>
              <a:t>)</a:t>
            </a:r>
          </a:p>
          <a:p>
            <a:r>
              <a:rPr lang="en-US" sz="1200" dirty="0" smtClean="0"/>
              <a:t> En la </a:t>
            </a:r>
            <a:r>
              <a:rPr lang="en-US" sz="1200" dirty="0" err="1" smtClean="0"/>
              <a:t>palabra</a:t>
            </a:r>
            <a:r>
              <a:rPr lang="en-US" sz="1200" dirty="0" smtClean="0"/>
              <a:t> ¿</a:t>
            </a:r>
            <a:r>
              <a:rPr lang="en-US" sz="1200" dirty="0" err="1" smtClean="0"/>
              <a:t>Queniqui</a:t>
            </a:r>
            <a:r>
              <a:rPr lang="en-US" sz="1200" dirty="0" smtClean="0"/>
              <a:t> </a:t>
            </a:r>
            <a:r>
              <a:rPr lang="en-US" sz="1200" dirty="0" err="1" smtClean="0"/>
              <a:t>tiistoc</a:t>
            </a:r>
            <a:r>
              <a:rPr lang="en-US" sz="1200" dirty="0" smtClean="0"/>
              <a:t>? Al </a:t>
            </a:r>
            <a:r>
              <a:rPr lang="en-US" sz="1200" dirty="0" err="1" smtClean="0"/>
              <a:t>dar</a:t>
            </a:r>
            <a:r>
              <a:rPr lang="en-US" sz="1200" dirty="0" smtClean="0"/>
              <a:t> </a:t>
            </a:r>
            <a:r>
              <a:rPr lang="en-US" sz="1200" dirty="0" err="1" smtClean="0"/>
              <a:t>clic</a:t>
            </a:r>
            <a:r>
              <a:rPr lang="en-US" sz="1200" dirty="0" smtClean="0"/>
              <a:t> en “</a:t>
            </a:r>
            <a:r>
              <a:rPr lang="en-US" sz="1200" dirty="0" err="1" smtClean="0"/>
              <a:t>bocina</a:t>
            </a:r>
            <a:r>
              <a:rPr lang="en-US" sz="1200" dirty="0" smtClean="0"/>
              <a:t>” </a:t>
            </a:r>
            <a:r>
              <a:rPr lang="en-US" sz="1200" dirty="0" err="1" smtClean="0"/>
              <a:t>corre</a:t>
            </a:r>
            <a:r>
              <a:rPr lang="en-US" sz="1200" dirty="0" smtClean="0"/>
              <a:t> audio </a:t>
            </a:r>
          </a:p>
          <a:p>
            <a:r>
              <a:rPr lang="en-US" sz="1200" dirty="0" smtClean="0"/>
              <a:t>Si </a:t>
            </a:r>
            <a:r>
              <a:rPr lang="en-US" sz="1200" dirty="0" err="1" smtClean="0"/>
              <a:t>pasan</a:t>
            </a:r>
            <a:r>
              <a:rPr lang="en-US" sz="1200" dirty="0" smtClean="0"/>
              <a:t> el cursor </a:t>
            </a:r>
            <a:r>
              <a:rPr lang="en-US" sz="1200" dirty="0" err="1" smtClean="0"/>
              <a:t>por</a:t>
            </a:r>
            <a:r>
              <a:rPr lang="en-US" sz="1200" dirty="0" smtClean="0"/>
              <a:t> los </a:t>
            </a:r>
            <a:r>
              <a:rPr lang="en-US" sz="1200" dirty="0" err="1" smtClean="0"/>
              <a:t>textos</a:t>
            </a:r>
            <a:r>
              <a:rPr lang="en-US" sz="1200" dirty="0" smtClean="0"/>
              <a:t> </a:t>
            </a:r>
            <a:r>
              <a:rPr lang="en-US" sz="1200" dirty="0" err="1" smtClean="0"/>
              <a:t>que</a:t>
            </a:r>
            <a:r>
              <a:rPr lang="en-US" sz="1200" dirty="0" smtClean="0"/>
              <a:t> se </a:t>
            </a:r>
            <a:r>
              <a:rPr lang="en-US" sz="1200" dirty="0" err="1" smtClean="0"/>
              <a:t>encuentran</a:t>
            </a:r>
            <a:r>
              <a:rPr lang="en-US" sz="1200" dirty="0" smtClean="0"/>
              <a:t> </a:t>
            </a:r>
            <a:r>
              <a:rPr lang="en-US" sz="1200" dirty="0" err="1" smtClean="0"/>
              <a:t>debajo</a:t>
            </a:r>
            <a:r>
              <a:rPr lang="en-US" sz="1200" dirty="0" smtClean="0"/>
              <a:t> de </a:t>
            </a:r>
            <a:r>
              <a:rPr lang="en-US" sz="1200" dirty="0" err="1" smtClean="0"/>
              <a:t>cada</a:t>
            </a:r>
            <a:r>
              <a:rPr lang="en-US" sz="1200" dirty="0" smtClean="0"/>
              <a:t> </a:t>
            </a:r>
            <a:r>
              <a:rPr lang="en-US" sz="1200" dirty="0" err="1" smtClean="0"/>
              <a:t>retrato</a:t>
            </a:r>
            <a:r>
              <a:rPr lang="en-US" sz="1200" dirty="0" smtClean="0"/>
              <a:t> </a:t>
            </a:r>
          </a:p>
          <a:p>
            <a:r>
              <a:rPr lang="en-US" sz="1200" dirty="0" smtClean="0"/>
              <a:t>se </a:t>
            </a:r>
            <a:r>
              <a:rPr lang="en-US" sz="1200" dirty="0" err="1" smtClean="0"/>
              <a:t>escucha</a:t>
            </a:r>
            <a:r>
              <a:rPr lang="en-US" sz="1200" dirty="0" smtClean="0"/>
              <a:t> en audio</a:t>
            </a:r>
          </a:p>
        </p:txBody>
      </p:sp>
      <p:sp>
        <p:nvSpPr>
          <p:cNvPr id="29" name="28 CuadroTexto"/>
          <p:cNvSpPr txBox="1"/>
          <p:nvPr/>
        </p:nvSpPr>
        <p:spPr>
          <a:xfrm>
            <a:off x="3214678" y="857232"/>
            <a:ext cx="2173993" cy="584775"/>
          </a:xfrm>
          <a:prstGeom prst="rect">
            <a:avLst/>
          </a:prstGeom>
          <a:noFill/>
        </p:spPr>
        <p:txBody>
          <a:bodyPr wrap="none" rtlCol="0">
            <a:spAutoFit/>
          </a:bodyPr>
          <a:lstStyle/>
          <a:p>
            <a:pPr algn="ctr"/>
            <a:r>
              <a:rPr lang="es-MX" b="1" dirty="0" smtClean="0"/>
              <a:t>¿</a:t>
            </a:r>
            <a:r>
              <a:rPr lang="es-MX" b="1" dirty="0" err="1" smtClean="0"/>
              <a:t>Quenihqui</a:t>
            </a:r>
            <a:r>
              <a:rPr lang="es-MX" b="1" dirty="0" smtClean="0"/>
              <a:t> </a:t>
            </a:r>
            <a:r>
              <a:rPr lang="es-MX" b="1" dirty="0" err="1" smtClean="0"/>
              <a:t>tiitstoc</a:t>
            </a:r>
            <a:r>
              <a:rPr lang="es-MX" b="1" dirty="0" smtClean="0"/>
              <a:t>?,</a:t>
            </a:r>
          </a:p>
          <a:p>
            <a:pPr algn="ctr"/>
            <a:r>
              <a:rPr lang="es-MX" sz="1400" b="1" dirty="0" smtClean="0"/>
              <a:t>¿Cómo estás?</a:t>
            </a:r>
            <a:endParaRPr lang="es-MX" sz="1400" dirty="0"/>
          </a:p>
        </p:txBody>
      </p:sp>
      <p:sp>
        <p:nvSpPr>
          <p:cNvPr id="30" name="29 Rectángulo"/>
          <p:cNvSpPr/>
          <p:nvPr/>
        </p:nvSpPr>
        <p:spPr>
          <a:xfrm>
            <a:off x="1928794" y="1500174"/>
            <a:ext cx="107157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32 Rectángulo"/>
          <p:cNvSpPr/>
          <p:nvPr/>
        </p:nvSpPr>
        <p:spPr>
          <a:xfrm>
            <a:off x="2928926" y="3071810"/>
            <a:ext cx="107157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4" name="33 Rectángulo"/>
          <p:cNvSpPr/>
          <p:nvPr/>
        </p:nvSpPr>
        <p:spPr>
          <a:xfrm>
            <a:off x="3805230" y="1500174"/>
            <a:ext cx="107157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34 CuadroTexto"/>
          <p:cNvSpPr txBox="1"/>
          <p:nvPr/>
        </p:nvSpPr>
        <p:spPr>
          <a:xfrm>
            <a:off x="2143108" y="2571744"/>
            <a:ext cx="646331" cy="369332"/>
          </a:xfrm>
          <a:prstGeom prst="rect">
            <a:avLst/>
          </a:prstGeom>
          <a:noFill/>
        </p:spPr>
        <p:txBody>
          <a:bodyPr wrap="none" rtlCol="0">
            <a:spAutoFit/>
          </a:bodyPr>
          <a:lstStyle/>
          <a:p>
            <a:r>
              <a:rPr lang="es-MX" dirty="0" err="1" smtClean="0"/>
              <a:t>Cuali</a:t>
            </a:r>
            <a:endParaRPr lang="es-MX" dirty="0"/>
          </a:p>
        </p:txBody>
      </p:sp>
      <p:sp>
        <p:nvSpPr>
          <p:cNvPr id="37" name="36 CuadroTexto"/>
          <p:cNvSpPr txBox="1"/>
          <p:nvPr/>
        </p:nvSpPr>
        <p:spPr>
          <a:xfrm>
            <a:off x="3640999" y="2571744"/>
            <a:ext cx="1505190" cy="369332"/>
          </a:xfrm>
          <a:prstGeom prst="rect">
            <a:avLst/>
          </a:prstGeom>
          <a:noFill/>
        </p:spPr>
        <p:txBody>
          <a:bodyPr wrap="none" rtlCol="0">
            <a:spAutoFit/>
          </a:bodyPr>
          <a:lstStyle/>
          <a:p>
            <a:r>
              <a:rPr lang="es-MX" dirty="0" smtClean="0"/>
              <a:t>nimococohua</a:t>
            </a:r>
          </a:p>
          <a:p>
            <a:endParaRPr lang="es-MX" dirty="0"/>
          </a:p>
        </p:txBody>
      </p:sp>
      <p:sp>
        <p:nvSpPr>
          <p:cNvPr id="31" name="30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MA-CH-4</a:t>
            </a:r>
          </a:p>
        </p:txBody>
      </p:sp>
      <p:sp>
        <p:nvSpPr>
          <p:cNvPr id="41" name="40 Rectángulo"/>
          <p:cNvSpPr/>
          <p:nvPr/>
        </p:nvSpPr>
        <p:spPr>
          <a:xfrm>
            <a:off x="5862630" y="1500174"/>
            <a:ext cx="107157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2" name="41 Rectángulo"/>
          <p:cNvSpPr/>
          <p:nvPr/>
        </p:nvSpPr>
        <p:spPr>
          <a:xfrm>
            <a:off x="5143504" y="3000372"/>
            <a:ext cx="107157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42 CuadroTexto"/>
          <p:cNvSpPr txBox="1"/>
          <p:nvPr/>
        </p:nvSpPr>
        <p:spPr>
          <a:xfrm>
            <a:off x="714348" y="1285860"/>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44" name="36 CuadroTexto"/>
          <p:cNvSpPr txBox="1"/>
          <p:nvPr/>
        </p:nvSpPr>
        <p:spPr>
          <a:xfrm>
            <a:off x="5919522" y="2514600"/>
            <a:ext cx="886293" cy="369332"/>
          </a:xfrm>
          <a:prstGeom prst="rect">
            <a:avLst/>
          </a:prstGeom>
          <a:noFill/>
        </p:spPr>
        <p:txBody>
          <a:bodyPr wrap="none" rtlCol="0">
            <a:spAutoFit/>
          </a:bodyPr>
          <a:lstStyle/>
          <a:p>
            <a:r>
              <a:rPr lang="es-MX" dirty="0" smtClean="0"/>
              <a:t>nipaqui</a:t>
            </a:r>
          </a:p>
          <a:p>
            <a:endParaRPr lang="es-MX" dirty="0"/>
          </a:p>
        </p:txBody>
      </p:sp>
      <p:sp>
        <p:nvSpPr>
          <p:cNvPr id="45" name="36 CuadroTexto"/>
          <p:cNvSpPr txBox="1"/>
          <p:nvPr/>
        </p:nvSpPr>
        <p:spPr>
          <a:xfrm>
            <a:off x="2928926" y="4143380"/>
            <a:ext cx="1026167" cy="369332"/>
          </a:xfrm>
          <a:prstGeom prst="rect">
            <a:avLst/>
          </a:prstGeom>
          <a:noFill/>
        </p:spPr>
        <p:txBody>
          <a:bodyPr wrap="none" rtlCol="0">
            <a:spAutoFit/>
          </a:bodyPr>
          <a:lstStyle/>
          <a:p>
            <a:r>
              <a:rPr lang="es-MX" dirty="0" smtClean="0"/>
              <a:t>nicualani</a:t>
            </a:r>
          </a:p>
          <a:p>
            <a:endParaRPr lang="es-MX" dirty="0"/>
          </a:p>
        </p:txBody>
      </p:sp>
      <p:sp>
        <p:nvSpPr>
          <p:cNvPr id="46" name="36 CuadroTexto"/>
          <p:cNvSpPr txBox="1"/>
          <p:nvPr/>
        </p:nvSpPr>
        <p:spPr>
          <a:xfrm>
            <a:off x="5072066" y="4214818"/>
            <a:ext cx="1373318" cy="369332"/>
          </a:xfrm>
          <a:prstGeom prst="rect">
            <a:avLst/>
          </a:prstGeom>
          <a:noFill/>
        </p:spPr>
        <p:txBody>
          <a:bodyPr wrap="none" rtlCol="0">
            <a:spAutoFit/>
          </a:bodyPr>
          <a:lstStyle/>
          <a:p>
            <a:r>
              <a:rPr lang="es-MX" dirty="0" smtClean="0"/>
              <a:t>nitlaxicohua</a:t>
            </a:r>
          </a:p>
          <a:p>
            <a:endParaRPr lang="es-MX" dirty="0"/>
          </a:p>
        </p:txBody>
      </p:sp>
      <p:sp>
        <p:nvSpPr>
          <p:cNvPr id="47" name="13 Rectángulo redondeado"/>
          <p:cNvSpPr/>
          <p:nvPr/>
        </p:nvSpPr>
        <p:spPr>
          <a:xfrm>
            <a:off x="7620000" y="5329247"/>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13 Rectángulo redondeado"/>
          <p:cNvSpPr/>
          <p:nvPr/>
        </p:nvSpPr>
        <p:spPr>
          <a:xfrm>
            <a:off x="6858000" y="5329247"/>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9" name="13 Rectángulo redondeado"/>
          <p:cNvSpPr/>
          <p:nvPr/>
        </p:nvSpPr>
        <p:spPr>
          <a:xfrm>
            <a:off x="8382000" y="5329247"/>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0" name="26 CuadroTexto"/>
          <p:cNvSpPr txBox="1"/>
          <p:nvPr/>
        </p:nvSpPr>
        <p:spPr>
          <a:xfrm rot="16200000">
            <a:off x="6515100" y="4638673"/>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51" name="26 CuadroTexto"/>
          <p:cNvSpPr txBox="1"/>
          <p:nvPr/>
        </p:nvSpPr>
        <p:spPr>
          <a:xfrm rot="16200000">
            <a:off x="7223225" y="4584798"/>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52" name="26 CuadroTexto"/>
          <p:cNvSpPr txBox="1"/>
          <p:nvPr/>
        </p:nvSpPr>
        <p:spPr>
          <a:xfrm rot="16200000">
            <a:off x="7962900" y="4638673"/>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53" name="33 CuadroTexto"/>
          <p:cNvSpPr txBox="1"/>
          <p:nvPr/>
        </p:nvSpPr>
        <p:spPr>
          <a:xfrm>
            <a:off x="6724664" y="5686437"/>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54" name="33 CuadroTexto"/>
          <p:cNvSpPr txBox="1"/>
          <p:nvPr/>
        </p:nvSpPr>
        <p:spPr>
          <a:xfrm>
            <a:off x="7515220" y="5695174"/>
            <a:ext cx="714380" cy="276999"/>
          </a:xfrm>
          <a:prstGeom prst="rect">
            <a:avLst/>
          </a:prstGeom>
          <a:noFill/>
        </p:spPr>
        <p:txBody>
          <a:bodyPr wrap="square" rtlCol="0">
            <a:spAutoFit/>
          </a:bodyPr>
          <a:lstStyle/>
          <a:p>
            <a:r>
              <a:rPr lang="es-MX" sz="1200" dirty="0" smtClean="0">
                <a:latin typeface="Arial Narrow" pitchFamily="34" charset="0"/>
              </a:rPr>
              <a:t>MA-CH-5</a:t>
            </a:r>
            <a:endParaRPr lang="es-MX" sz="1200" dirty="0" smtClean="0">
              <a:solidFill>
                <a:schemeClr val="bg1"/>
              </a:solidFill>
              <a:latin typeface="Arial Narrow" pitchFamily="34" charset="0"/>
            </a:endParaRPr>
          </a:p>
        </p:txBody>
      </p:sp>
      <p:sp>
        <p:nvSpPr>
          <p:cNvPr id="55" name="33 CuadroTexto"/>
          <p:cNvSpPr txBox="1"/>
          <p:nvPr/>
        </p:nvSpPr>
        <p:spPr>
          <a:xfrm>
            <a:off x="8277220" y="5695174"/>
            <a:ext cx="714380" cy="276999"/>
          </a:xfrm>
          <a:prstGeom prst="rect">
            <a:avLst/>
          </a:prstGeom>
          <a:noFill/>
        </p:spPr>
        <p:txBody>
          <a:bodyPr wrap="square" rtlCol="0">
            <a:spAutoFit/>
          </a:bodyPr>
          <a:lstStyle/>
          <a:p>
            <a:r>
              <a:rPr lang="es-MX" sz="1200" dirty="0" smtClean="0">
                <a:latin typeface="Arial Narrow" pitchFamily="34" charset="0"/>
              </a:rPr>
              <a:t>MA-CH-6</a:t>
            </a:r>
            <a:endParaRPr lang="es-MX" sz="1200" dirty="0" smtClean="0">
              <a:solidFill>
                <a:schemeClr val="bg1"/>
              </a:solidFill>
              <a:latin typeface="Arial Narrow"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46" name="45 CuadroTexto"/>
          <p:cNvSpPr txBox="1"/>
          <p:nvPr/>
        </p:nvSpPr>
        <p:spPr>
          <a:xfrm>
            <a:off x="3786182" y="1285860"/>
            <a:ext cx="1316131" cy="584775"/>
          </a:xfrm>
          <a:prstGeom prst="rect">
            <a:avLst/>
          </a:prstGeom>
          <a:noFill/>
        </p:spPr>
        <p:txBody>
          <a:bodyPr wrap="none" rtlCol="0">
            <a:spAutoFit/>
          </a:bodyPr>
          <a:lstStyle/>
          <a:p>
            <a:pPr algn="ctr"/>
            <a:r>
              <a:rPr lang="es-MX" b="1" dirty="0" smtClean="0"/>
              <a:t>¿</a:t>
            </a:r>
            <a:r>
              <a:rPr lang="es-MX" b="1" dirty="0" err="1" smtClean="0"/>
              <a:t>Cani</a:t>
            </a:r>
            <a:r>
              <a:rPr lang="es-MX" b="1" dirty="0" smtClean="0"/>
              <a:t> </a:t>
            </a:r>
            <a:r>
              <a:rPr lang="es-MX" b="1" dirty="0" err="1" smtClean="0"/>
              <a:t>Tiya</a:t>
            </a:r>
            <a:r>
              <a:rPr lang="es-MX" b="1" dirty="0" smtClean="0"/>
              <a:t>?,</a:t>
            </a:r>
          </a:p>
          <a:p>
            <a:pPr algn="ctr"/>
            <a:r>
              <a:rPr lang="es-MX" sz="1400" b="1" dirty="0" smtClean="0"/>
              <a:t>¿Dónde vas?</a:t>
            </a:r>
            <a:endParaRPr lang="es-MX" sz="1400" dirty="0"/>
          </a:p>
        </p:txBody>
      </p:sp>
      <p:sp>
        <p:nvSpPr>
          <p:cNvPr id="28" name="27 Rectángulo"/>
          <p:cNvSpPr/>
          <p:nvPr/>
        </p:nvSpPr>
        <p:spPr>
          <a:xfrm>
            <a:off x="1785918" y="1928802"/>
            <a:ext cx="4572032" cy="292895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smtClean="0">
                <a:solidFill>
                  <a:srgbClr val="002060"/>
                </a:solidFill>
              </a:rPr>
              <a:t>Mapa que muestra distintas lugares que existen en la comunidad.</a:t>
            </a:r>
          </a:p>
          <a:p>
            <a:pPr algn="ctr"/>
            <a:r>
              <a:rPr lang="es-MX" sz="1400" dirty="0" smtClean="0">
                <a:solidFill>
                  <a:srgbClr val="002060"/>
                </a:solidFill>
              </a:rPr>
              <a:t>(Casas, el río, la escuela, el tianguis, la milpa)</a:t>
            </a:r>
          </a:p>
          <a:p>
            <a:pPr algn="ctr"/>
            <a:r>
              <a:rPr lang="es-MX" sz="1400" dirty="0" smtClean="0">
                <a:solidFill>
                  <a:srgbClr val="002060"/>
                </a:solidFill>
              </a:rPr>
              <a:t>El usuario tiene la posibilidad de acercarse con cursor , se amplia foto y escucha el audio con la palabra del lugar)</a:t>
            </a:r>
            <a:endParaRPr lang="es-MX" sz="1400" dirty="0">
              <a:solidFill>
                <a:srgbClr val="002060"/>
              </a:solidFill>
            </a:endParaRPr>
          </a:p>
        </p:txBody>
      </p:sp>
      <p:sp>
        <p:nvSpPr>
          <p:cNvPr id="52" name="51 CuadroTexto"/>
          <p:cNvSpPr txBox="1"/>
          <p:nvPr/>
        </p:nvSpPr>
        <p:spPr>
          <a:xfrm>
            <a:off x="6643702" y="1714488"/>
            <a:ext cx="1755417" cy="369332"/>
          </a:xfrm>
          <a:prstGeom prst="rect">
            <a:avLst/>
          </a:prstGeom>
          <a:noFill/>
        </p:spPr>
        <p:txBody>
          <a:bodyPr wrap="none" rtlCol="0">
            <a:spAutoFit/>
          </a:bodyPr>
          <a:lstStyle/>
          <a:p>
            <a:r>
              <a:rPr lang="es-MX" dirty="0" smtClean="0"/>
              <a:t>caltlamachtilistli</a:t>
            </a:r>
          </a:p>
        </p:txBody>
      </p:sp>
      <p:sp>
        <p:nvSpPr>
          <p:cNvPr id="53" name="52 CuadroTexto"/>
          <p:cNvSpPr txBox="1"/>
          <p:nvPr/>
        </p:nvSpPr>
        <p:spPr>
          <a:xfrm>
            <a:off x="6572264" y="2143116"/>
            <a:ext cx="1024383" cy="369332"/>
          </a:xfrm>
          <a:prstGeom prst="rect">
            <a:avLst/>
          </a:prstGeom>
          <a:noFill/>
        </p:spPr>
        <p:txBody>
          <a:bodyPr wrap="square" rtlCol="0">
            <a:spAutoFit/>
          </a:bodyPr>
          <a:lstStyle/>
          <a:p>
            <a:r>
              <a:rPr lang="es-MX" dirty="0" err="1" smtClean="0"/>
              <a:t>mila</a:t>
            </a:r>
            <a:endParaRPr lang="es-MX" dirty="0" smtClean="0"/>
          </a:p>
        </p:txBody>
      </p:sp>
      <p:sp>
        <p:nvSpPr>
          <p:cNvPr id="54" name="53 CuadroTexto"/>
          <p:cNvSpPr txBox="1"/>
          <p:nvPr/>
        </p:nvSpPr>
        <p:spPr>
          <a:xfrm>
            <a:off x="6572264" y="2571744"/>
            <a:ext cx="920445" cy="369332"/>
          </a:xfrm>
          <a:prstGeom prst="rect">
            <a:avLst/>
          </a:prstGeom>
          <a:noFill/>
        </p:spPr>
        <p:txBody>
          <a:bodyPr wrap="none" rtlCol="0">
            <a:spAutoFit/>
          </a:bodyPr>
          <a:lstStyle/>
          <a:p>
            <a:r>
              <a:rPr lang="es-MX" dirty="0" smtClean="0"/>
              <a:t>tianguis</a:t>
            </a:r>
          </a:p>
        </p:txBody>
      </p:sp>
      <p:sp>
        <p:nvSpPr>
          <p:cNvPr id="55" name="54 Rectángulo"/>
          <p:cNvSpPr/>
          <p:nvPr/>
        </p:nvSpPr>
        <p:spPr>
          <a:xfrm>
            <a:off x="6572264" y="3071810"/>
            <a:ext cx="1214446" cy="369332"/>
          </a:xfrm>
          <a:prstGeom prst="rect">
            <a:avLst/>
          </a:prstGeom>
        </p:spPr>
        <p:txBody>
          <a:bodyPr wrap="square">
            <a:spAutoFit/>
          </a:bodyPr>
          <a:lstStyle/>
          <a:p>
            <a:r>
              <a:rPr lang="es-MX" dirty="0" err="1" smtClean="0"/>
              <a:t>ateno</a:t>
            </a:r>
            <a:endParaRPr lang="es-MX" dirty="0" smtClean="0"/>
          </a:p>
        </p:txBody>
      </p:sp>
      <p:sp>
        <p:nvSpPr>
          <p:cNvPr id="56" name="55 Rectángulo"/>
          <p:cNvSpPr/>
          <p:nvPr/>
        </p:nvSpPr>
        <p:spPr>
          <a:xfrm>
            <a:off x="6572264" y="3571876"/>
            <a:ext cx="1571620" cy="369332"/>
          </a:xfrm>
          <a:prstGeom prst="rect">
            <a:avLst/>
          </a:prstGeom>
        </p:spPr>
        <p:txBody>
          <a:bodyPr wrap="square">
            <a:spAutoFit/>
          </a:bodyPr>
          <a:lstStyle/>
          <a:p>
            <a:r>
              <a:rPr lang="es-MX" dirty="0" err="1" smtClean="0"/>
              <a:t>nocha</a:t>
            </a:r>
            <a:endParaRPr lang="es-MX" dirty="0" smtClean="0"/>
          </a:p>
        </p:txBody>
      </p:sp>
      <p:sp>
        <p:nvSpPr>
          <p:cNvPr id="57" name="56 Rectángulo"/>
          <p:cNvSpPr/>
          <p:nvPr/>
        </p:nvSpPr>
        <p:spPr>
          <a:xfrm>
            <a:off x="6572264" y="4071942"/>
            <a:ext cx="1285884" cy="369332"/>
          </a:xfrm>
          <a:prstGeom prst="rect">
            <a:avLst/>
          </a:prstGeom>
        </p:spPr>
        <p:txBody>
          <a:bodyPr wrap="square">
            <a:spAutoFit/>
          </a:bodyPr>
          <a:lstStyle/>
          <a:p>
            <a:r>
              <a:rPr lang="es-MX" dirty="0" err="1" smtClean="0"/>
              <a:t>teopan</a:t>
            </a:r>
            <a:endParaRPr lang="es-MX" dirty="0" smtClean="0"/>
          </a:p>
        </p:txBody>
      </p:sp>
      <p:pic>
        <p:nvPicPr>
          <p:cNvPr id="1027" name="Picture 3"/>
          <p:cNvPicPr>
            <a:picLocks noChangeAspect="1" noChangeArrowheads="1"/>
          </p:cNvPicPr>
          <p:nvPr/>
        </p:nvPicPr>
        <p:blipFill>
          <a:blip r:embed="rId2"/>
          <a:srcRect/>
          <a:stretch>
            <a:fillRect/>
          </a:stretch>
        </p:blipFill>
        <p:spPr bwMode="auto">
          <a:xfrm>
            <a:off x="5500694" y="4214818"/>
            <a:ext cx="857250" cy="857250"/>
          </a:xfrm>
          <a:prstGeom prst="rect">
            <a:avLst/>
          </a:prstGeom>
          <a:noFill/>
          <a:ln w="9525">
            <a:noFill/>
            <a:miter lim="800000"/>
            <a:headEnd/>
            <a:tailEnd/>
          </a:ln>
          <a:effectLst/>
        </p:spPr>
      </p:pic>
      <p:sp>
        <p:nvSpPr>
          <p:cNvPr id="35" name="34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39" name="38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MA-CH-5</a:t>
            </a:r>
          </a:p>
        </p:txBody>
      </p:sp>
      <p:sp>
        <p:nvSpPr>
          <p:cNvPr id="40" name="13 Rectángulo redondeado"/>
          <p:cNvSpPr/>
          <p:nvPr/>
        </p:nvSpPr>
        <p:spPr>
          <a:xfrm>
            <a:off x="77724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2" name="13 Rectángulo redondeado"/>
          <p:cNvSpPr/>
          <p:nvPr/>
        </p:nvSpPr>
        <p:spPr>
          <a:xfrm>
            <a:off x="70104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7" name="13 Rectángulo redondeado"/>
          <p:cNvSpPr/>
          <p:nvPr/>
        </p:nvSpPr>
        <p:spPr>
          <a:xfrm>
            <a:off x="85344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26 CuadroTexto"/>
          <p:cNvSpPr txBox="1"/>
          <p:nvPr/>
        </p:nvSpPr>
        <p:spPr>
          <a:xfrm rot="16200000">
            <a:off x="6667500" y="44577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50" name="26 CuadroTexto"/>
          <p:cNvSpPr txBox="1"/>
          <p:nvPr/>
        </p:nvSpPr>
        <p:spPr>
          <a:xfrm rot="16200000">
            <a:off x="7375625" y="44038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51" name="26 CuadroTexto"/>
          <p:cNvSpPr txBox="1"/>
          <p:nvPr/>
        </p:nvSpPr>
        <p:spPr>
          <a:xfrm rot="16200000">
            <a:off x="8115300" y="44577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58" name="33 CuadroTexto"/>
          <p:cNvSpPr txBox="1"/>
          <p:nvPr/>
        </p:nvSpPr>
        <p:spPr>
          <a:xfrm>
            <a:off x="6877064" y="5505464"/>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59" name="33 CuadroTexto"/>
          <p:cNvSpPr txBox="1"/>
          <p:nvPr/>
        </p:nvSpPr>
        <p:spPr>
          <a:xfrm>
            <a:off x="7667620" y="5514201"/>
            <a:ext cx="714380" cy="276999"/>
          </a:xfrm>
          <a:prstGeom prst="rect">
            <a:avLst/>
          </a:prstGeom>
          <a:noFill/>
        </p:spPr>
        <p:txBody>
          <a:bodyPr wrap="square" rtlCol="0">
            <a:spAutoFit/>
          </a:bodyPr>
          <a:lstStyle/>
          <a:p>
            <a:r>
              <a:rPr lang="es-MX" sz="1200" dirty="0" smtClean="0">
                <a:latin typeface="Arial Narrow" pitchFamily="34" charset="0"/>
              </a:rPr>
              <a:t>MA-CH-4</a:t>
            </a:r>
            <a:endParaRPr lang="es-MX" sz="1200" dirty="0" smtClean="0">
              <a:solidFill>
                <a:schemeClr val="bg1"/>
              </a:solidFill>
              <a:latin typeface="Arial Narrow" pitchFamily="34" charset="0"/>
            </a:endParaRPr>
          </a:p>
        </p:txBody>
      </p:sp>
      <p:sp>
        <p:nvSpPr>
          <p:cNvPr id="60" name="33 CuadroTexto"/>
          <p:cNvSpPr txBox="1"/>
          <p:nvPr/>
        </p:nvSpPr>
        <p:spPr>
          <a:xfrm>
            <a:off x="8429620" y="5514201"/>
            <a:ext cx="714380" cy="276999"/>
          </a:xfrm>
          <a:prstGeom prst="rect">
            <a:avLst/>
          </a:prstGeom>
          <a:noFill/>
        </p:spPr>
        <p:txBody>
          <a:bodyPr wrap="square" rtlCol="0">
            <a:spAutoFit/>
          </a:bodyPr>
          <a:lstStyle/>
          <a:p>
            <a:r>
              <a:rPr lang="es-MX" sz="1200" dirty="0" smtClean="0">
                <a:latin typeface="Arial Narrow" pitchFamily="34" charset="0"/>
              </a:rPr>
              <a:t>MA-CH-6</a:t>
            </a:r>
            <a:endParaRPr lang="es-MX" sz="1200" dirty="0" smtClean="0">
              <a:solidFill>
                <a:schemeClr val="bg1"/>
              </a:solidFill>
              <a:latin typeface="Arial Narrow" pitchFamily="34" charset="0"/>
            </a:endParaRPr>
          </a:p>
        </p:txBody>
      </p:sp>
      <p:sp>
        <p:nvSpPr>
          <p:cNvPr id="36" name="TextBox 35"/>
          <p:cNvSpPr txBox="1"/>
          <p:nvPr/>
        </p:nvSpPr>
        <p:spPr>
          <a:xfrm>
            <a:off x="76200" y="4948535"/>
            <a:ext cx="3916908" cy="461665"/>
          </a:xfrm>
          <a:prstGeom prst="rect">
            <a:avLst/>
          </a:prstGeom>
          <a:noFill/>
        </p:spPr>
        <p:txBody>
          <a:bodyPr wrap="none" rtlCol="0">
            <a:spAutoFit/>
          </a:bodyPr>
          <a:lstStyle/>
          <a:p>
            <a:endParaRPr lang="en-US" sz="1200" dirty="0" smtClean="0"/>
          </a:p>
          <a:p>
            <a:r>
              <a:rPr lang="en-US" sz="1200" dirty="0" smtClean="0"/>
              <a:t> En la </a:t>
            </a:r>
            <a:r>
              <a:rPr lang="en-US" sz="1200" dirty="0" err="1" smtClean="0"/>
              <a:t>palabra</a:t>
            </a:r>
            <a:r>
              <a:rPr lang="en-US" sz="1200" dirty="0" smtClean="0"/>
              <a:t> ¿</a:t>
            </a:r>
            <a:r>
              <a:rPr lang="en-US" sz="1200" dirty="0" err="1" smtClean="0"/>
              <a:t>Cani</a:t>
            </a:r>
            <a:r>
              <a:rPr lang="en-US" sz="1200" dirty="0" smtClean="0"/>
              <a:t> </a:t>
            </a:r>
            <a:r>
              <a:rPr lang="en-US" sz="1200" dirty="0" err="1" smtClean="0"/>
              <a:t>Tiya</a:t>
            </a:r>
            <a:r>
              <a:rPr lang="en-US" sz="1200" dirty="0" smtClean="0"/>
              <a:t>? Al </a:t>
            </a:r>
            <a:r>
              <a:rPr lang="en-US" sz="1200" dirty="0" err="1" smtClean="0"/>
              <a:t>dar</a:t>
            </a:r>
            <a:r>
              <a:rPr lang="en-US" sz="1200" dirty="0" smtClean="0"/>
              <a:t> </a:t>
            </a:r>
            <a:r>
              <a:rPr lang="en-US" sz="1200" dirty="0" err="1" smtClean="0"/>
              <a:t>clic</a:t>
            </a:r>
            <a:r>
              <a:rPr lang="en-US" sz="1200" dirty="0" smtClean="0"/>
              <a:t> en “</a:t>
            </a:r>
            <a:r>
              <a:rPr lang="en-US" sz="1200" dirty="0" err="1" smtClean="0"/>
              <a:t>bocina</a:t>
            </a:r>
            <a:r>
              <a:rPr lang="en-US" sz="1200" dirty="0" smtClean="0"/>
              <a:t>” </a:t>
            </a:r>
            <a:r>
              <a:rPr lang="en-US" sz="1200" dirty="0" err="1" smtClean="0"/>
              <a:t>corre</a:t>
            </a:r>
            <a:r>
              <a:rPr lang="en-US" sz="1200" dirty="0" smtClean="0"/>
              <a:t> audio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2867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p>
          <a:p>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sp>
        <p:nvSpPr>
          <p:cNvPr id="23" name="TextBox 22"/>
          <p:cNvSpPr txBox="1"/>
          <p:nvPr/>
        </p:nvSpPr>
        <p:spPr>
          <a:xfrm>
            <a:off x="0" y="2362200"/>
            <a:ext cx="2214578" cy="3631763"/>
          </a:xfrm>
          <a:prstGeom prst="rect">
            <a:avLst/>
          </a:prstGeom>
          <a:noFill/>
        </p:spPr>
        <p:txBody>
          <a:bodyPr wrap="square" rtlCol="0">
            <a:spAutoFit/>
          </a:bodyPr>
          <a:lstStyle/>
          <a:p>
            <a:r>
              <a:rPr lang="en-US" sz="1000" dirty="0" err="1" smtClean="0"/>
              <a:t>Práctica</a:t>
            </a:r>
            <a:r>
              <a:rPr lang="en-US" sz="1000" dirty="0" smtClean="0"/>
              <a:t>. </a:t>
            </a:r>
          </a:p>
          <a:p>
            <a:r>
              <a:rPr lang="en-US" sz="1000" dirty="0" err="1" smtClean="0"/>
              <a:t>Aparecen</a:t>
            </a:r>
            <a:r>
              <a:rPr lang="en-US" sz="1000" dirty="0" smtClean="0"/>
              <a:t> de </a:t>
            </a:r>
            <a:r>
              <a:rPr lang="en-US" sz="1000" dirty="0" err="1" smtClean="0"/>
              <a:t>manera</a:t>
            </a:r>
            <a:r>
              <a:rPr lang="en-US" sz="1000" dirty="0" smtClean="0"/>
              <a:t> </a:t>
            </a:r>
            <a:r>
              <a:rPr lang="en-US" sz="1000" dirty="0" err="1" smtClean="0"/>
              <a:t>aleatoria</a:t>
            </a:r>
            <a:r>
              <a:rPr lang="en-US" sz="1000" dirty="0" smtClean="0"/>
              <a:t>:</a:t>
            </a:r>
          </a:p>
          <a:p>
            <a:r>
              <a:rPr lang="en-US" sz="1000" dirty="0" smtClean="0"/>
              <a:t>Un  </a:t>
            </a:r>
            <a:r>
              <a:rPr lang="en-US" sz="1000" dirty="0" err="1" smtClean="0"/>
              <a:t>retrato</a:t>
            </a:r>
            <a:r>
              <a:rPr lang="en-US" sz="1000" dirty="0" smtClean="0"/>
              <a:t> de la </a:t>
            </a:r>
            <a:r>
              <a:rPr lang="en-US" sz="1000" dirty="0" err="1" smtClean="0"/>
              <a:t>colección</a:t>
            </a:r>
            <a:r>
              <a:rPr lang="en-US" sz="1000" dirty="0" smtClean="0"/>
              <a:t> (6)</a:t>
            </a:r>
          </a:p>
          <a:p>
            <a:r>
              <a:rPr lang="en-US" sz="1000" dirty="0" smtClean="0"/>
              <a:t>Y </a:t>
            </a:r>
            <a:r>
              <a:rPr lang="en-US" sz="1000" dirty="0" err="1" smtClean="0"/>
              <a:t>una</a:t>
            </a:r>
            <a:r>
              <a:rPr lang="en-US" sz="1000" dirty="0" smtClean="0"/>
              <a:t> </a:t>
            </a:r>
            <a:r>
              <a:rPr lang="en-US" sz="1000" dirty="0" err="1" smtClean="0"/>
              <a:t>palabra</a:t>
            </a:r>
            <a:r>
              <a:rPr lang="en-US" sz="1000" dirty="0" smtClean="0"/>
              <a:t> de la </a:t>
            </a:r>
            <a:r>
              <a:rPr lang="en-US" sz="1000" dirty="0" err="1" smtClean="0"/>
              <a:t>colección</a:t>
            </a:r>
            <a:r>
              <a:rPr lang="en-US" sz="1000" dirty="0" smtClean="0"/>
              <a:t> (6)</a:t>
            </a:r>
          </a:p>
          <a:p>
            <a:endParaRPr lang="en-US" sz="1000" dirty="0" smtClean="0"/>
          </a:p>
          <a:p>
            <a:r>
              <a:rPr lang="en-US" sz="1000" dirty="0" smtClean="0"/>
              <a:t>A </a:t>
            </a:r>
            <a:r>
              <a:rPr lang="en-US" sz="1000" dirty="0" err="1" smtClean="0"/>
              <a:t>una</a:t>
            </a:r>
            <a:r>
              <a:rPr lang="en-US" sz="1000" dirty="0" smtClean="0"/>
              <a:t> </a:t>
            </a:r>
            <a:r>
              <a:rPr lang="en-US" sz="1000" dirty="0" err="1" smtClean="0"/>
              <a:t>lado</a:t>
            </a:r>
            <a:r>
              <a:rPr lang="en-US" sz="1000" dirty="0" smtClean="0"/>
              <a:t> </a:t>
            </a:r>
            <a:r>
              <a:rPr lang="en-US" sz="1000" dirty="0" err="1" smtClean="0"/>
              <a:t>aparece</a:t>
            </a:r>
            <a:r>
              <a:rPr lang="en-US" sz="1000" dirty="0" smtClean="0"/>
              <a:t> un </a:t>
            </a:r>
            <a:r>
              <a:rPr lang="en-US" sz="1000" dirty="0" err="1" smtClean="0"/>
              <a:t>tache</a:t>
            </a:r>
            <a:r>
              <a:rPr lang="en-US" sz="1000" dirty="0" smtClean="0"/>
              <a:t> </a:t>
            </a:r>
            <a:r>
              <a:rPr lang="en-US" sz="1000" dirty="0" err="1" smtClean="0"/>
              <a:t>o</a:t>
            </a:r>
            <a:r>
              <a:rPr lang="en-US" sz="1000" dirty="0" smtClean="0"/>
              <a:t> </a:t>
            </a:r>
            <a:r>
              <a:rPr lang="en-US" sz="1000" dirty="0" err="1" smtClean="0"/>
              <a:t>una</a:t>
            </a:r>
            <a:r>
              <a:rPr lang="en-US" sz="1000" dirty="0" smtClean="0"/>
              <a:t> </a:t>
            </a:r>
            <a:r>
              <a:rPr lang="en-US" sz="1000" dirty="0" err="1" smtClean="0"/>
              <a:t>palomita</a:t>
            </a:r>
            <a:r>
              <a:rPr lang="en-US" sz="1000" dirty="0" smtClean="0"/>
              <a:t>, </a:t>
            </a:r>
            <a:r>
              <a:rPr lang="en-US" sz="1000" dirty="0" err="1" smtClean="0"/>
              <a:t>si</a:t>
            </a:r>
            <a:r>
              <a:rPr lang="en-US" sz="1000" dirty="0" smtClean="0"/>
              <a:t> lo </a:t>
            </a:r>
            <a:r>
              <a:rPr lang="en-US" sz="1000" dirty="0" err="1" smtClean="0"/>
              <a:t>asocia</a:t>
            </a:r>
            <a:r>
              <a:rPr lang="en-US" sz="1000" dirty="0" smtClean="0"/>
              <a:t> de </a:t>
            </a:r>
            <a:r>
              <a:rPr lang="en-US" sz="1000" dirty="0" err="1" smtClean="0"/>
              <a:t>manera</a:t>
            </a:r>
            <a:r>
              <a:rPr lang="en-US" sz="1000" dirty="0" smtClean="0"/>
              <a:t> </a:t>
            </a:r>
            <a:r>
              <a:rPr lang="en-US" sz="1000" dirty="0" err="1" smtClean="0"/>
              <a:t>correcta</a:t>
            </a:r>
            <a:r>
              <a:rPr lang="en-US" sz="1000" dirty="0" smtClean="0"/>
              <a:t> el </a:t>
            </a:r>
            <a:r>
              <a:rPr lang="en-US" sz="1000" dirty="0" err="1" smtClean="0"/>
              <a:t>marcador</a:t>
            </a:r>
            <a:r>
              <a:rPr lang="en-US" sz="1000" dirty="0" smtClean="0"/>
              <a:t> </a:t>
            </a:r>
            <a:r>
              <a:rPr lang="en-US" sz="1000" dirty="0" err="1" smtClean="0"/>
              <a:t>marca</a:t>
            </a:r>
            <a:r>
              <a:rPr lang="en-US" sz="1000" dirty="0" smtClean="0"/>
              <a:t> </a:t>
            </a:r>
            <a:r>
              <a:rPr lang="en-US" sz="1000" dirty="0" err="1" smtClean="0"/>
              <a:t>punto</a:t>
            </a:r>
            <a:r>
              <a:rPr lang="en-US" sz="1000" dirty="0" smtClean="0"/>
              <a:t> </a:t>
            </a:r>
            <a:r>
              <a:rPr lang="en-US" sz="1000" dirty="0" err="1" smtClean="0"/>
              <a:t>bueno</a:t>
            </a:r>
            <a:r>
              <a:rPr lang="en-US" sz="1000" dirty="0" smtClean="0"/>
              <a:t>.</a:t>
            </a:r>
          </a:p>
          <a:p>
            <a:endParaRPr lang="en-US" sz="1000" dirty="0" smtClean="0"/>
          </a:p>
          <a:p>
            <a:r>
              <a:rPr lang="en-US" sz="1000" dirty="0" err="1" smtClean="0"/>
              <a:t>Combinaciones</a:t>
            </a:r>
            <a:r>
              <a:rPr lang="en-US" sz="1000" dirty="0" smtClean="0"/>
              <a:t> </a:t>
            </a:r>
            <a:r>
              <a:rPr lang="en-US" sz="1000" dirty="0" err="1" smtClean="0"/>
              <a:t>correctas</a:t>
            </a:r>
            <a:r>
              <a:rPr lang="en-US" sz="1000" dirty="0" smtClean="0"/>
              <a:t>:</a:t>
            </a:r>
          </a:p>
          <a:p>
            <a:r>
              <a:rPr lang="en-US" sz="1000" dirty="0" err="1" smtClean="0"/>
              <a:t>Retrato</a:t>
            </a:r>
            <a:r>
              <a:rPr lang="en-US" sz="1000" dirty="0" smtClean="0"/>
              <a:t> 1 – </a:t>
            </a:r>
            <a:r>
              <a:rPr lang="en-US" sz="1000" dirty="0" err="1" smtClean="0"/>
              <a:t>palabra</a:t>
            </a:r>
            <a:r>
              <a:rPr lang="en-US" sz="1000" dirty="0" smtClean="0"/>
              <a:t> 1</a:t>
            </a:r>
          </a:p>
          <a:p>
            <a:r>
              <a:rPr lang="en-US" sz="1000" dirty="0" err="1" smtClean="0"/>
              <a:t>Retrato</a:t>
            </a:r>
            <a:r>
              <a:rPr lang="en-US" sz="1000" dirty="0" smtClean="0"/>
              <a:t> 2 – </a:t>
            </a:r>
            <a:r>
              <a:rPr lang="en-US" sz="1000" dirty="0" err="1" smtClean="0"/>
              <a:t>palabra</a:t>
            </a:r>
            <a:r>
              <a:rPr lang="en-US" sz="1000" dirty="0" smtClean="0"/>
              <a:t> 2</a:t>
            </a:r>
          </a:p>
          <a:p>
            <a:r>
              <a:rPr lang="en-US" sz="1000" dirty="0" err="1" smtClean="0"/>
              <a:t>Retrato</a:t>
            </a:r>
            <a:r>
              <a:rPr lang="en-US" sz="1000" dirty="0" smtClean="0"/>
              <a:t> 3 – </a:t>
            </a:r>
            <a:r>
              <a:rPr lang="en-US" sz="1000" dirty="0" err="1" smtClean="0"/>
              <a:t>palabra</a:t>
            </a:r>
            <a:r>
              <a:rPr lang="en-US" sz="1000" dirty="0" smtClean="0"/>
              <a:t> 3</a:t>
            </a:r>
          </a:p>
          <a:p>
            <a:r>
              <a:rPr lang="en-US" sz="1000" dirty="0" err="1" smtClean="0"/>
              <a:t>Retrato</a:t>
            </a:r>
            <a:r>
              <a:rPr lang="en-US" sz="1000" dirty="0" smtClean="0"/>
              <a:t> 4 – </a:t>
            </a:r>
            <a:r>
              <a:rPr lang="en-US" sz="1000" dirty="0" err="1" smtClean="0"/>
              <a:t>palabra</a:t>
            </a:r>
            <a:r>
              <a:rPr lang="en-US" sz="1000" dirty="0" smtClean="0"/>
              <a:t> 4</a:t>
            </a:r>
          </a:p>
          <a:p>
            <a:r>
              <a:rPr lang="en-US" sz="1000" dirty="0" err="1" smtClean="0"/>
              <a:t>Retrato</a:t>
            </a:r>
            <a:r>
              <a:rPr lang="en-US" sz="1000" dirty="0" smtClean="0"/>
              <a:t> 5 – </a:t>
            </a:r>
            <a:r>
              <a:rPr lang="en-US" sz="1000" dirty="0" err="1" smtClean="0"/>
              <a:t>palabra</a:t>
            </a:r>
            <a:r>
              <a:rPr lang="en-US" sz="1000" dirty="0" smtClean="0"/>
              <a:t> 5</a:t>
            </a:r>
          </a:p>
          <a:p>
            <a:r>
              <a:rPr lang="en-US" sz="1000" dirty="0" err="1" smtClean="0"/>
              <a:t>Retrato</a:t>
            </a:r>
            <a:r>
              <a:rPr lang="en-US" sz="1000" dirty="0" smtClean="0"/>
              <a:t> 6 – </a:t>
            </a:r>
            <a:r>
              <a:rPr lang="en-US" sz="1000" dirty="0" err="1" smtClean="0"/>
              <a:t>palabra</a:t>
            </a:r>
            <a:r>
              <a:rPr lang="en-US" sz="1000" dirty="0" smtClean="0"/>
              <a:t> 6</a:t>
            </a:r>
          </a:p>
          <a:p>
            <a:endParaRPr lang="en-US" sz="1000" dirty="0" smtClean="0"/>
          </a:p>
          <a:p>
            <a:endParaRPr lang="en-US" sz="1000" dirty="0" smtClean="0"/>
          </a:p>
          <a:p>
            <a:endParaRPr lang="en-US" sz="1000" dirty="0" smtClean="0"/>
          </a:p>
          <a:p>
            <a:endParaRPr lang="en-US" sz="1000" dirty="0" smtClean="0"/>
          </a:p>
          <a:p>
            <a:endParaRPr lang="en-US" sz="1000" dirty="0" smtClean="0"/>
          </a:p>
          <a:p>
            <a:r>
              <a:rPr lang="en-US" sz="1000" dirty="0" smtClean="0"/>
              <a:t> </a:t>
            </a:r>
          </a:p>
        </p:txBody>
      </p:sp>
      <p:grpSp>
        <p:nvGrpSpPr>
          <p:cNvPr id="29"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46" name="45 CuadroTexto"/>
          <p:cNvSpPr txBox="1"/>
          <p:nvPr/>
        </p:nvSpPr>
        <p:spPr>
          <a:xfrm>
            <a:off x="3214678" y="1201151"/>
            <a:ext cx="2173993" cy="584775"/>
          </a:xfrm>
          <a:prstGeom prst="rect">
            <a:avLst/>
          </a:prstGeom>
          <a:noFill/>
        </p:spPr>
        <p:txBody>
          <a:bodyPr wrap="none" rtlCol="0">
            <a:spAutoFit/>
          </a:bodyPr>
          <a:lstStyle/>
          <a:p>
            <a:pPr algn="ctr"/>
            <a:r>
              <a:rPr lang="es-MX" b="1" dirty="0" smtClean="0"/>
              <a:t>¿</a:t>
            </a:r>
            <a:r>
              <a:rPr lang="es-MX" b="1" dirty="0" err="1" smtClean="0"/>
              <a:t>Quenihqui</a:t>
            </a:r>
            <a:r>
              <a:rPr lang="es-MX" b="1" dirty="0" smtClean="0"/>
              <a:t> </a:t>
            </a:r>
            <a:r>
              <a:rPr lang="es-MX" b="1" dirty="0" err="1" smtClean="0"/>
              <a:t>tiitstoc</a:t>
            </a:r>
            <a:r>
              <a:rPr lang="es-MX" b="1" dirty="0" smtClean="0"/>
              <a:t>?,</a:t>
            </a:r>
          </a:p>
          <a:p>
            <a:pPr algn="ctr"/>
            <a:r>
              <a:rPr lang="es-MX" sz="1400" b="1" dirty="0" smtClean="0"/>
              <a:t>¿Cómo estás?</a:t>
            </a:r>
            <a:endParaRPr lang="es-MX" sz="1400" dirty="0"/>
          </a:p>
        </p:txBody>
      </p:sp>
      <p:sp>
        <p:nvSpPr>
          <p:cNvPr id="47" name="46 Rectángulo"/>
          <p:cNvSpPr/>
          <p:nvPr/>
        </p:nvSpPr>
        <p:spPr>
          <a:xfrm>
            <a:off x="2614602" y="2214554"/>
            <a:ext cx="1500198" cy="2000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Retratos aleatorios</a:t>
            </a:r>
            <a:endParaRPr lang="es-MX" dirty="0"/>
          </a:p>
        </p:txBody>
      </p:sp>
      <p:sp>
        <p:nvSpPr>
          <p:cNvPr id="49" name="TextBox 22"/>
          <p:cNvSpPr txBox="1"/>
          <p:nvPr/>
        </p:nvSpPr>
        <p:spPr>
          <a:xfrm>
            <a:off x="6286512" y="2643182"/>
            <a:ext cx="2214578" cy="553998"/>
          </a:xfrm>
          <a:prstGeom prst="rect">
            <a:avLst/>
          </a:prstGeom>
          <a:noFill/>
        </p:spPr>
        <p:txBody>
          <a:bodyPr wrap="square" rtlCol="0">
            <a:spAutoFit/>
          </a:bodyPr>
          <a:lstStyle/>
          <a:p>
            <a:r>
              <a:rPr lang="en-US" sz="1000" dirty="0" err="1" smtClean="0"/>
              <a:t>Marcar</a:t>
            </a:r>
            <a:r>
              <a:rPr lang="en-US" sz="1000" dirty="0" smtClean="0"/>
              <a:t> </a:t>
            </a:r>
            <a:r>
              <a:rPr lang="en-US" sz="1000" dirty="0" err="1" smtClean="0"/>
              <a:t>abajo</a:t>
            </a:r>
            <a:r>
              <a:rPr lang="en-US" sz="1000" dirty="0" smtClean="0"/>
              <a:t> el total de </a:t>
            </a:r>
            <a:r>
              <a:rPr lang="en-US" sz="1000" dirty="0" err="1" smtClean="0"/>
              <a:t>respuestas</a:t>
            </a:r>
            <a:r>
              <a:rPr lang="en-US" sz="1000" dirty="0" smtClean="0"/>
              <a:t> y fin de la </a:t>
            </a:r>
            <a:r>
              <a:rPr lang="en-US" sz="1000" dirty="0" err="1" smtClean="0"/>
              <a:t>actividad</a:t>
            </a:r>
            <a:r>
              <a:rPr lang="en-US" sz="1000" dirty="0" smtClean="0"/>
              <a:t> con </a:t>
            </a:r>
            <a:r>
              <a:rPr lang="en-US" sz="1000" dirty="0" err="1" smtClean="0"/>
              <a:t>palabra</a:t>
            </a:r>
            <a:r>
              <a:rPr lang="en-US" sz="1000" dirty="0" smtClean="0"/>
              <a:t> “</a:t>
            </a:r>
            <a:r>
              <a:rPr lang="en-US" sz="1000" dirty="0" err="1" smtClean="0"/>
              <a:t>fin”nahuatl</a:t>
            </a:r>
            <a:endParaRPr lang="en-US" sz="1000" dirty="0" smtClean="0"/>
          </a:p>
        </p:txBody>
      </p:sp>
      <p:sp>
        <p:nvSpPr>
          <p:cNvPr id="28" name="27 CuadroTexto"/>
          <p:cNvSpPr txBox="1"/>
          <p:nvPr/>
        </p:nvSpPr>
        <p:spPr>
          <a:xfrm>
            <a:off x="4357686" y="2357430"/>
            <a:ext cx="1367618" cy="1323439"/>
          </a:xfrm>
          <a:prstGeom prst="rect">
            <a:avLst/>
          </a:prstGeom>
          <a:noFill/>
        </p:spPr>
        <p:txBody>
          <a:bodyPr wrap="square" rtlCol="0">
            <a:spAutoFit/>
          </a:bodyPr>
          <a:lstStyle/>
          <a:p>
            <a:pPr algn="ctr"/>
            <a:r>
              <a:rPr lang="es-MX" sz="1200" dirty="0" smtClean="0"/>
              <a:t>Aparecer palabra</a:t>
            </a:r>
          </a:p>
          <a:p>
            <a:pPr algn="ctr"/>
            <a:r>
              <a:rPr lang="es-MX" sz="1400" b="1" dirty="0" smtClean="0"/>
              <a:t>CUALI</a:t>
            </a:r>
          </a:p>
          <a:p>
            <a:pPr algn="ctr"/>
            <a:endParaRPr lang="es-MX" sz="1200" dirty="0" smtClean="0"/>
          </a:p>
          <a:p>
            <a:pPr algn="ctr"/>
            <a:r>
              <a:rPr lang="es-MX" sz="1200" dirty="0" smtClean="0"/>
              <a:t>Tache y palomita </a:t>
            </a:r>
          </a:p>
          <a:p>
            <a:pPr algn="ctr"/>
            <a:r>
              <a:rPr lang="es-MX" sz="1200" dirty="0" smtClean="0"/>
              <a:t>(El usuario elige)</a:t>
            </a:r>
          </a:p>
          <a:p>
            <a:endParaRPr lang="es-MX" dirty="0"/>
          </a:p>
        </p:txBody>
      </p:sp>
      <p:sp>
        <p:nvSpPr>
          <p:cNvPr id="25" name="24 CuadroTexto"/>
          <p:cNvSpPr txBox="1"/>
          <p:nvPr/>
        </p:nvSpPr>
        <p:spPr>
          <a:xfrm>
            <a:off x="642910"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27" name="26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MA-CH-6</a:t>
            </a:r>
          </a:p>
        </p:txBody>
      </p:sp>
      <p:sp>
        <p:nvSpPr>
          <p:cNvPr id="37" name="13 Rectángulo redondeado"/>
          <p:cNvSpPr/>
          <p:nvPr/>
        </p:nvSpPr>
        <p:spPr>
          <a:xfrm>
            <a:off x="76200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9" name="13 Rectángulo redondeado"/>
          <p:cNvSpPr/>
          <p:nvPr/>
        </p:nvSpPr>
        <p:spPr>
          <a:xfrm>
            <a:off x="68580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2" name="13 Rectángulo redondeado"/>
          <p:cNvSpPr/>
          <p:nvPr/>
        </p:nvSpPr>
        <p:spPr>
          <a:xfrm>
            <a:off x="83820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26 CuadroTexto"/>
          <p:cNvSpPr txBox="1"/>
          <p:nvPr/>
        </p:nvSpPr>
        <p:spPr>
          <a:xfrm rot="16200000">
            <a:off x="6515100" y="44577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50" name="26 CuadroTexto"/>
          <p:cNvSpPr txBox="1"/>
          <p:nvPr/>
        </p:nvSpPr>
        <p:spPr>
          <a:xfrm rot="16200000">
            <a:off x="7223225" y="44038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51" name="26 CuadroTexto"/>
          <p:cNvSpPr txBox="1"/>
          <p:nvPr/>
        </p:nvSpPr>
        <p:spPr>
          <a:xfrm rot="16200000">
            <a:off x="7962900" y="44577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52" name="33 CuadroTexto"/>
          <p:cNvSpPr txBox="1"/>
          <p:nvPr/>
        </p:nvSpPr>
        <p:spPr>
          <a:xfrm>
            <a:off x="6724664" y="5505464"/>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53" name="33 CuadroTexto"/>
          <p:cNvSpPr txBox="1"/>
          <p:nvPr/>
        </p:nvSpPr>
        <p:spPr>
          <a:xfrm>
            <a:off x="7515220" y="5514201"/>
            <a:ext cx="714380" cy="276999"/>
          </a:xfrm>
          <a:prstGeom prst="rect">
            <a:avLst/>
          </a:prstGeom>
          <a:noFill/>
        </p:spPr>
        <p:txBody>
          <a:bodyPr wrap="square" rtlCol="0">
            <a:spAutoFit/>
          </a:bodyPr>
          <a:lstStyle/>
          <a:p>
            <a:r>
              <a:rPr lang="es-MX" sz="1200" dirty="0" smtClean="0">
                <a:latin typeface="Arial Narrow" pitchFamily="34" charset="0"/>
              </a:rPr>
              <a:t>MA-CH-4</a:t>
            </a:r>
            <a:endParaRPr lang="es-MX" sz="1200" dirty="0" smtClean="0">
              <a:solidFill>
                <a:schemeClr val="bg1"/>
              </a:solidFill>
              <a:latin typeface="Arial Narrow" pitchFamily="34" charset="0"/>
            </a:endParaRPr>
          </a:p>
        </p:txBody>
      </p:sp>
      <p:sp>
        <p:nvSpPr>
          <p:cNvPr id="54" name="33 CuadroTexto"/>
          <p:cNvSpPr txBox="1"/>
          <p:nvPr/>
        </p:nvSpPr>
        <p:spPr>
          <a:xfrm>
            <a:off x="8277220" y="5514201"/>
            <a:ext cx="714380" cy="276999"/>
          </a:xfrm>
          <a:prstGeom prst="rect">
            <a:avLst/>
          </a:prstGeom>
          <a:noFill/>
        </p:spPr>
        <p:txBody>
          <a:bodyPr wrap="square" rtlCol="0">
            <a:spAutoFit/>
          </a:bodyPr>
          <a:lstStyle/>
          <a:p>
            <a:r>
              <a:rPr lang="es-MX" sz="1200" dirty="0" smtClean="0">
                <a:latin typeface="Arial Narrow" pitchFamily="34" charset="0"/>
              </a:rPr>
              <a:t>MA-CH-7</a:t>
            </a:r>
            <a:endParaRPr lang="es-MX" sz="1200" dirty="0" smtClean="0">
              <a:solidFill>
                <a:schemeClr val="bg1"/>
              </a:solidFill>
              <a:latin typeface="Arial Narrow" pitchFamily="34" charset="0"/>
            </a:endParaRPr>
          </a:p>
        </p:txBody>
      </p:sp>
      <p:sp>
        <p:nvSpPr>
          <p:cNvPr id="35" name="28 Rectángulo"/>
          <p:cNvSpPr/>
          <p:nvPr/>
        </p:nvSpPr>
        <p:spPr>
          <a:xfrm>
            <a:off x="1981200" y="4648200"/>
            <a:ext cx="2857520" cy="35719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200" dirty="0" smtClean="0">
                <a:solidFill>
                  <a:schemeClr val="tx1"/>
                </a:solidFill>
              </a:rPr>
              <a:t>Marcador muestra aciertos y erróres y botón repetir</a:t>
            </a:r>
            <a:endParaRPr lang="es-MX" sz="1200"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5 Rectángulo"/>
          <p:cNvSpPr/>
          <p:nvPr/>
        </p:nvSpPr>
        <p:spPr>
          <a:xfrm>
            <a:off x="0" y="9144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46" name="45 CuadroTexto"/>
          <p:cNvSpPr txBox="1"/>
          <p:nvPr/>
        </p:nvSpPr>
        <p:spPr>
          <a:xfrm>
            <a:off x="3214678" y="1201151"/>
            <a:ext cx="2173993" cy="584775"/>
          </a:xfrm>
          <a:prstGeom prst="rect">
            <a:avLst/>
          </a:prstGeom>
          <a:noFill/>
        </p:spPr>
        <p:txBody>
          <a:bodyPr wrap="none" rtlCol="0">
            <a:spAutoFit/>
          </a:bodyPr>
          <a:lstStyle/>
          <a:p>
            <a:pPr algn="ctr"/>
            <a:r>
              <a:rPr lang="es-MX" b="1" dirty="0" smtClean="0"/>
              <a:t>¿</a:t>
            </a:r>
            <a:r>
              <a:rPr lang="es-MX" b="1" dirty="0" err="1" smtClean="0"/>
              <a:t>Quenihqui</a:t>
            </a:r>
            <a:r>
              <a:rPr lang="es-MX" b="1" dirty="0" smtClean="0"/>
              <a:t> </a:t>
            </a:r>
            <a:r>
              <a:rPr lang="es-MX" b="1" dirty="0" err="1" smtClean="0"/>
              <a:t>tiitstoc</a:t>
            </a:r>
            <a:r>
              <a:rPr lang="es-MX" b="1" dirty="0" smtClean="0"/>
              <a:t>?,</a:t>
            </a:r>
          </a:p>
          <a:p>
            <a:pPr algn="ctr"/>
            <a:r>
              <a:rPr lang="es-MX" sz="1400" b="1" dirty="0" smtClean="0"/>
              <a:t>¿Cómo estás?</a:t>
            </a:r>
            <a:endParaRPr lang="es-MX" sz="1400" dirty="0"/>
          </a:p>
        </p:txBody>
      </p:sp>
      <p:sp>
        <p:nvSpPr>
          <p:cNvPr id="47" name="46 Rectángulo"/>
          <p:cNvSpPr/>
          <p:nvPr/>
        </p:nvSpPr>
        <p:spPr>
          <a:xfrm>
            <a:off x="3500430" y="1928802"/>
            <a:ext cx="1500198" cy="2000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smtClean="0"/>
              <a:t>Retratos aleatorios</a:t>
            </a:r>
            <a:endParaRPr lang="es-MX" dirty="0"/>
          </a:p>
        </p:txBody>
      </p:sp>
      <p:sp>
        <p:nvSpPr>
          <p:cNvPr id="49" name="TextBox 22"/>
          <p:cNvSpPr txBox="1"/>
          <p:nvPr/>
        </p:nvSpPr>
        <p:spPr>
          <a:xfrm>
            <a:off x="76200" y="1981200"/>
            <a:ext cx="2214578" cy="3477875"/>
          </a:xfrm>
          <a:prstGeom prst="rect">
            <a:avLst/>
          </a:prstGeom>
          <a:noFill/>
        </p:spPr>
        <p:txBody>
          <a:bodyPr wrap="square" rtlCol="0">
            <a:spAutoFit/>
          </a:bodyPr>
          <a:lstStyle/>
          <a:p>
            <a:r>
              <a:rPr lang="en-US" sz="1000" dirty="0" err="1" smtClean="0"/>
              <a:t>Práctica</a:t>
            </a:r>
            <a:r>
              <a:rPr lang="en-US" sz="1000" dirty="0" smtClean="0"/>
              <a:t>. </a:t>
            </a:r>
          </a:p>
          <a:p>
            <a:r>
              <a:rPr lang="en-US" sz="1000" dirty="0" err="1" smtClean="0"/>
              <a:t>Aparecen</a:t>
            </a:r>
            <a:r>
              <a:rPr lang="en-US" sz="1000" dirty="0" smtClean="0"/>
              <a:t> de </a:t>
            </a:r>
            <a:r>
              <a:rPr lang="en-US" sz="1000" dirty="0" err="1" smtClean="0"/>
              <a:t>manera</a:t>
            </a:r>
            <a:r>
              <a:rPr lang="en-US" sz="1000" dirty="0" smtClean="0"/>
              <a:t> </a:t>
            </a:r>
            <a:r>
              <a:rPr lang="en-US" sz="1000" dirty="0" err="1" smtClean="0"/>
              <a:t>aleatoria</a:t>
            </a:r>
            <a:r>
              <a:rPr lang="en-US" sz="1000" dirty="0" smtClean="0"/>
              <a:t>:</a:t>
            </a:r>
          </a:p>
          <a:p>
            <a:r>
              <a:rPr lang="en-US" sz="1000" dirty="0" smtClean="0"/>
              <a:t>Un  </a:t>
            </a:r>
            <a:r>
              <a:rPr lang="en-US" sz="1000" dirty="0" err="1" smtClean="0"/>
              <a:t>retrato</a:t>
            </a:r>
            <a:r>
              <a:rPr lang="en-US" sz="1000" dirty="0" smtClean="0"/>
              <a:t> de la </a:t>
            </a:r>
            <a:r>
              <a:rPr lang="en-US" sz="1000" dirty="0" err="1" smtClean="0"/>
              <a:t>colección</a:t>
            </a:r>
            <a:r>
              <a:rPr lang="en-US" sz="1000" dirty="0" smtClean="0"/>
              <a:t> (6) </a:t>
            </a:r>
            <a:r>
              <a:rPr lang="en-US" sz="1000" dirty="0" err="1" smtClean="0"/>
              <a:t>y</a:t>
            </a:r>
            <a:r>
              <a:rPr lang="en-US" sz="1000" dirty="0" smtClean="0"/>
              <a:t> </a:t>
            </a:r>
            <a:r>
              <a:rPr lang="en-US" sz="1000" dirty="0" err="1" smtClean="0"/>
              <a:t>sonidos</a:t>
            </a:r>
            <a:r>
              <a:rPr lang="en-US" sz="1000" dirty="0" smtClean="0"/>
              <a:t> de la </a:t>
            </a:r>
            <a:r>
              <a:rPr lang="en-US" sz="1000" dirty="0" err="1" smtClean="0"/>
              <a:t>colección</a:t>
            </a:r>
            <a:r>
              <a:rPr lang="en-US" sz="1000" dirty="0" smtClean="0"/>
              <a:t> (6)</a:t>
            </a:r>
          </a:p>
          <a:p>
            <a:r>
              <a:rPr lang="en-US" sz="1000" dirty="0" smtClean="0"/>
              <a:t>Abajo </a:t>
            </a:r>
            <a:r>
              <a:rPr lang="en-US" sz="1000" dirty="0" err="1" smtClean="0"/>
              <a:t>icono</a:t>
            </a:r>
            <a:r>
              <a:rPr lang="en-US" sz="1000" dirty="0" smtClean="0"/>
              <a:t> “play”</a:t>
            </a:r>
          </a:p>
          <a:p>
            <a:r>
              <a:rPr lang="en-US" sz="1000" dirty="0" err="1" smtClean="0"/>
              <a:t>Una</a:t>
            </a:r>
            <a:r>
              <a:rPr lang="en-US" sz="1000" dirty="0" smtClean="0"/>
              <a:t> </a:t>
            </a:r>
            <a:r>
              <a:rPr lang="en-US" sz="1000" dirty="0" err="1" smtClean="0"/>
              <a:t>vez</a:t>
            </a:r>
            <a:r>
              <a:rPr lang="en-US" sz="1000" dirty="0" smtClean="0"/>
              <a:t> </a:t>
            </a:r>
            <a:r>
              <a:rPr lang="en-US" sz="1000" dirty="0" err="1" smtClean="0"/>
              <a:t>que</a:t>
            </a:r>
            <a:r>
              <a:rPr lang="en-US" sz="1000" dirty="0" smtClean="0"/>
              <a:t> </a:t>
            </a:r>
            <a:r>
              <a:rPr lang="en-US" sz="1000" dirty="0" err="1" smtClean="0"/>
              <a:t>termina</a:t>
            </a:r>
            <a:r>
              <a:rPr lang="en-US" sz="1000" dirty="0" smtClean="0"/>
              <a:t> el audio </a:t>
            </a:r>
            <a:r>
              <a:rPr lang="en-US" sz="1000" dirty="0" err="1" smtClean="0"/>
              <a:t>aparecen</a:t>
            </a:r>
            <a:r>
              <a:rPr lang="en-US" sz="1000" dirty="0" smtClean="0"/>
              <a:t> 3 </a:t>
            </a:r>
            <a:r>
              <a:rPr lang="en-US" sz="1000" dirty="0" err="1" smtClean="0"/>
              <a:t>respuestas</a:t>
            </a:r>
            <a:r>
              <a:rPr lang="en-US" sz="1000" dirty="0" smtClean="0"/>
              <a:t>. El </a:t>
            </a:r>
            <a:r>
              <a:rPr lang="en-US" sz="1000" dirty="0" err="1" smtClean="0"/>
              <a:t>usuario</a:t>
            </a:r>
            <a:r>
              <a:rPr lang="en-US" sz="1000" dirty="0" smtClean="0"/>
              <a:t> </a:t>
            </a:r>
            <a:r>
              <a:rPr lang="en-US" sz="1000" dirty="0" err="1" smtClean="0"/>
              <a:t>elige</a:t>
            </a:r>
            <a:r>
              <a:rPr lang="en-US" sz="1000" dirty="0" smtClean="0"/>
              <a:t> </a:t>
            </a:r>
            <a:r>
              <a:rPr lang="en-US" sz="1000" dirty="0" err="1" smtClean="0"/>
              <a:t>una</a:t>
            </a:r>
            <a:r>
              <a:rPr lang="en-US" sz="1000" dirty="0" smtClean="0"/>
              <a:t> </a:t>
            </a:r>
            <a:r>
              <a:rPr lang="en-US" sz="1000" dirty="0" err="1" smtClean="0"/>
              <a:t>que</a:t>
            </a:r>
            <a:r>
              <a:rPr lang="en-US" sz="1000" dirty="0" smtClean="0"/>
              <a:t> </a:t>
            </a:r>
            <a:r>
              <a:rPr lang="en-US" sz="1000" dirty="0" err="1" smtClean="0"/>
              <a:t>es</a:t>
            </a:r>
            <a:r>
              <a:rPr lang="en-US" sz="1000" dirty="0" smtClean="0"/>
              <a:t> la </a:t>
            </a:r>
            <a:r>
              <a:rPr lang="en-US" sz="1000" dirty="0" err="1" smtClean="0"/>
              <a:t>correcta</a:t>
            </a:r>
            <a:r>
              <a:rPr lang="en-US" sz="1000" dirty="0" smtClean="0"/>
              <a:t>.</a:t>
            </a:r>
          </a:p>
          <a:p>
            <a:endParaRPr lang="en-US" sz="1000" dirty="0" smtClean="0"/>
          </a:p>
          <a:p>
            <a:r>
              <a:rPr lang="en-US" sz="1000" dirty="0" smtClean="0"/>
              <a:t>En el  </a:t>
            </a:r>
            <a:r>
              <a:rPr lang="en-US" sz="1000" dirty="0" err="1" smtClean="0"/>
              <a:t>marcador</a:t>
            </a:r>
            <a:r>
              <a:rPr lang="en-US" sz="1000" dirty="0" smtClean="0"/>
              <a:t> se </a:t>
            </a:r>
            <a:r>
              <a:rPr lang="en-US" sz="1000" dirty="0" err="1" smtClean="0"/>
              <a:t>marcan</a:t>
            </a:r>
            <a:r>
              <a:rPr lang="en-US" sz="1000" dirty="0" smtClean="0"/>
              <a:t> </a:t>
            </a:r>
            <a:r>
              <a:rPr lang="en-US" sz="1000" dirty="0" err="1" smtClean="0"/>
              <a:t>aciertos</a:t>
            </a:r>
            <a:r>
              <a:rPr lang="en-US" sz="1000" dirty="0" smtClean="0"/>
              <a:t> </a:t>
            </a:r>
            <a:r>
              <a:rPr lang="en-US" sz="1000" dirty="0" err="1" smtClean="0"/>
              <a:t>y</a:t>
            </a:r>
            <a:r>
              <a:rPr lang="en-US" sz="1000" dirty="0" smtClean="0"/>
              <a:t> </a:t>
            </a:r>
            <a:r>
              <a:rPr lang="en-US" sz="1000" dirty="0" err="1" smtClean="0"/>
              <a:t>desaciertos</a:t>
            </a:r>
            <a:r>
              <a:rPr lang="en-US" sz="1000" dirty="0" smtClean="0"/>
              <a:t>. </a:t>
            </a:r>
            <a:r>
              <a:rPr lang="en-US" sz="1000" dirty="0" err="1" smtClean="0"/>
              <a:t>Tiene</a:t>
            </a:r>
            <a:r>
              <a:rPr lang="en-US" sz="1000" dirty="0" smtClean="0"/>
              <a:t> la </a:t>
            </a:r>
            <a:r>
              <a:rPr lang="en-US" sz="1000" dirty="0" err="1" smtClean="0"/>
              <a:t>opción</a:t>
            </a:r>
            <a:r>
              <a:rPr lang="en-US" sz="1000" dirty="0" smtClean="0"/>
              <a:t> de </a:t>
            </a:r>
            <a:r>
              <a:rPr lang="en-US" sz="1000" dirty="0" err="1" smtClean="0"/>
              <a:t>repetir</a:t>
            </a:r>
            <a:r>
              <a:rPr lang="en-US" sz="1000" dirty="0" smtClean="0"/>
              <a:t> el </a:t>
            </a:r>
            <a:r>
              <a:rPr lang="en-US" sz="1000" dirty="0" err="1" smtClean="0"/>
              <a:t>ejercicio</a:t>
            </a:r>
            <a:r>
              <a:rPr lang="en-US" sz="1000" dirty="0" smtClean="0"/>
              <a:t>.</a:t>
            </a:r>
          </a:p>
          <a:p>
            <a:endParaRPr lang="en-US" sz="1000" dirty="0" smtClean="0"/>
          </a:p>
          <a:p>
            <a:r>
              <a:rPr lang="en-US" sz="1000" dirty="0" err="1" smtClean="0"/>
              <a:t>Combinaciones</a:t>
            </a:r>
            <a:r>
              <a:rPr lang="en-US" sz="1000" dirty="0" smtClean="0"/>
              <a:t> </a:t>
            </a:r>
            <a:r>
              <a:rPr lang="en-US" sz="1000" dirty="0" err="1" smtClean="0"/>
              <a:t>correctas</a:t>
            </a:r>
            <a:r>
              <a:rPr lang="en-US" sz="1000" dirty="0" smtClean="0"/>
              <a:t>:</a:t>
            </a:r>
          </a:p>
          <a:p>
            <a:r>
              <a:rPr lang="en-US" sz="1000" dirty="0" err="1" smtClean="0"/>
              <a:t>Retrato</a:t>
            </a:r>
            <a:r>
              <a:rPr lang="en-US" sz="1000" dirty="0" smtClean="0"/>
              <a:t> 1 – </a:t>
            </a:r>
            <a:r>
              <a:rPr lang="en-US" sz="1000" dirty="0" err="1" smtClean="0"/>
              <a:t>palabra</a:t>
            </a:r>
            <a:r>
              <a:rPr lang="en-US" sz="1000" dirty="0" smtClean="0"/>
              <a:t> 1 – </a:t>
            </a:r>
            <a:r>
              <a:rPr lang="en-US" sz="1000" dirty="0" err="1" smtClean="0"/>
              <a:t>sonido</a:t>
            </a:r>
            <a:r>
              <a:rPr lang="en-US" sz="1000" dirty="0" smtClean="0"/>
              <a:t> 1</a:t>
            </a:r>
          </a:p>
          <a:p>
            <a:r>
              <a:rPr lang="en-US" sz="1000" dirty="0" err="1" smtClean="0"/>
              <a:t>Retrato</a:t>
            </a:r>
            <a:r>
              <a:rPr lang="en-US" sz="1000" dirty="0" smtClean="0"/>
              <a:t> 2 – </a:t>
            </a:r>
            <a:r>
              <a:rPr lang="en-US" sz="1000" dirty="0" err="1" smtClean="0"/>
              <a:t>palabra</a:t>
            </a:r>
            <a:r>
              <a:rPr lang="en-US" sz="1000" dirty="0" smtClean="0"/>
              <a:t> 2 – </a:t>
            </a:r>
            <a:r>
              <a:rPr lang="en-US" sz="1000" dirty="0" err="1" smtClean="0"/>
              <a:t>sonido</a:t>
            </a:r>
            <a:r>
              <a:rPr lang="en-US" sz="1000" dirty="0" smtClean="0"/>
              <a:t> 2</a:t>
            </a:r>
          </a:p>
          <a:p>
            <a:r>
              <a:rPr lang="en-US" sz="1000" dirty="0" err="1" smtClean="0"/>
              <a:t>Retrato</a:t>
            </a:r>
            <a:r>
              <a:rPr lang="en-US" sz="1000" dirty="0" smtClean="0"/>
              <a:t> 3 – </a:t>
            </a:r>
            <a:r>
              <a:rPr lang="en-US" sz="1000" dirty="0" err="1" smtClean="0"/>
              <a:t>palabra</a:t>
            </a:r>
            <a:r>
              <a:rPr lang="en-US" sz="1000" dirty="0" smtClean="0"/>
              <a:t> 3 – </a:t>
            </a:r>
            <a:r>
              <a:rPr lang="en-US" sz="1000" dirty="0" err="1" smtClean="0"/>
              <a:t>sonido</a:t>
            </a:r>
            <a:r>
              <a:rPr lang="en-US" sz="1000" dirty="0" smtClean="0"/>
              <a:t> 3</a:t>
            </a:r>
          </a:p>
          <a:p>
            <a:r>
              <a:rPr lang="en-US" sz="1000" dirty="0" err="1" smtClean="0"/>
              <a:t>Retrato</a:t>
            </a:r>
            <a:r>
              <a:rPr lang="en-US" sz="1000" dirty="0" smtClean="0"/>
              <a:t> 4 – </a:t>
            </a:r>
            <a:r>
              <a:rPr lang="en-US" sz="1000" dirty="0" err="1" smtClean="0"/>
              <a:t>palabra</a:t>
            </a:r>
            <a:r>
              <a:rPr lang="en-US" sz="1000" dirty="0" smtClean="0"/>
              <a:t> 4 – </a:t>
            </a:r>
            <a:r>
              <a:rPr lang="en-US" sz="1000" dirty="0" err="1" smtClean="0"/>
              <a:t>sonido</a:t>
            </a:r>
            <a:r>
              <a:rPr lang="en-US" sz="1000" dirty="0" smtClean="0"/>
              <a:t> 4</a:t>
            </a:r>
          </a:p>
          <a:p>
            <a:r>
              <a:rPr lang="en-US" sz="1000" dirty="0" err="1" smtClean="0"/>
              <a:t>Retrato</a:t>
            </a:r>
            <a:r>
              <a:rPr lang="en-US" sz="1000" dirty="0" smtClean="0"/>
              <a:t> 5 – </a:t>
            </a:r>
            <a:r>
              <a:rPr lang="en-US" sz="1000" dirty="0" err="1" smtClean="0"/>
              <a:t>palabra</a:t>
            </a:r>
            <a:r>
              <a:rPr lang="en-US" sz="1000" dirty="0" smtClean="0"/>
              <a:t> 5 – </a:t>
            </a:r>
            <a:r>
              <a:rPr lang="en-US" sz="1000" dirty="0" err="1" smtClean="0"/>
              <a:t>sonido</a:t>
            </a:r>
            <a:r>
              <a:rPr lang="en-US" sz="1000" dirty="0" smtClean="0"/>
              <a:t> 5</a:t>
            </a:r>
          </a:p>
          <a:p>
            <a:r>
              <a:rPr lang="en-US" sz="1000" dirty="0" err="1" smtClean="0"/>
              <a:t>Retrato</a:t>
            </a:r>
            <a:r>
              <a:rPr lang="en-US" sz="1000" dirty="0" smtClean="0"/>
              <a:t> 6 – </a:t>
            </a:r>
            <a:r>
              <a:rPr lang="en-US" sz="1000" dirty="0" err="1" smtClean="0"/>
              <a:t>palabra</a:t>
            </a:r>
            <a:r>
              <a:rPr lang="en-US" sz="1000" dirty="0" smtClean="0"/>
              <a:t> 6 – </a:t>
            </a:r>
            <a:r>
              <a:rPr lang="en-US" sz="1000" dirty="0" err="1" smtClean="0"/>
              <a:t>sonido</a:t>
            </a:r>
            <a:r>
              <a:rPr lang="en-US" sz="1000" dirty="0" smtClean="0"/>
              <a:t> 6</a:t>
            </a:r>
          </a:p>
          <a:p>
            <a:endParaRPr lang="en-US" sz="1000" dirty="0" smtClean="0"/>
          </a:p>
          <a:p>
            <a:endParaRPr lang="en-US" sz="1000" dirty="0" smtClean="0"/>
          </a:p>
        </p:txBody>
      </p:sp>
      <p:sp>
        <p:nvSpPr>
          <p:cNvPr id="26" name="25 CuadroTexto"/>
          <p:cNvSpPr txBox="1"/>
          <p:nvPr/>
        </p:nvSpPr>
        <p:spPr>
          <a:xfrm>
            <a:off x="4000496" y="4214818"/>
            <a:ext cx="642942" cy="369332"/>
          </a:xfrm>
          <a:prstGeom prst="rect">
            <a:avLst/>
          </a:prstGeom>
          <a:noFill/>
        </p:spPr>
        <p:txBody>
          <a:bodyPr wrap="square" rtlCol="0">
            <a:spAutoFit/>
          </a:bodyPr>
          <a:lstStyle/>
          <a:p>
            <a:r>
              <a:rPr lang="it-IT" dirty="0" smtClean="0"/>
              <a:t>b) </a:t>
            </a:r>
          </a:p>
        </p:txBody>
      </p:sp>
      <p:sp>
        <p:nvSpPr>
          <p:cNvPr id="27" name="26 CuadroTexto"/>
          <p:cNvSpPr txBox="1"/>
          <p:nvPr/>
        </p:nvSpPr>
        <p:spPr>
          <a:xfrm>
            <a:off x="2857488" y="4214818"/>
            <a:ext cx="642942" cy="369332"/>
          </a:xfrm>
          <a:prstGeom prst="rect">
            <a:avLst/>
          </a:prstGeom>
          <a:noFill/>
        </p:spPr>
        <p:txBody>
          <a:bodyPr wrap="square" rtlCol="0">
            <a:spAutoFit/>
          </a:bodyPr>
          <a:lstStyle/>
          <a:p>
            <a:r>
              <a:rPr lang="it-IT" dirty="0" smtClean="0"/>
              <a:t>a) </a:t>
            </a:r>
          </a:p>
        </p:txBody>
      </p:sp>
      <p:sp>
        <p:nvSpPr>
          <p:cNvPr id="28" name="27 CuadroTexto"/>
          <p:cNvSpPr txBox="1"/>
          <p:nvPr/>
        </p:nvSpPr>
        <p:spPr>
          <a:xfrm>
            <a:off x="5000628" y="4214818"/>
            <a:ext cx="642942" cy="369332"/>
          </a:xfrm>
          <a:prstGeom prst="rect">
            <a:avLst/>
          </a:prstGeom>
          <a:noFill/>
        </p:spPr>
        <p:txBody>
          <a:bodyPr wrap="square" rtlCol="0">
            <a:spAutoFit/>
          </a:bodyPr>
          <a:lstStyle/>
          <a:p>
            <a:r>
              <a:rPr lang="it-IT" dirty="0" smtClean="0"/>
              <a:t>c) </a:t>
            </a:r>
          </a:p>
        </p:txBody>
      </p:sp>
      <p:sp>
        <p:nvSpPr>
          <p:cNvPr id="29" name="28 Rectángulo"/>
          <p:cNvSpPr/>
          <p:nvPr/>
        </p:nvSpPr>
        <p:spPr>
          <a:xfrm>
            <a:off x="2857488" y="5000636"/>
            <a:ext cx="2857520" cy="35719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200" dirty="0" smtClean="0">
                <a:solidFill>
                  <a:schemeClr val="tx1"/>
                </a:solidFill>
              </a:rPr>
              <a:t>Marcador muestra aciertos y erróres y botón repetir</a:t>
            </a:r>
            <a:endParaRPr lang="es-MX" sz="1200" dirty="0">
              <a:solidFill>
                <a:schemeClr val="tx1"/>
              </a:solidFill>
            </a:endParaRPr>
          </a:p>
        </p:txBody>
      </p:sp>
      <p:sp>
        <p:nvSpPr>
          <p:cNvPr id="35" name="34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37" name="36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MA-CH-7</a:t>
            </a:r>
          </a:p>
        </p:txBody>
      </p:sp>
      <p:sp>
        <p:nvSpPr>
          <p:cNvPr id="39" name="13 Rectángulo redondeado"/>
          <p:cNvSpPr/>
          <p:nvPr/>
        </p:nvSpPr>
        <p:spPr>
          <a:xfrm>
            <a:off x="7467600" y="50720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0" name="13 Rectángulo redondeado"/>
          <p:cNvSpPr/>
          <p:nvPr/>
        </p:nvSpPr>
        <p:spPr>
          <a:xfrm>
            <a:off x="6705600" y="50720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2" name="13 Rectángulo redondeado"/>
          <p:cNvSpPr/>
          <p:nvPr/>
        </p:nvSpPr>
        <p:spPr>
          <a:xfrm>
            <a:off x="8229600" y="50720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26 CuadroTexto"/>
          <p:cNvSpPr txBox="1"/>
          <p:nvPr/>
        </p:nvSpPr>
        <p:spPr>
          <a:xfrm rot="16200000">
            <a:off x="6362700" y="43815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50" name="26 CuadroTexto"/>
          <p:cNvSpPr txBox="1"/>
          <p:nvPr/>
        </p:nvSpPr>
        <p:spPr>
          <a:xfrm rot="16200000">
            <a:off x="7070825" y="43276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51" name="26 CuadroTexto"/>
          <p:cNvSpPr txBox="1"/>
          <p:nvPr/>
        </p:nvSpPr>
        <p:spPr>
          <a:xfrm rot="16200000">
            <a:off x="7810500" y="43815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52" name="33 CuadroTexto"/>
          <p:cNvSpPr txBox="1"/>
          <p:nvPr/>
        </p:nvSpPr>
        <p:spPr>
          <a:xfrm>
            <a:off x="6572264" y="5429264"/>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53" name="33 CuadroTexto"/>
          <p:cNvSpPr txBox="1"/>
          <p:nvPr/>
        </p:nvSpPr>
        <p:spPr>
          <a:xfrm>
            <a:off x="7362820" y="5438001"/>
            <a:ext cx="714380" cy="276999"/>
          </a:xfrm>
          <a:prstGeom prst="rect">
            <a:avLst/>
          </a:prstGeom>
          <a:noFill/>
        </p:spPr>
        <p:txBody>
          <a:bodyPr wrap="square" rtlCol="0">
            <a:spAutoFit/>
          </a:bodyPr>
          <a:lstStyle/>
          <a:p>
            <a:r>
              <a:rPr lang="es-MX" sz="1200" dirty="0" smtClean="0">
                <a:latin typeface="Arial Narrow" pitchFamily="34" charset="0"/>
              </a:rPr>
              <a:t>MA-CH-4</a:t>
            </a:r>
            <a:endParaRPr lang="es-MX" sz="1200" dirty="0" smtClean="0">
              <a:solidFill>
                <a:schemeClr val="bg1"/>
              </a:solidFill>
              <a:latin typeface="Arial Narrow" pitchFamily="34" charset="0"/>
            </a:endParaRPr>
          </a:p>
        </p:txBody>
      </p:sp>
      <p:sp>
        <p:nvSpPr>
          <p:cNvPr id="54" name="33 CuadroTexto"/>
          <p:cNvSpPr txBox="1"/>
          <p:nvPr/>
        </p:nvSpPr>
        <p:spPr>
          <a:xfrm>
            <a:off x="8124820" y="5438001"/>
            <a:ext cx="714380" cy="276999"/>
          </a:xfrm>
          <a:prstGeom prst="rect">
            <a:avLst/>
          </a:prstGeom>
          <a:noFill/>
        </p:spPr>
        <p:txBody>
          <a:bodyPr wrap="square" rtlCol="0">
            <a:spAutoFit/>
          </a:bodyPr>
          <a:lstStyle/>
          <a:p>
            <a:r>
              <a:rPr lang="es-MX" sz="1200" dirty="0" smtClean="0">
                <a:latin typeface="Arial Narrow" pitchFamily="34" charset="0"/>
              </a:rPr>
              <a:t>MA-CH-8</a:t>
            </a:r>
            <a:endParaRPr lang="es-MX" sz="1200" dirty="0" smtClean="0">
              <a:solidFill>
                <a:schemeClr val="bg1"/>
              </a:solidFill>
              <a:latin typeface="Arial Narrow"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46" name="45 CuadroTexto"/>
          <p:cNvSpPr txBox="1"/>
          <p:nvPr/>
        </p:nvSpPr>
        <p:spPr>
          <a:xfrm>
            <a:off x="3786182" y="1285860"/>
            <a:ext cx="1316131" cy="584775"/>
          </a:xfrm>
          <a:prstGeom prst="rect">
            <a:avLst/>
          </a:prstGeom>
          <a:noFill/>
        </p:spPr>
        <p:txBody>
          <a:bodyPr wrap="none" rtlCol="0">
            <a:spAutoFit/>
          </a:bodyPr>
          <a:lstStyle/>
          <a:p>
            <a:pPr algn="ctr"/>
            <a:r>
              <a:rPr lang="es-MX" b="1" dirty="0" smtClean="0"/>
              <a:t>¿</a:t>
            </a:r>
            <a:r>
              <a:rPr lang="es-MX" b="1" dirty="0" err="1" smtClean="0"/>
              <a:t>Cani</a:t>
            </a:r>
            <a:r>
              <a:rPr lang="es-MX" b="1" dirty="0" smtClean="0"/>
              <a:t> </a:t>
            </a:r>
            <a:r>
              <a:rPr lang="es-MX" b="1" dirty="0" err="1" smtClean="0"/>
              <a:t>Tiya</a:t>
            </a:r>
            <a:r>
              <a:rPr lang="es-MX" b="1" dirty="0" smtClean="0"/>
              <a:t>?,</a:t>
            </a:r>
          </a:p>
          <a:p>
            <a:pPr algn="ctr"/>
            <a:r>
              <a:rPr lang="es-MX" sz="1400" b="1" dirty="0" smtClean="0"/>
              <a:t>¿Dónde vas?</a:t>
            </a:r>
            <a:endParaRPr lang="es-MX" sz="1400" dirty="0"/>
          </a:p>
        </p:txBody>
      </p:sp>
      <p:sp>
        <p:nvSpPr>
          <p:cNvPr id="49" name="TextBox 22"/>
          <p:cNvSpPr txBox="1"/>
          <p:nvPr/>
        </p:nvSpPr>
        <p:spPr>
          <a:xfrm>
            <a:off x="357158" y="4724400"/>
            <a:ext cx="2214578" cy="1015663"/>
          </a:xfrm>
          <a:prstGeom prst="rect">
            <a:avLst/>
          </a:prstGeom>
          <a:noFill/>
        </p:spPr>
        <p:txBody>
          <a:bodyPr wrap="square" rtlCol="0">
            <a:spAutoFit/>
          </a:bodyPr>
          <a:lstStyle/>
          <a:p>
            <a:r>
              <a:rPr lang="en-US" sz="1000" dirty="0" err="1" smtClean="0"/>
              <a:t>Práctica</a:t>
            </a:r>
            <a:r>
              <a:rPr lang="en-US" sz="1000" dirty="0" smtClean="0"/>
              <a:t> </a:t>
            </a:r>
          </a:p>
          <a:p>
            <a:r>
              <a:rPr lang="en-US" sz="1000" dirty="0" err="1" smtClean="0"/>
              <a:t>Relacionar</a:t>
            </a:r>
            <a:r>
              <a:rPr lang="en-US" sz="1000" dirty="0" smtClean="0"/>
              <a:t> </a:t>
            </a:r>
            <a:r>
              <a:rPr lang="en-US" sz="1000" dirty="0" err="1" smtClean="0"/>
              <a:t>Imagen</a:t>
            </a:r>
            <a:r>
              <a:rPr lang="en-US" sz="1000" dirty="0" smtClean="0"/>
              <a:t> </a:t>
            </a:r>
            <a:r>
              <a:rPr lang="en-US" sz="1000" dirty="0" err="1" smtClean="0"/>
              <a:t>Fija</a:t>
            </a:r>
            <a:r>
              <a:rPr lang="en-US" sz="1000" dirty="0" smtClean="0"/>
              <a:t> y </a:t>
            </a:r>
            <a:r>
              <a:rPr lang="en-US" sz="1000" dirty="0" err="1" smtClean="0"/>
              <a:t>frases</a:t>
            </a:r>
            <a:endParaRPr lang="en-US" sz="1000" dirty="0" smtClean="0"/>
          </a:p>
          <a:p>
            <a:r>
              <a:rPr lang="en-US" sz="1000" dirty="0" err="1" smtClean="0"/>
              <a:t>Arrastran</a:t>
            </a:r>
            <a:r>
              <a:rPr lang="en-US" sz="1000" dirty="0" smtClean="0"/>
              <a:t> </a:t>
            </a:r>
            <a:r>
              <a:rPr lang="en-US" sz="1000" dirty="0" err="1" smtClean="0"/>
              <a:t>las</a:t>
            </a:r>
            <a:r>
              <a:rPr lang="en-US" sz="1000" dirty="0" smtClean="0"/>
              <a:t> </a:t>
            </a:r>
            <a:r>
              <a:rPr lang="en-US" sz="1000" dirty="0" err="1" smtClean="0"/>
              <a:t>palabras</a:t>
            </a:r>
            <a:r>
              <a:rPr lang="en-US" sz="1000" dirty="0" smtClean="0"/>
              <a:t> al </a:t>
            </a:r>
            <a:r>
              <a:rPr lang="en-US" sz="1000" dirty="0" err="1" smtClean="0"/>
              <a:t>lugar</a:t>
            </a:r>
            <a:r>
              <a:rPr lang="en-US" sz="1000" dirty="0" smtClean="0"/>
              <a:t> </a:t>
            </a:r>
            <a:r>
              <a:rPr lang="en-US" sz="1000" dirty="0" err="1" smtClean="0"/>
              <a:t>adecuado</a:t>
            </a:r>
            <a:r>
              <a:rPr lang="en-US" sz="1000" dirty="0" smtClean="0"/>
              <a:t>. Si lo </a:t>
            </a:r>
            <a:r>
              <a:rPr lang="en-US" sz="1000" dirty="0" err="1" smtClean="0"/>
              <a:t>hace</a:t>
            </a:r>
            <a:r>
              <a:rPr lang="en-US" sz="1000" dirty="0" smtClean="0"/>
              <a:t> </a:t>
            </a:r>
            <a:r>
              <a:rPr lang="en-US" sz="1000" dirty="0" err="1" smtClean="0"/>
              <a:t>bien</a:t>
            </a:r>
            <a:r>
              <a:rPr lang="en-US" sz="1000" dirty="0" smtClean="0"/>
              <a:t> la </a:t>
            </a:r>
            <a:r>
              <a:rPr lang="en-US" sz="1000" dirty="0" err="1" smtClean="0"/>
              <a:t>palabra</a:t>
            </a:r>
            <a:r>
              <a:rPr lang="en-US" sz="1000" dirty="0" smtClean="0"/>
              <a:t> se </a:t>
            </a:r>
            <a:r>
              <a:rPr lang="en-US" sz="1000" dirty="0" err="1" smtClean="0"/>
              <a:t>queda</a:t>
            </a:r>
            <a:r>
              <a:rPr lang="en-US" sz="1000" dirty="0" smtClean="0"/>
              <a:t> </a:t>
            </a:r>
            <a:r>
              <a:rPr lang="en-US" sz="1000" dirty="0" err="1" smtClean="0"/>
              <a:t>fija</a:t>
            </a:r>
            <a:r>
              <a:rPr lang="en-US" sz="1000" dirty="0" smtClean="0"/>
              <a:t>, de lo </a:t>
            </a:r>
            <a:r>
              <a:rPr lang="en-US" sz="1000" dirty="0" err="1" smtClean="0"/>
              <a:t>contrario</a:t>
            </a:r>
            <a:r>
              <a:rPr lang="en-US" sz="1000" dirty="0" smtClean="0"/>
              <a:t> la </a:t>
            </a:r>
            <a:r>
              <a:rPr lang="en-US" sz="1000" dirty="0" err="1" smtClean="0"/>
              <a:t>palabra</a:t>
            </a:r>
            <a:r>
              <a:rPr lang="en-US" sz="1000" dirty="0" smtClean="0"/>
              <a:t> se </a:t>
            </a:r>
            <a:r>
              <a:rPr lang="en-US" sz="1000" dirty="0" err="1" smtClean="0"/>
              <a:t>regresa</a:t>
            </a:r>
            <a:r>
              <a:rPr lang="en-US" sz="1000" dirty="0" smtClean="0"/>
              <a:t>.</a:t>
            </a:r>
          </a:p>
        </p:txBody>
      </p:sp>
      <p:sp>
        <p:nvSpPr>
          <p:cNvPr id="28" name="27 Rectángulo"/>
          <p:cNvSpPr/>
          <p:nvPr/>
        </p:nvSpPr>
        <p:spPr>
          <a:xfrm>
            <a:off x="1785918" y="2214554"/>
            <a:ext cx="1071570" cy="8572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28 Rectángulo"/>
          <p:cNvSpPr/>
          <p:nvPr/>
        </p:nvSpPr>
        <p:spPr>
          <a:xfrm>
            <a:off x="1785918" y="3500438"/>
            <a:ext cx="1071570" cy="8572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34 Rectángulo"/>
          <p:cNvSpPr/>
          <p:nvPr/>
        </p:nvSpPr>
        <p:spPr>
          <a:xfrm>
            <a:off x="3500430" y="3500438"/>
            <a:ext cx="1071570" cy="8572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39 Rectángulo"/>
          <p:cNvSpPr/>
          <p:nvPr/>
        </p:nvSpPr>
        <p:spPr>
          <a:xfrm>
            <a:off x="3428992" y="2214554"/>
            <a:ext cx="1071570" cy="8572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0" name="49 Rectángulo"/>
          <p:cNvSpPr/>
          <p:nvPr/>
        </p:nvSpPr>
        <p:spPr>
          <a:xfrm>
            <a:off x="5072066" y="2214554"/>
            <a:ext cx="1071570" cy="8572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1" name="50 Rectángulo"/>
          <p:cNvSpPr/>
          <p:nvPr/>
        </p:nvSpPr>
        <p:spPr>
          <a:xfrm>
            <a:off x="5072066" y="3500438"/>
            <a:ext cx="1071570" cy="8572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2" name="51 CuadroTexto"/>
          <p:cNvSpPr txBox="1"/>
          <p:nvPr/>
        </p:nvSpPr>
        <p:spPr>
          <a:xfrm>
            <a:off x="6572264" y="1785926"/>
            <a:ext cx="2194383" cy="369332"/>
          </a:xfrm>
          <a:prstGeom prst="rect">
            <a:avLst/>
          </a:prstGeom>
          <a:noFill/>
        </p:spPr>
        <p:txBody>
          <a:bodyPr wrap="none" rtlCol="0">
            <a:spAutoFit/>
          </a:bodyPr>
          <a:lstStyle/>
          <a:p>
            <a:r>
              <a:rPr lang="es-MX" dirty="0" smtClean="0"/>
              <a:t>niya caltlamachtilistli</a:t>
            </a:r>
          </a:p>
        </p:txBody>
      </p:sp>
      <p:sp>
        <p:nvSpPr>
          <p:cNvPr id="53" name="52 CuadroTexto"/>
          <p:cNvSpPr txBox="1"/>
          <p:nvPr/>
        </p:nvSpPr>
        <p:spPr>
          <a:xfrm>
            <a:off x="6572264" y="2143116"/>
            <a:ext cx="1024383" cy="369332"/>
          </a:xfrm>
          <a:prstGeom prst="rect">
            <a:avLst/>
          </a:prstGeom>
          <a:noFill/>
        </p:spPr>
        <p:txBody>
          <a:bodyPr wrap="square" rtlCol="0">
            <a:spAutoFit/>
          </a:bodyPr>
          <a:lstStyle/>
          <a:p>
            <a:r>
              <a:rPr lang="es-MX" dirty="0" err="1" smtClean="0"/>
              <a:t>niya</a:t>
            </a:r>
            <a:r>
              <a:rPr lang="es-MX" dirty="0" smtClean="0"/>
              <a:t> </a:t>
            </a:r>
            <a:r>
              <a:rPr lang="es-MX" dirty="0" err="1" smtClean="0"/>
              <a:t>mila</a:t>
            </a:r>
            <a:endParaRPr lang="es-MX" dirty="0" smtClean="0"/>
          </a:p>
        </p:txBody>
      </p:sp>
      <p:sp>
        <p:nvSpPr>
          <p:cNvPr id="54" name="53 CuadroTexto"/>
          <p:cNvSpPr txBox="1"/>
          <p:nvPr/>
        </p:nvSpPr>
        <p:spPr>
          <a:xfrm>
            <a:off x="6572264" y="2571744"/>
            <a:ext cx="1359411" cy="369332"/>
          </a:xfrm>
          <a:prstGeom prst="rect">
            <a:avLst/>
          </a:prstGeom>
          <a:noFill/>
        </p:spPr>
        <p:txBody>
          <a:bodyPr wrap="none" rtlCol="0">
            <a:spAutoFit/>
          </a:bodyPr>
          <a:lstStyle/>
          <a:p>
            <a:r>
              <a:rPr lang="es-MX" dirty="0" err="1" smtClean="0"/>
              <a:t>niya</a:t>
            </a:r>
            <a:r>
              <a:rPr lang="es-MX" dirty="0" smtClean="0"/>
              <a:t> tianguis</a:t>
            </a:r>
          </a:p>
        </p:txBody>
      </p:sp>
      <p:sp>
        <p:nvSpPr>
          <p:cNvPr id="55" name="54 Rectángulo"/>
          <p:cNvSpPr/>
          <p:nvPr/>
        </p:nvSpPr>
        <p:spPr>
          <a:xfrm>
            <a:off x="6572264" y="3071810"/>
            <a:ext cx="1214446" cy="369332"/>
          </a:xfrm>
          <a:prstGeom prst="rect">
            <a:avLst/>
          </a:prstGeom>
        </p:spPr>
        <p:txBody>
          <a:bodyPr wrap="square">
            <a:spAutoFit/>
          </a:bodyPr>
          <a:lstStyle/>
          <a:p>
            <a:r>
              <a:rPr lang="es-MX" dirty="0" err="1" smtClean="0"/>
              <a:t>niya</a:t>
            </a:r>
            <a:r>
              <a:rPr lang="es-MX" dirty="0" smtClean="0"/>
              <a:t> </a:t>
            </a:r>
            <a:r>
              <a:rPr lang="es-MX" dirty="0" err="1" smtClean="0"/>
              <a:t>ateno</a:t>
            </a:r>
            <a:endParaRPr lang="es-MX" dirty="0" smtClean="0"/>
          </a:p>
        </p:txBody>
      </p:sp>
      <p:sp>
        <p:nvSpPr>
          <p:cNvPr id="56" name="55 Rectángulo"/>
          <p:cNvSpPr/>
          <p:nvPr/>
        </p:nvSpPr>
        <p:spPr>
          <a:xfrm>
            <a:off x="6643702" y="3500438"/>
            <a:ext cx="1571620" cy="369332"/>
          </a:xfrm>
          <a:prstGeom prst="rect">
            <a:avLst/>
          </a:prstGeom>
        </p:spPr>
        <p:txBody>
          <a:bodyPr wrap="square">
            <a:spAutoFit/>
          </a:bodyPr>
          <a:lstStyle/>
          <a:p>
            <a:r>
              <a:rPr lang="es-MX" dirty="0" err="1" smtClean="0"/>
              <a:t>niya</a:t>
            </a:r>
            <a:r>
              <a:rPr lang="es-MX" dirty="0" smtClean="0"/>
              <a:t> </a:t>
            </a:r>
            <a:r>
              <a:rPr lang="es-MX" dirty="0" err="1" smtClean="0"/>
              <a:t>nocha</a:t>
            </a:r>
            <a:endParaRPr lang="es-MX" dirty="0" smtClean="0"/>
          </a:p>
        </p:txBody>
      </p:sp>
      <p:sp>
        <p:nvSpPr>
          <p:cNvPr id="57" name="56 Rectángulo"/>
          <p:cNvSpPr/>
          <p:nvPr/>
        </p:nvSpPr>
        <p:spPr>
          <a:xfrm>
            <a:off x="6572264" y="4071942"/>
            <a:ext cx="1285884" cy="369332"/>
          </a:xfrm>
          <a:prstGeom prst="rect">
            <a:avLst/>
          </a:prstGeom>
        </p:spPr>
        <p:txBody>
          <a:bodyPr wrap="square">
            <a:spAutoFit/>
          </a:bodyPr>
          <a:lstStyle/>
          <a:p>
            <a:r>
              <a:rPr lang="es-MX" dirty="0" err="1" smtClean="0"/>
              <a:t>niya</a:t>
            </a:r>
            <a:r>
              <a:rPr lang="es-MX" dirty="0" smtClean="0"/>
              <a:t> </a:t>
            </a:r>
            <a:r>
              <a:rPr lang="es-MX" dirty="0" err="1" smtClean="0"/>
              <a:t>teopan</a:t>
            </a:r>
            <a:endParaRPr lang="es-MX" dirty="0" smtClean="0"/>
          </a:p>
        </p:txBody>
      </p:sp>
      <p:sp>
        <p:nvSpPr>
          <p:cNvPr id="39" name="38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42" name="41 CuadroTexto"/>
          <p:cNvSpPr txBox="1"/>
          <p:nvPr/>
        </p:nvSpPr>
        <p:spPr>
          <a:xfrm>
            <a:off x="285720" y="357166"/>
            <a:ext cx="928694" cy="338554"/>
          </a:xfrm>
          <a:prstGeom prst="rect">
            <a:avLst/>
          </a:prstGeom>
          <a:noFill/>
        </p:spPr>
        <p:txBody>
          <a:bodyPr wrap="square" rtlCol="0">
            <a:spAutoFit/>
          </a:bodyPr>
          <a:lstStyle/>
          <a:p>
            <a:r>
              <a:rPr lang="es-MX" sz="1600" dirty="0" smtClean="0">
                <a:solidFill>
                  <a:schemeClr val="bg1"/>
                </a:solidFill>
                <a:latin typeface="Arial Narrow" pitchFamily="34" charset="0"/>
              </a:rPr>
              <a:t>MA-CH-8</a:t>
            </a:r>
          </a:p>
        </p:txBody>
      </p:sp>
      <p:sp>
        <p:nvSpPr>
          <p:cNvPr id="47" name="13 Rectángulo redondeado"/>
          <p:cNvSpPr/>
          <p:nvPr/>
        </p:nvSpPr>
        <p:spPr>
          <a:xfrm>
            <a:off x="7772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13 Rectángulo redondeado"/>
          <p:cNvSpPr/>
          <p:nvPr/>
        </p:nvSpPr>
        <p:spPr>
          <a:xfrm>
            <a:off x="7010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8" name="13 Rectángulo redondeado"/>
          <p:cNvSpPr/>
          <p:nvPr/>
        </p:nvSpPr>
        <p:spPr>
          <a:xfrm>
            <a:off x="8534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9" name="26 CuadroTexto"/>
          <p:cNvSpPr txBox="1"/>
          <p:nvPr/>
        </p:nvSpPr>
        <p:spPr>
          <a:xfrm rot="16200000">
            <a:off x="6667500" y="45339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60" name="26 CuadroTexto"/>
          <p:cNvSpPr txBox="1"/>
          <p:nvPr/>
        </p:nvSpPr>
        <p:spPr>
          <a:xfrm rot="16200000">
            <a:off x="7375625" y="44800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61" name="26 CuadroTexto"/>
          <p:cNvSpPr txBox="1"/>
          <p:nvPr/>
        </p:nvSpPr>
        <p:spPr>
          <a:xfrm rot="16200000">
            <a:off x="8115300" y="45339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62" name="33 CuadroTexto"/>
          <p:cNvSpPr txBox="1"/>
          <p:nvPr/>
        </p:nvSpPr>
        <p:spPr>
          <a:xfrm>
            <a:off x="6877064" y="5581664"/>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63" name="33 CuadroTexto"/>
          <p:cNvSpPr txBox="1"/>
          <p:nvPr/>
        </p:nvSpPr>
        <p:spPr>
          <a:xfrm>
            <a:off x="7667620" y="5590401"/>
            <a:ext cx="714380" cy="276999"/>
          </a:xfrm>
          <a:prstGeom prst="rect">
            <a:avLst/>
          </a:prstGeom>
          <a:noFill/>
        </p:spPr>
        <p:txBody>
          <a:bodyPr wrap="square" rtlCol="0">
            <a:spAutoFit/>
          </a:bodyPr>
          <a:lstStyle/>
          <a:p>
            <a:r>
              <a:rPr lang="es-MX" sz="1200" dirty="0" smtClean="0">
                <a:latin typeface="Arial Narrow" pitchFamily="34" charset="0"/>
              </a:rPr>
              <a:t>MA-CH-4</a:t>
            </a:r>
            <a:endParaRPr lang="es-MX" sz="1200" dirty="0" smtClean="0">
              <a:solidFill>
                <a:schemeClr val="bg1"/>
              </a:solidFill>
              <a:latin typeface="Arial Narrow" pitchFamily="34" charset="0"/>
            </a:endParaRPr>
          </a:p>
        </p:txBody>
      </p:sp>
      <p:sp>
        <p:nvSpPr>
          <p:cNvPr id="64" name="33 CuadroTexto"/>
          <p:cNvSpPr txBox="1"/>
          <p:nvPr/>
        </p:nvSpPr>
        <p:spPr>
          <a:xfrm>
            <a:off x="8429620" y="5590401"/>
            <a:ext cx="942980" cy="276999"/>
          </a:xfrm>
          <a:prstGeom prst="rect">
            <a:avLst/>
          </a:prstGeom>
          <a:noFill/>
        </p:spPr>
        <p:txBody>
          <a:bodyPr wrap="square" rtlCol="0">
            <a:spAutoFit/>
          </a:bodyPr>
          <a:lstStyle/>
          <a:p>
            <a:r>
              <a:rPr lang="es-MX" sz="1200" dirty="0" smtClean="0">
                <a:latin typeface="Arial Narrow" pitchFamily="34" charset="0"/>
              </a:rPr>
              <a:t>MA-CH-9</a:t>
            </a:r>
            <a:endParaRPr lang="es-MX" sz="1200" dirty="0" smtClean="0">
              <a:solidFill>
                <a:schemeClr val="bg1"/>
              </a:solidFill>
              <a:latin typeface="Arial Narrow"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46" name="45 CuadroTexto"/>
          <p:cNvSpPr txBox="1"/>
          <p:nvPr/>
        </p:nvSpPr>
        <p:spPr>
          <a:xfrm>
            <a:off x="2714612" y="1071546"/>
            <a:ext cx="4022961" cy="800219"/>
          </a:xfrm>
          <a:prstGeom prst="rect">
            <a:avLst/>
          </a:prstGeom>
          <a:noFill/>
        </p:spPr>
        <p:txBody>
          <a:bodyPr wrap="none" rtlCol="0">
            <a:spAutoFit/>
          </a:bodyPr>
          <a:lstStyle/>
          <a:p>
            <a:pPr algn="ctr"/>
            <a:r>
              <a:rPr lang="es-MX" b="1" dirty="0" smtClean="0"/>
              <a:t>Juan ¿</a:t>
            </a:r>
            <a:r>
              <a:rPr lang="es-MX" b="1" dirty="0" err="1" smtClean="0"/>
              <a:t>Cani</a:t>
            </a:r>
            <a:r>
              <a:rPr lang="es-MX" b="1" dirty="0" smtClean="0"/>
              <a:t> </a:t>
            </a:r>
            <a:r>
              <a:rPr lang="es-MX" b="1" dirty="0" err="1" smtClean="0"/>
              <a:t>Tiya</a:t>
            </a:r>
            <a:r>
              <a:rPr lang="es-MX" b="1" dirty="0" smtClean="0"/>
              <a:t>?,</a:t>
            </a:r>
          </a:p>
          <a:p>
            <a:pPr algn="ctr"/>
            <a:r>
              <a:rPr lang="es-MX" sz="1400" b="1" dirty="0" smtClean="0"/>
              <a:t>¿Dónde vas?</a:t>
            </a:r>
          </a:p>
          <a:p>
            <a:pPr algn="ctr"/>
            <a:r>
              <a:rPr lang="es-MX" sz="1400" b="1" dirty="0" smtClean="0"/>
              <a:t>Voy a la milpa, después al tianguis y luego a mi casa</a:t>
            </a:r>
            <a:endParaRPr lang="es-MX" sz="1400" dirty="0"/>
          </a:p>
        </p:txBody>
      </p:sp>
      <p:sp>
        <p:nvSpPr>
          <p:cNvPr id="49" name="TextBox 22"/>
          <p:cNvSpPr txBox="1"/>
          <p:nvPr/>
        </p:nvSpPr>
        <p:spPr>
          <a:xfrm>
            <a:off x="152400" y="2133600"/>
            <a:ext cx="2214578" cy="3170099"/>
          </a:xfrm>
          <a:prstGeom prst="rect">
            <a:avLst/>
          </a:prstGeom>
          <a:noFill/>
        </p:spPr>
        <p:txBody>
          <a:bodyPr wrap="square" rtlCol="0">
            <a:spAutoFit/>
          </a:bodyPr>
          <a:lstStyle/>
          <a:p>
            <a:r>
              <a:rPr lang="en-US" sz="1000" dirty="0" smtClean="0"/>
              <a:t>Al </a:t>
            </a:r>
            <a:r>
              <a:rPr lang="en-US" sz="1000" dirty="0" err="1" smtClean="0"/>
              <a:t>lado</a:t>
            </a:r>
            <a:r>
              <a:rPr lang="en-US" sz="1000" dirty="0" smtClean="0"/>
              <a:t> de la </a:t>
            </a:r>
            <a:r>
              <a:rPr lang="en-US" sz="1000" dirty="0" err="1" smtClean="0"/>
              <a:t>palabra</a:t>
            </a:r>
            <a:r>
              <a:rPr lang="en-US" sz="1000" dirty="0" smtClean="0"/>
              <a:t> “Juan, ¿</a:t>
            </a:r>
            <a:r>
              <a:rPr lang="en-US" sz="1000" dirty="0" err="1" smtClean="0"/>
              <a:t>cani</a:t>
            </a:r>
            <a:r>
              <a:rPr lang="en-US" sz="1000" dirty="0" smtClean="0"/>
              <a:t> </a:t>
            </a:r>
            <a:r>
              <a:rPr lang="en-US" sz="1000" dirty="0" err="1" smtClean="0"/>
              <a:t>tiya</a:t>
            </a:r>
            <a:r>
              <a:rPr lang="en-US" sz="1000" dirty="0" smtClean="0"/>
              <a:t>?</a:t>
            </a:r>
          </a:p>
          <a:p>
            <a:r>
              <a:rPr lang="en-US" sz="1000" dirty="0" err="1" smtClean="0"/>
              <a:t>Aparece</a:t>
            </a:r>
            <a:r>
              <a:rPr lang="en-US" sz="1000" dirty="0" smtClean="0"/>
              <a:t> </a:t>
            </a:r>
            <a:r>
              <a:rPr lang="en-US" sz="1000" dirty="0" err="1" smtClean="0"/>
              <a:t>icono</a:t>
            </a:r>
            <a:r>
              <a:rPr lang="en-US" sz="1000" dirty="0" smtClean="0"/>
              <a:t> </a:t>
            </a:r>
            <a:r>
              <a:rPr lang="en-US" sz="1000" dirty="0" err="1" smtClean="0"/>
              <a:t>sonido</a:t>
            </a:r>
            <a:r>
              <a:rPr lang="en-US" sz="1000" dirty="0" smtClean="0"/>
              <a:t>, al </a:t>
            </a:r>
            <a:r>
              <a:rPr lang="en-US" sz="1000" dirty="0" err="1" smtClean="0"/>
              <a:t>dar</a:t>
            </a:r>
            <a:r>
              <a:rPr lang="en-US" sz="1000" dirty="0" smtClean="0"/>
              <a:t> </a:t>
            </a:r>
            <a:r>
              <a:rPr lang="en-US" sz="1000" dirty="0" err="1" smtClean="0"/>
              <a:t>clic</a:t>
            </a:r>
            <a:r>
              <a:rPr lang="en-US" sz="1000" dirty="0" smtClean="0"/>
              <a:t> </a:t>
            </a:r>
            <a:r>
              <a:rPr lang="en-US" sz="1000" dirty="0" err="1" smtClean="0"/>
              <a:t>puede</a:t>
            </a:r>
            <a:r>
              <a:rPr lang="en-US" sz="1000" dirty="0" smtClean="0"/>
              <a:t> </a:t>
            </a:r>
            <a:r>
              <a:rPr lang="en-US" sz="1000" dirty="0" err="1" smtClean="0"/>
              <a:t>escucharse</a:t>
            </a:r>
            <a:r>
              <a:rPr lang="en-US" sz="1000" dirty="0" smtClean="0"/>
              <a:t>.</a:t>
            </a:r>
          </a:p>
          <a:p>
            <a:endParaRPr lang="en-US" sz="1000" dirty="0" smtClean="0"/>
          </a:p>
          <a:p>
            <a:r>
              <a:rPr lang="en-US" sz="1000" dirty="0" smtClean="0"/>
              <a:t>De </a:t>
            </a:r>
            <a:r>
              <a:rPr lang="en-US" sz="1000" dirty="0" err="1" smtClean="0"/>
              <a:t>manera</a:t>
            </a:r>
            <a:r>
              <a:rPr lang="en-US" sz="1000" dirty="0" smtClean="0"/>
              <a:t> </a:t>
            </a:r>
            <a:r>
              <a:rPr lang="en-US" sz="1000" dirty="0" err="1" smtClean="0"/>
              <a:t>inmediata</a:t>
            </a:r>
            <a:r>
              <a:rPr lang="en-US" sz="1000" dirty="0" smtClean="0"/>
              <a:t> sin </a:t>
            </a:r>
            <a:r>
              <a:rPr lang="en-US" sz="1000" dirty="0" err="1" smtClean="0"/>
              <a:t>texto</a:t>
            </a:r>
            <a:r>
              <a:rPr lang="en-US" sz="1000" dirty="0" smtClean="0"/>
              <a:t>, </a:t>
            </a:r>
            <a:r>
              <a:rPr lang="en-US" sz="1000" dirty="0" err="1" smtClean="0"/>
              <a:t>corre</a:t>
            </a:r>
            <a:r>
              <a:rPr lang="en-US" sz="1000" dirty="0" smtClean="0"/>
              <a:t> audio CH-9_2</a:t>
            </a:r>
          </a:p>
          <a:p>
            <a:r>
              <a:rPr lang="en-US" sz="1000" dirty="0" err="1" smtClean="0"/>
              <a:t>Que</a:t>
            </a:r>
            <a:r>
              <a:rPr lang="en-US" sz="1000" dirty="0" smtClean="0"/>
              <a:t> dice </a:t>
            </a:r>
            <a:r>
              <a:rPr lang="en-US" sz="1000" dirty="0" err="1" smtClean="0"/>
              <a:t>voy</a:t>
            </a:r>
            <a:r>
              <a:rPr lang="en-US" sz="1000" dirty="0" smtClean="0"/>
              <a:t> a la </a:t>
            </a:r>
            <a:r>
              <a:rPr lang="en-US" sz="1000" dirty="0" err="1" smtClean="0"/>
              <a:t>milpa</a:t>
            </a:r>
            <a:r>
              <a:rPr lang="en-US" sz="1000" dirty="0" smtClean="0"/>
              <a:t>, </a:t>
            </a:r>
            <a:r>
              <a:rPr lang="en-US" sz="1000" dirty="0" err="1" smtClean="0"/>
              <a:t>después</a:t>
            </a:r>
            <a:r>
              <a:rPr lang="en-US" sz="1000" dirty="0" smtClean="0"/>
              <a:t> al </a:t>
            </a:r>
            <a:r>
              <a:rPr lang="en-US" sz="1000" dirty="0" err="1" smtClean="0"/>
              <a:t>tianguis,y</a:t>
            </a:r>
            <a:r>
              <a:rPr lang="en-US" sz="1000" dirty="0" smtClean="0"/>
              <a:t> </a:t>
            </a:r>
            <a:r>
              <a:rPr lang="en-US" sz="1000" dirty="0" err="1" smtClean="0"/>
              <a:t>luego</a:t>
            </a:r>
            <a:r>
              <a:rPr lang="en-US" sz="1000" dirty="0" smtClean="0"/>
              <a:t> a casa, </a:t>
            </a:r>
            <a:r>
              <a:rPr lang="en-US" sz="1000" dirty="0" err="1" smtClean="0"/>
              <a:t>sincronizar</a:t>
            </a:r>
            <a:r>
              <a:rPr lang="en-US" sz="1000" dirty="0" smtClean="0"/>
              <a:t> con </a:t>
            </a:r>
            <a:r>
              <a:rPr lang="en-US" sz="1000" dirty="0" err="1" smtClean="0"/>
              <a:t>movimiento</a:t>
            </a:r>
            <a:r>
              <a:rPr lang="en-US" sz="1000" dirty="0" smtClean="0"/>
              <a:t> de la “</a:t>
            </a:r>
            <a:r>
              <a:rPr lang="en-US" sz="1000" dirty="0" err="1" smtClean="0"/>
              <a:t>lupa</a:t>
            </a:r>
            <a:r>
              <a:rPr lang="en-US" sz="1000" dirty="0" smtClean="0"/>
              <a:t>” </a:t>
            </a:r>
            <a:r>
              <a:rPr lang="en-US" sz="1000" dirty="0" err="1" smtClean="0"/>
              <a:t>hacia</a:t>
            </a:r>
            <a:r>
              <a:rPr lang="en-US" sz="1000" dirty="0" smtClean="0"/>
              <a:t> </a:t>
            </a:r>
            <a:r>
              <a:rPr lang="en-US" sz="1000" dirty="0" err="1" smtClean="0"/>
              <a:t>las</a:t>
            </a:r>
            <a:r>
              <a:rPr lang="en-US" sz="1000" dirty="0" smtClean="0"/>
              <a:t> 3 </a:t>
            </a:r>
            <a:r>
              <a:rPr lang="en-US" sz="1000" dirty="0" err="1" smtClean="0"/>
              <a:t>zonas</a:t>
            </a:r>
            <a:r>
              <a:rPr lang="en-US" sz="1000" dirty="0" smtClean="0"/>
              <a:t> (</a:t>
            </a:r>
            <a:r>
              <a:rPr lang="en-US" sz="1000" dirty="0" err="1" smtClean="0"/>
              <a:t>lugares</a:t>
            </a:r>
            <a:r>
              <a:rPr lang="en-US" sz="1000" dirty="0" smtClean="0"/>
              <a:t>) </a:t>
            </a:r>
            <a:r>
              <a:rPr lang="en-US" sz="1000" dirty="0" err="1" smtClean="0"/>
              <a:t>que</a:t>
            </a:r>
            <a:r>
              <a:rPr lang="en-US" sz="1000" dirty="0" smtClean="0"/>
              <a:t> </a:t>
            </a:r>
            <a:r>
              <a:rPr lang="en-US" sz="1000" dirty="0" err="1" smtClean="0"/>
              <a:t>dijo</a:t>
            </a:r>
            <a:r>
              <a:rPr lang="en-US" sz="1000" dirty="0" smtClean="0"/>
              <a:t> la </a:t>
            </a:r>
            <a:r>
              <a:rPr lang="en-US" sz="1000" dirty="0" err="1" smtClean="0"/>
              <a:t>voz</a:t>
            </a:r>
            <a:r>
              <a:rPr lang="en-US" sz="1000" dirty="0" smtClean="0"/>
              <a:t>. </a:t>
            </a:r>
            <a:r>
              <a:rPr lang="en-US" sz="1000" dirty="0" err="1" smtClean="0"/>
              <a:t>Esto</a:t>
            </a:r>
            <a:r>
              <a:rPr lang="en-US" sz="1000" dirty="0" smtClean="0"/>
              <a:t> a </a:t>
            </a:r>
            <a:r>
              <a:rPr lang="en-US" sz="1000" dirty="0" err="1" smtClean="0"/>
              <a:t>manera</a:t>
            </a:r>
            <a:r>
              <a:rPr lang="en-US" sz="1000" dirty="0" smtClean="0"/>
              <a:t> de </a:t>
            </a:r>
            <a:r>
              <a:rPr lang="en-US" sz="1000" dirty="0" err="1" smtClean="0"/>
              <a:t>ejemplo</a:t>
            </a:r>
            <a:r>
              <a:rPr lang="en-US" sz="1000" dirty="0" smtClean="0"/>
              <a:t>.</a:t>
            </a:r>
          </a:p>
          <a:p>
            <a:endParaRPr lang="en-US" sz="1000" dirty="0" smtClean="0"/>
          </a:p>
          <a:p>
            <a:r>
              <a:rPr lang="en-US" sz="1000" dirty="0" err="1" smtClean="0"/>
              <a:t>Tildea</a:t>
            </a:r>
            <a:r>
              <a:rPr lang="en-US" sz="1000" dirty="0" smtClean="0"/>
              <a:t> </a:t>
            </a:r>
            <a:r>
              <a:rPr lang="en-US" sz="1000" dirty="0" err="1" smtClean="0"/>
              <a:t>una</a:t>
            </a:r>
            <a:r>
              <a:rPr lang="en-US" sz="1000" dirty="0" smtClean="0"/>
              <a:t> “</a:t>
            </a:r>
            <a:r>
              <a:rPr lang="en-US" sz="1000" dirty="0" err="1" smtClean="0"/>
              <a:t>bocina</a:t>
            </a:r>
            <a:r>
              <a:rPr lang="en-US" sz="1000" dirty="0" smtClean="0"/>
              <a:t>”, </a:t>
            </a:r>
            <a:r>
              <a:rPr lang="en-US" sz="1000" dirty="0" err="1" smtClean="0"/>
              <a:t>para</a:t>
            </a:r>
            <a:r>
              <a:rPr lang="en-US" sz="1000" dirty="0" smtClean="0"/>
              <a:t> </a:t>
            </a:r>
            <a:r>
              <a:rPr lang="en-US" sz="1000" dirty="0" err="1" smtClean="0"/>
              <a:t>correr</a:t>
            </a:r>
            <a:r>
              <a:rPr lang="en-US" sz="1000" dirty="0" smtClean="0"/>
              <a:t> </a:t>
            </a:r>
            <a:r>
              <a:rPr lang="en-US" sz="1000" dirty="0" err="1" smtClean="0"/>
              <a:t>combinación</a:t>
            </a:r>
            <a:r>
              <a:rPr lang="en-US" sz="1000" dirty="0" smtClean="0"/>
              <a:t> </a:t>
            </a:r>
            <a:r>
              <a:rPr lang="en-US" sz="1000" dirty="0" err="1" smtClean="0"/>
              <a:t>que</a:t>
            </a:r>
            <a:r>
              <a:rPr lang="en-US" sz="1000" dirty="0" smtClean="0"/>
              <a:t> el </a:t>
            </a:r>
            <a:r>
              <a:rPr lang="en-US" sz="1000" dirty="0" err="1" smtClean="0"/>
              <a:t>usuario</a:t>
            </a:r>
            <a:r>
              <a:rPr lang="en-US" sz="1000" dirty="0" smtClean="0"/>
              <a:t> </a:t>
            </a:r>
            <a:r>
              <a:rPr lang="en-US" sz="1000" dirty="0" err="1" smtClean="0"/>
              <a:t>deberá</a:t>
            </a:r>
            <a:r>
              <a:rPr lang="en-US" sz="1000" dirty="0" smtClean="0"/>
              <a:t> </a:t>
            </a:r>
            <a:r>
              <a:rPr lang="en-US" sz="1000" dirty="0" err="1" smtClean="0"/>
              <a:t>identificar</a:t>
            </a:r>
            <a:r>
              <a:rPr lang="en-US" sz="1000" dirty="0" smtClean="0"/>
              <a:t> a </a:t>
            </a:r>
            <a:r>
              <a:rPr lang="en-US" sz="1000" dirty="0" err="1" smtClean="0"/>
              <a:t>nivel</a:t>
            </a:r>
            <a:r>
              <a:rPr lang="en-US" sz="1000" dirty="0" smtClean="0"/>
              <a:t> </a:t>
            </a:r>
            <a:r>
              <a:rPr lang="en-US" sz="1000" dirty="0" err="1" smtClean="0"/>
              <a:t>sonoro</a:t>
            </a:r>
            <a:r>
              <a:rPr lang="en-US" sz="1000" dirty="0" smtClean="0"/>
              <a:t> </a:t>
            </a:r>
            <a:r>
              <a:rPr lang="en-US" sz="1000" dirty="0" err="1" smtClean="0"/>
              <a:t>y</a:t>
            </a:r>
            <a:r>
              <a:rPr lang="en-US" sz="1000" dirty="0" smtClean="0"/>
              <a:t> </a:t>
            </a:r>
            <a:r>
              <a:rPr lang="en-US" sz="1000" dirty="0" err="1" smtClean="0"/>
              <a:t>podrá</a:t>
            </a:r>
            <a:r>
              <a:rPr lang="en-US" sz="1000" dirty="0" smtClean="0"/>
              <a:t> mover la “</a:t>
            </a:r>
            <a:r>
              <a:rPr lang="en-US" sz="1000" dirty="0" err="1" smtClean="0"/>
              <a:t>lupa</a:t>
            </a:r>
            <a:r>
              <a:rPr lang="en-US" sz="1000" dirty="0" smtClean="0"/>
              <a:t>” a los 3 </a:t>
            </a:r>
            <a:r>
              <a:rPr lang="en-US" sz="1000" dirty="0" err="1" smtClean="0"/>
              <a:t>lugares</a:t>
            </a:r>
            <a:r>
              <a:rPr lang="en-US" sz="1000" dirty="0" smtClean="0"/>
              <a:t> </a:t>
            </a:r>
            <a:r>
              <a:rPr lang="en-US" sz="1000" dirty="0" err="1" smtClean="0"/>
              <a:t>que</a:t>
            </a:r>
            <a:r>
              <a:rPr lang="en-US" sz="1000" dirty="0" smtClean="0"/>
              <a:t> </a:t>
            </a:r>
            <a:r>
              <a:rPr lang="en-US" sz="1000" dirty="0" err="1" smtClean="0"/>
              <a:t>escucho</a:t>
            </a:r>
            <a:r>
              <a:rPr lang="en-US" sz="1000" dirty="0" smtClean="0"/>
              <a:t> en el </a:t>
            </a:r>
            <a:r>
              <a:rPr lang="en-US" sz="1000" dirty="0" err="1" smtClean="0"/>
              <a:t>orden</a:t>
            </a:r>
            <a:r>
              <a:rPr lang="en-US" sz="1000" dirty="0" smtClean="0"/>
              <a:t> </a:t>
            </a:r>
            <a:r>
              <a:rPr lang="en-US" sz="1000" dirty="0" err="1" smtClean="0"/>
              <a:t>correcto</a:t>
            </a:r>
            <a:r>
              <a:rPr lang="en-US" sz="1000" dirty="0" smtClean="0"/>
              <a:t>, </a:t>
            </a:r>
            <a:r>
              <a:rPr lang="en-US" sz="1000" dirty="0" err="1" smtClean="0"/>
              <a:t>si</a:t>
            </a:r>
            <a:r>
              <a:rPr lang="en-US" sz="1000" dirty="0" smtClean="0"/>
              <a:t> no lo </a:t>
            </a:r>
            <a:r>
              <a:rPr lang="en-US" sz="1000" dirty="0" err="1" smtClean="0"/>
              <a:t>hace</a:t>
            </a:r>
            <a:r>
              <a:rPr lang="en-US" sz="1000" dirty="0" smtClean="0"/>
              <a:t> </a:t>
            </a:r>
            <a:r>
              <a:rPr lang="en-US" sz="1000" dirty="0" err="1" smtClean="0"/>
              <a:t>incluir</a:t>
            </a:r>
            <a:r>
              <a:rPr lang="en-US" sz="1000" dirty="0" smtClean="0"/>
              <a:t> en el </a:t>
            </a:r>
            <a:r>
              <a:rPr lang="en-US" sz="1000" dirty="0" err="1" smtClean="0"/>
              <a:t>marcador</a:t>
            </a:r>
            <a:r>
              <a:rPr lang="en-US" sz="1000" dirty="0" smtClean="0"/>
              <a:t> mala </a:t>
            </a:r>
            <a:r>
              <a:rPr lang="en-US" sz="1000" dirty="0" err="1" smtClean="0"/>
              <a:t>respuesta</a:t>
            </a:r>
            <a:r>
              <a:rPr lang="en-US" sz="1000" dirty="0" smtClean="0"/>
              <a:t>, </a:t>
            </a:r>
            <a:r>
              <a:rPr lang="en-US" sz="1000" dirty="0" err="1" smtClean="0"/>
              <a:t>y</a:t>
            </a:r>
            <a:r>
              <a:rPr lang="en-US" sz="1000" dirty="0" smtClean="0"/>
              <a:t> le </a:t>
            </a:r>
            <a:r>
              <a:rPr lang="en-US" sz="1000" dirty="0" err="1" smtClean="0"/>
              <a:t>da</a:t>
            </a:r>
            <a:r>
              <a:rPr lang="en-US" sz="1000" dirty="0" smtClean="0"/>
              <a:t> la </a:t>
            </a:r>
            <a:r>
              <a:rPr lang="en-US" sz="1000" dirty="0" err="1" smtClean="0"/>
              <a:t>posibilidad</a:t>
            </a:r>
            <a:r>
              <a:rPr lang="en-US" sz="1000" dirty="0" smtClean="0"/>
              <a:t> de </a:t>
            </a:r>
            <a:r>
              <a:rPr lang="en-US" sz="1000" dirty="0" err="1" smtClean="0"/>
              <a:t>pasar</a:t>
            </a:r>
            <a:r>
              <a:rPr lang="en-US" sz="1000" dirty="0" smtClean="0"/>
              <a:t> a </a:t>
            </a:r>
            <a:r>
              <a:rPr lang="en-US" sz="1000" dirty="0" err="1" smtClean="0"/>
              <a:t>tres</a:t>
            </a:r>
            <a:r>
              <a:rPr lang="en-US" sz="1000" dirty="0" smtClean="0"/>
              <a:t> </a:t>
            </a:r>
            <a:r>
              <a:rPr lang="en-US" sz="1000" dirty="0" err="1" smtClean="0"/>
              <a:t>combinaciones</a:t>
            </a:r>
            <a:r>
              <a:rPr lang="en-US" sz="1000" dirty="0" smtClean="0"/>
              <a:t> </a:t>
            </a:r>
            <a:r>
              <a:rPr lang="en-US" sz="1000" dirty="0" err="1" smtClean="0"/>
              <a:t>más</a:t>
            </a:r>
            <a:r>
              <a:rPr lang="en-US" sz="1000" dirty="0" smtClean="0"/>
              <a:t>.   </a:t>
            </a:r>
          </a:p>
        </p:txBody>
      </p:sp>
      <p:sp>
        <p:nvSpPr>
          <p:cNvPr id="28" name="27 Rectángulo"/>
          <p:cNvSpPr/>
          <p:nvPr/>
        </p:nvSpPr>
        <p:spPr>
          <a:xfrm>
            <a:off x="2590800" y="1905000"/>
            <a:ext cx="4572032" cy="292895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smtClean="0">
                <a:solidFill>
                  <a:srgbClr val="002060"/>
                </a:solidFill>
              </a:rPr>
              <a:t>Mapa que muestra distintas lugares que existen en la comunidad.</a:t>
            </a:r>
          </a:p>
          <a:p>
            <a:pPr algn="ctr"/>
            <a:r>
              <a:rPr lang="es-MX" sz="1400" dirty="0" smtClean="0">
                <a:solidFill>
                  <a:srgbClr val="002060"/>
                </a:solidFill>
              </a:rPr>
              <a:t>(Casas, el río, la escuela, el tianguis, la milpa)</a:t>
            </a:r>
          </a:p>
          <a:p>
            <a:pPr algn="ctr"/>
            <a:r>
              <a:rPr lang="es-MX" sz="1400" dirty="0" smtClean="0">
                <a:solidFill>
                  <a:srgbClr val="002060"/>
                </a:solidFill>
              </a:rPr>
              <a:t>El usuario tiene la posibilidad de acercarse con cursor , se amplia foto y escucha el audio con la palabra del lugar)</a:t>
            </a:r>
            <a:endParaRPr lang="es-MX" sz="1400" dirty="0">
              <a:solidFill>
                <a:srgbClr val="002060"/>
              </a:solidFill>
            </a:endParaRPr>
          </a:p>
        </p:txBody>
      </p:sp>
      <p:pic>
        <p:nvPicPr>
          <p:cNvPr id="1027" name="Picture 3"/>
          <p:cNvPicPr>
            <a:picLocks noChangeAspect="1" noChangeArrowheads="1"/>
          </p:cNvPicPr>
          <p:nvPr/>
        </p:nvPicPr>
        <p:blipFill>
          <a:blip r:embed="rId2"/>
          <a:srcRect/>
          <a:stretch>
            <a:fillRect/>
          </a:stretch>
        </p:blipFill>
        <p:spPr bwMode="auto">
          <a:xfrm>
            <a:off x="6324600" y="3962400"/>
            <a:ext cx="857250" cy="857250"/>
          </a:xfrm>
          <a:prstGeom prst="rect">
            <a:avLst/>
          </a:prstGeom>
          <a:noFill/>
          <a:ln w="9525">
            <a:noFill/>
            <a:miter lim="800000"/>
            <a:headEnd/>
            <a:tailEnd/>
          </a:ln>
          <a:effectLst/>
        </p:spPr>
      </p:pic>
      <p:sp>
        <p:nvSpPr>
          <p:cNvPr id="25" name="24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26" name="25 CuadroTexto"/>
          <p:cNvSpPr txBox="1"/>
          <p:nvPr/>
        </p:nvSpPr>
        <p:spPr>
          <a:xfrm>
            <a:off x="285720" y="357166"/>
            <a:ext cx="1143008" cy="338554"/>
          </a:xfrm>
          <a:prstGeom prst="rect">
            <a:avLst/>
          </a:prstGeom>
          <a:noFill/>
        </p:spPr>
        <p:txBody>
          <a:bodyPr wrap="square" rtlCol="0">
            <a:spAutoFit/>
          </a:bodyPr>
          <a:lstStyle/>
          <a:p>
            <a:r>
              <a:rPr lang="es-MX" sz="1600" dirty="0" smtClean="0">
                <a:solidFill>
                  <a:schemeClr val="bg1"/>
                </a:solidFill>
                <a:latin typeface="Arial Narrow" pitchFamily="34" charset="0"/>
              </a:rPr>
              <a:t>MA-CH-9</a:t>
            </a:r>
          </a:p>
        </p:txBody>
      </p:sp>
      <p:sp>
        <p:nvSpPr>
          <p:cNvPr id="27" name="13 Rectángulo redondeado"/>
          <p:cNvSpPr/>
          <p:nvPr/>
        </p:nvSpPr>
        <p:spPr>
          <a:xfrm>
            <a:off x="7772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29" name="13 Rectángulo redondeado"/>
          <p:cNvSpPr/>
          <p:nvPr/>
        </p:nvSpPr>
        <p:spPr>
          <a:xfrm>
            <a:off x="7010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5" name="13 Rectángulo redondeado"/>
          <p:cNvSpPr/>
          <p:nvPr/>
        </p:nvSpPr>
        <p:spPr>
          <a:xfrm>
            <a:off x="8534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9" name="26 CuadroTexto"/>
          <p:cNvSpPr txBox="1"/>
          <p:nvPr/>
        </p:nvSpPr>
        <p:spPr>
          <a:xfrm rot="16200000">
            <a:off x="6667500" y="45339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40" name="26 CuadroTexto"/>
          <p:cNvSpPr txBox="1"/>
          <p:nvPr/>
        </p:nvSpPr>
        <p:spPr>
          <a:xfrm rot="16200000">
            <a:off x="7375625" y="44800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42" name="26 CuadroTexto"/>
          <p:cNvSpPr txBox="1"/>
          <p:nvPr/>
        </p:nvSpPr>
        <p:spPr>
          <a:xfrm rot="16200000">
            <a:off x="8115300" y="45339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47" name="33 CuadroTexto"/>
          <p:cNvSpPr txBox="1"/>
          <p:nvPr/>
        </p:nvSpPr>
        <p:spPr>
          <a:xfrm>
            <a:off x="6877064" y="5581664"/>
            <a:ext cx="714380" cy="276999"/>
          </a:xfrm>
          <a:prstGeom prst="rect">
            <a:avLst/>
          </a:prstGeom>
          <a:noFill/>
        </p:spPr>
        <p:txBody>
          <a:bodyPr wrap="square" rtlCol="0">
            <a:spAutoFit/>
          </a:bodyPr>
          <a:lstStyle/>
          <a:p>
            <a:r>
              <a:rPr lang="es-MX" sz="1200" dirty="0" smtClean="0">
                <a:latin typeface="Arial Narrow" pitchFamily="34" charset="0"/>
              </a:rPr>
              <a:t>MA-CH-3</a:t>
            </a:r>
            <a:endParaRPr lang="es-MX" sz="1200" dirty="0" smtClean="0">
              <a:solidFill>
                <a:schemeClr val="bg1"/>
              </a:solidFill>
              <a:latin typeface="Arial Narrow" pitchFamily="34" charset="0"/>
            </a:endParaRPr>
          </a:p>
        </p:txBody>
      </p:sp>
      <p:sp>
        <p:nvSpPr>
          <p:cNvPr id="48" name="33 CuadroTexto"/>
          <p:cNvSpPr txBox="1"/>
          <p:nvPr/>
        </p:nvSpPr>
        <p:spPr>
          <a:xfrm>
            <a:off x="7667620" y="5590401"/>
            <a:ext cx="714380" cy="276999"/>
          </a:xfrm>
          <a:prstGeom prst="rect">
            <a:avLst/>
          </a:prstGeom>
          <a:noFill/>
        </p:spPr>
        <p:txBody>
          <a:bodyPr wrap="square" rtlCol="0">
            <a:spAutoFit/>
          </a:bodyPr>
          <a:lstStyle/>
          <a:p>
            <a:r>
              <a:rPr lang="es-MX" sz="1200" dirty="0" smtClean="0">
                <a:latin typeface="Arial Narrow" pitchFamily="34" charset="0"/>
              </a:rPr>
              <a:t>MA-CH-4</a:t>
            </a:r>
            <a:endParaRPr lang="es-MX" sz="1200" dirty="0" smtClean="0">
              <a:solidFill>
                <a:schemeClr val="bg1"/>
              </a:solidFill>
              <a:latin typeface="Arial Narrow" pitchFamily="34" charset="0"/>
            </a:endParaRPr>
          </a:p>
        </p:txBody>
      </p:sp>
      <p:sp>
        <p:nvSpPr>
          <p:cNvPr id="50" name="33 CuadroTexto"/>
          <p:cNvSpPr txBox="1"/>
          <p:nvPr/>
        </p:nvSpPr>
        <p:spPr>
          <a:xfrm>
            <a:off x="8429620" y="5590401"/>
            <a:ext cx="714380" cy="276999"/>
          </a:xfrm>
          <a:prstGeom prst="rect">
            <a:avLst/>
          </a:prstGeom>
          <a:noFill/>
        </p:spPr>
        <p:txBody>
          <a:bodyPr wrap="square" rtlCol="0">
            <a:spAutoFit/>
          </a:bodyPr>
          <a:lstStyle/>
          <a:p>
            <a:r>
              <a:rPr lang="es-MX" sz="1200" dirty="0" smtClean="0">
                <a:latin typeface="Arial Narrow" pitchFamily="34" charset="0"/>
              </a:rPr>
              <a:t>MA-CH-6</a:t>
            </a:r>
            <a:endParaRPr lang="es-MX" sz="1200" dirty="0" smtClean="0">
              <a:solidFill>
                <a:schemeClr val="bg1"/>
              </a:solidFill>
              <a:latin typeface="Arial Narrow"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2867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11" name="10 Rectángulo redondeado"/>
          <p:cNvSpPr/>
          <p:nvPr/>
        </p:nvSpPr>
        <p:spPr>
          <a:xfrm>
            <a:off x="179512" y="1124744"/>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12" name="11 Rectángulo redondeado"/>
          <p:cNvSpPr/>
          <p:nvPr/>
        </p:nvSpPr>
        <p:spPr>
          <a:xfrm>
            <a:off x="611560" y="1124744"/>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13" name="12 Rectángulo redondeado"/>
          <p:cNvSpPr/>
          <p:nvPr/>
        </p:nvSpPr>
        <p:spPr>
          <a:xfrm>
            <a:off x="1043608" y="1124744"/>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14" name="13 Rectángulo redondeado"/>
          <p:cNvSpPr/>
          <p:nvPr/>
        </p:nvSpPr>
        <p:spPr>
          <a:xfrm>
            <a:off x="1475656" y="1124744"/>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sp>
        <p:nvSpPr>
          <p:cNvPr id="27" name="26 CuadroTexto"/>
          <p:cNvSpPr txBox="1"/>
          <p:nvPr/>
        </p:nvSpPr>
        <p:spPr>
          <a:xfrm>
            <a:off x="1979712" y="1066800"/>
            <a:ext cx="2088232" cy="307777"/>
          </a:xfrm>
          <a:prstGeom prst="rect">
            <a:avLst/>
          </a:prstGeom>
          <a:noFill/>
        </p:spPr>
        <p:txBody>
          <a:bodyPr wrap="square" rtlCol="0">
            <a:spAutoFit/>
          </a:bodyPr>
          <a:lstStyle/>
          <a:p>
            <a:r>
              <a:rPr lang="es-MX" sz="1400" dirty="0" smtClean="0">
                <a:latin typeface="Arial Narrow" pitchFamily="34" charset="0"/>
              </a:rPr>
              <a:t>Regreso a menú. Módulos</a:t>
            </a:r>
          </a:p>
        </p:txBody>
      </p:sp>
      <p:sp>
        <p:nvSpPr>
          <p:cNvPr id="23" name="Rectangle 22"/>
          <p:cNvSpPr/>
          <p:nvPr/>
        </p:nvSpPr>
        <p:spPr>
          <a:xfrm>
            <a:off x="1905000" y="1571612"/>
            <a:ext cx="4800600" cy="3381388"/>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rgbClr val="002060"/>
              </a:solidFill>
              <a:latin typeface="Arial Narrow" pitchFamily="34" charset="0"/>
            </a:endParaRPr>
          </a:p>
        </p:txBody>
      </p:sp>
      <p:sp>
        <p:nvSpPr>
          <p:cNvPr id="28" name="Rectangle 27"/>
          <p:cNvSpPr/>
          <p:nvPr/>
        </p:nvSpPr>
        <p:spPr>
          <a:xfrm>
            <a:off x="1857356" y="1571612"/>
            <a:ext cx="1038244" cy="30003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p:cNvSpPr/>
          <p:nvPr/>
        </p:nvSpPr>
        <p:spPr>
          <a:xfrm>
            <a:off x="5786438" y="1571612"/>
            <a:ext cx="1071578" cy="30003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p:cNvSpPr/>
          <p:nvPr/>
        </p:nvSpPr>
        <p:spPr>
          <a:xfrm>
            <a:off x="1857356" y="4572008"/>
            <a:ext cx="5000660" cy="6096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Action Button: Forward or Next 30">
            <a:hlinkClick r:id="" action="ppaction://noaction" highlightClick="1"/>
          </p:cNvPr>
          <p:cNvSpPr/>
          <p:nvPr/>
        </p:nvSpPr>
        <p:spPr>
          <a:xfrm>
            <a:off x="2214546" y="4714884"/>
            <a:ext cx="381000" cy="381000"/>
          </a:xfrm>
          <a:prstGeom prst="actionButtonForwardNext">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Action Button: End 31">
            <a:hlinkClick r:id="" action="ppaction://noaction" highlightClick="1"/>
          </p:cNvPr>
          <p:cNvSpPr/>
          <p:nvPr/>
        </p:nvSpPr>
        <p:spPr>
          <a:xfrm>
            <a:off x="2857488" y="4714884"/>
            <a:ext cx="381000" cy="381000"/>
          </a:xfrm>
          <a:prstGeom prst="actionButtonEnd">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Action Button: Document 32">
            <a:hlinkClick r:id="" action="ppaction://noaction" highlightClick="1"/>
          </p:cNvPr>
          <p:cNvSpPr/>
          <p:nvPr/>
        </p:nvSpPr>
        <p:spPr>
          <a:xfrm>
            <a:off x="4714876" y="4643446"/>
            <a:ext cx="509016" cy="432816"/>
          </a:xfrm>
          <a:prstGeom prst="actionButtonDocument">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34 CuadroTexto"/>
          <p:cNvSpPr txBox="1"/>
          <p:nvPr/>
        </p:nvSpPr>
        <p:spPr>
          <a:xfrm>
            <a:off x="2928926" y="1571613"/>
            <a:ext cx="2857520" cy="3677929"/>
          </a:xfrm>
          <a:prstGeom prst="rect">
            <a:avLst/>
          </a:prstGeom>
          <a:noFill/>
        </p:spPr>
        <p:txBody>
          <a:bodyPr wrap="square" rtlCol="0">
            <a:spAutoFit/>
          </a:bodyPr>
          <a:lstStyle/>
          <a:p>
            <a:r>
              <a:rPr lang="es-MX" sz="1100" dirty="0" smtClean="0">
                <a:solidFill>
                  <a:srgbClr val="002060"/>
                </a:solidFill>
                <a:latin typeface="Arial Narrow" pitchFamily="34" charset="0"/>
              </a:rPr>
              <a:t>¿Cuál es tu nombre? ¿tlen motoca?</a:t>
            </a:r>
          </a:p>
          <a:p>
            <a:endParaRPr lang="es-MX" sz="1100" dirty="0" smtClean="0">
              <a:solidFill>
                <a:srgbClr val="002060"/>
              </a:solidFill>
              <a:latin typeface="Arial Narrow" pitchFamily="34" charset="0"/>
            </a:endParaRPr>
          </a:p>
          <a:p>
            <a:endParaRPr lang="es-MX" sz="1100" dirty="0" smtClean="0">
              <a:solidFill>
                <a:srgbClr val="002060"/>
              </a:solidFill>
              <a:latin typeface="Arial Narrow" pitchFamily="34" charset="0"/>
            </a:endParaRPr>
          </a:p>
          <a:p>
            <a:r>
              <a:rPr lang="es-MX" sz="1100" dirty="0" smtClean="0">
                <a:solidFill>
                  <a:srgbClr val="002060"/>
                </a:solidFill>
                <a:latin typeface="Arial Narrow" pitchFamily="34" charset="0"/>
              </a:rPr>
              <a:t>mi nombre juan		notoca juan</a:t>
            </a:r>
          </a:p>
          <a:p>
            <a:r>
              <a:rPr lang="es-MX" sz="1100" dirty="0" smtClean="0">
                <a:solidFill>
                  <a:srgbClr val="002060"/>
                </a:solidFill>
                <a:latin typeface="Arial Narrow" pitchFamily="34" charset="0"/>
              </a:rPr>
              <a:t>¿y tú?		¿</a:t>
            </a:r>
            <a:r>
              <a:rPr lang="es-MX" sz="1100" dirty="0" err="1" smtClean="0">
                <a:solidFill>
                  <a:srgbClr val="002060"/>
                </a:solidFill>
                <a:latin typeface="Arial Narrow" pitchFamily="34" charset="0"/>
              </a:rPr>
              <a:t>iuan</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ta</a:t>
            </a:r>
            <a:r>
              <a:rPr lang="es-MX" sz="1100" dirty="0" smtClean="0">
                <a:solidFill>
                  <a:srgbClr val="002060"/>
                </a:solidFill>
                <a:latin typeface="Arial Narrow" pitchFamily="34" charset="0"/>
              </a:rPr>
              <a:t>?</a:t>
            </a:r>
          </a:p>
          <a:p>
            <a:endParaRPr lang="es-MX" sz="1100" dirty="0" smtClean="0">
              <a:solidFill>
                <a:srgbClr val="002060"/>
              </a:solidFill>
              <a:latin typeface="Arial Narrow" pitchFamily="34" charset="0"/>
            </a:endParaRPr>
          </a:p>
          <a:p>
            <a:r>
              <a:rPr lang="es-MX" sz="1100" dirty="0" smtClean="0">
                <a:solidFill>
                  <a:srgbClr val="002060"/>
                </a:solidFill>
                <a:latin typeface="Arial Narrow" pitchFamily="34" charset="0"/>
              </a:rPr>
              <a:t>¿De dónde vienes?	¿</a:t>
            </a:r>
            <a:r>
              <a:rPr lang="es-MX" sz="1100" dirty="0" err="1" smtClean="0">
                <a:solidFill>
                  <a:srgbClr val="002060"/>
                </a:solidFill>
                <a:latin typeface="Arial Narrow" pitchFamily="34" charset="0"/>
              </a:rPr>
              <a:t>Cani</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tihuala</a:t>
            </a:r>
            <a:r>
              <a:rPr lang="es-MX" sz="1100" dirty="0" smtClean="0">
                <a:solidFill>
                  <a:srgbClr val="002060"/>
                </a:solidFill>
                <a:latin typeface="Arial Narrow" pitchFamily="34" charset="0"/>
              </a:rPr>
              <a:t>?</a:t>
            </a:r>
          </a:p>
          <a:p>
            <a:r>
              <a:rPr lang="es-MX" sz="1100" dirty="0" smtClean="0">
                <a:solidFill>
                  <a:srgbClr val="002060"/>
                </a:solidFill>
                <a:latin typeface="Arial Narrow" pitchFamily="34" charset="0"/>
              </a:rPr>
              <a:t>Vengo de México		nihuala México</a:t>
            </a:r>
          </a:p>
          <a:p>
            <a:endParaRPr lang="es-MX" sz="1100" dirty="0" smtClean="0">
              <a:solidFill>
                <a:srgbClr val="002060"/>
              </a:solidFill>
              <a:latin typeface="Arial Narrow" pitchFamily="34" charset="0"/>
            </a:endParaRPr>
          </a:p>
          <a:p>
            <a:r>
              <a:rPr lang="es-MX" sz="1100" dirty="0" smtClean="0">
                <a:solidFill>
                  <a:srgbClr val="002060"/>
                </a:solidFill>
                <a:latin typeface="Arial Narrow" pitchFamily="34" charset="0"/>
              </a:rPr>
              <a:t>¿y tú?¿De dónde eres?           ¿</a:t>
            </a:r>
            <a:r>
              <a:rPr lang="es-MX" sz="1100" dirty="0" err="1" smtClean="0">
                <a:solidFill>
                  <a:srgbClr val="002060"/>
                </a:solidFill>
                <a:latin typeface="Arial Narrow" pitchFamily="34" charset="0"/>
              </a:rPr>
              <a:t>iuan</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ta</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cani</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tieua</a:t>
            </a:r>
            <a:r>
              <a:rPr lang="es-MX" sz="1100" dirty="0" smtClean="0">
                <a:solidFill>
                  <a:srgbClr val="002060"/>
                </a:solidFill>
                <a:latin typeface="Arial Narrow" pitchFamily="34" charset="0"/>
              </a:rPr>
              <a:t>?</a:t>
            </a:r>
          </a:p>
          <a:p>
            <a:r>
              <a:rPr lang="es-MX" sz="1100" dirty="0" smtClean="0">
                <a:solidFill>
                  <a:srgbClr val="002060"/>
                </a:solidFill>
                <a:latin typeface="Arial Narrow" pitchFamily="34" charset="0"/>
              </a:rPr>
              <a:t>Vengo de Xochimilco               nieua Xochimilco</a:t>
            </a:r>
          </a:p>
          <a:p>
            <a:endParaRPr lang="es-MX" sz="1100" dirty="0" smtClean="0">
              <a:solidFill>
                <a:srgbClr val="002060"/>
              </a:solidFill>
              <a:latin typeface="Arial Narrow" pitchFamily="34" charset="0"/>
            </a:endParaRPr>
          </a:p>
          <a:p>
            <a:r>
              <a:rPr lang="es-MX" sz="1100" dirty="0" smtClean="0">
                <a:solidFill>
                  <a:srgbClr val="002060"/>
                </a:solidFill>
                <a:latin typeface="Arial Narrow" pitchFamily="34" charset="0"/>
              </a:rPr>
              <a:t>¿Y tú qué haces?	                   ¿</a:t>
            </a:r>
            <a:r>
              <a:rPr lang="es-MX" sz="1100" dirty="0" err="1" smtClean="0">
                <a:solidFill>
                  <a:srgbClr val="002060"/>
                </a:solidFill>
                <a:latin typeface="Arial Narrow" pitchFamily="34" charset="0"/>
              </a:rPr>
              <a:t>Iuan</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ta</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tlen</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tichihua</a:t>
            </a:r>
            <a:r>
              <a:rPr lang="es-MX" sz="1100" dirty="0" smtClean="0">
                <a:solidFill>
                  <a:srgbClr val="002060"/>
                </a:solidFill>
                <a:latin typeface="Arial Narrow" pitchFamily="34" charset="0"/>
              </a:rPr>
              <a:t>?</a:t>
            </a:r>
          </a:p>
          <a:p>
            <a:r>
              <a:rPr lang="es-MX" sz="1100" dirty="0" smtClean="0">
                <a:solidFill>
                  <a:srgbClr val="002060"/>
                </a:solidFill>
                <a:latin typeface="Arial Narrow" pitchFamily="34" charset="0"/>
              </a:rPr>
              <a:t>soy estudiante	                   nimomachtia</a:t>
            </a:r>
          </a:p>
          <a:p>
            <a:endParaRPr lang="es-MX" sz="1100" dirty="0" smtClean="0">
              <a:solidFill>
                <a:srgbClr val="002060"/>
              </a:solidFill>
              <a:latin typeface="Arial Narrow" pitchFamily="34" charset="0"/>
            </a:endParaRPr>
          </a:p>
          <a:p>
            <a:r>
              <a:rPr lang="es-MX" sz="1100" dirty="0" smtClean="0">
                <a:solidFill>
                  <a:srgbClr val="002060"/>
                </a:solidFill>
                <a:latin typeface="Arial Narrow" pitchFamily="34" charset="0"/>
              </a:rPr>
              <a:t>¿y tú?		¿</a:t>
            </a:r>
            <a:r>
              <a:rPr lang="es-MX" sz="1100" dirty="0" err="1" smtClean="0">
                <a:solidFill>
                  <a:srgbClr val="002060"/>
                </a:solidFill>
                <a:latin typeface="Arial Narrow" pitchFamily="34" charset="0"/>
              </a:rPr>
              <a:t>iuan</a:t>
            </a:r>
            <a:r>
              <a:rPr lang="es-MX" sz="1100" dirty="0" smtClean="0">
                <a:solidFill>
                  <a:srgbClr val="002060"/>
                </a:solidFill>
                <a:latin typeface="Arial Narrow" pitchFamily="34" charset="0"/>
              </a:rPr>
              <a:t> </a:t>
            </a:r>
            <a:r>
              <a:rPr lang="es-MX" sz="1100" dirty="0" err="1" smtClean="0">
                <a:solidFill>
                  <a:srgbClr val="002060"/>
                </a:solidFill>
                <a:latin typeface="Arial Narrow" pitchFamily="34" charset="0"/>
              </a:rPr>
              <a:t>ta</a:t>
            </a:r>
            <a:r>
              <a:rPr lang="es-MX" sz="1100" dirty="0" smtClean="0">
                <a:solidFill>
                  <a:srgbClr val="002060"/>
                </a:solidFill>
                <a:latin typeface="Arial Narrow" pitchFamily="34" charset="0"/>
              </a:rPr>
              <a:t>?</a:t>
            </a:r>
          </a:p>
          <a:p>
            <a:r>
              <a:rPr lang="es-MX" sz="1100" dirty="0" smtClean="0">
                <a:solidFill>
                  <a:srgbClr val="002060"/>
                </a:solidFill>
                <a:latin typeface="Arial Narrow" pitchFamily="34" charset="0"/>
              </a:rPr>
              <a:t>Soy el que trabaja  la milpa	nimiltequitih</a:t>
            </a:r>
          </a:p>
          <a:p>
            <a:endParaRPr lang="es-MX" sz="1100" dirty="0" smtClean="0">
              <a:solidFill>
                <a:srgbClr val="002060"/>
              </a:solidFill>
              <a:latin typeface="Arial Narrow" pitchFamily="34" charset="0"/>
            </a:endParaRPr>
          </a:p>
          <a:p>
            <a:endParaRPr lang="es-MX" sz="1100" dirty="0" smtClean="0">
              <a:solidFill>
                <a:srgbClr val="002060"/>
              </a:solidFill>
              <a:latin typeface="Arial Narrow" pitchFamily="34" charset="0"/>
            </a:endParaRPr>
          </a:p>
          <a:p>
            <a:endParaRPr lang="es-MX" sz="1200" dirty="0" smtClean="0">
              <a:solidFill>
                <a:srgbClr val="002060"/>
              </a:solidFill>
              <a:latin typeface="Arial Narrow" pitchFamily="34" charset="0"/>
            </a:endParaRPr>
          </a:p>
          <a:p>
            <a:endParaRPr lang="en-US" sz="1200" dirty="0" smtClean="0">
              <a:solidFill>
                <a:srgbClr val="002060"/>
              </a:solidFill>
              <a:latin typeface="Arial Narrow" pitchFamily="34" charset="0"/>
            </a:endParaRPr>
          </a:p>
          <a:p>
            <a:endParaRPr lang="es-MX" dirty="0"/>
          </a:p>
        </p:txBody>
      </p:sp>
      <p:sp>
        <p:nvSpPr>
          <p:cNvPr id="38" name="37 CuadroTexto"/>
          <p:cNvSpPr txBox="1"/>
          <p:nvPr/>
        </p:nvSpPr>
        <p:spPr>
          <a:xfrm>
            <a:off x="7500958" y="1643050"/>
            <a:ext cx="1428760" cy="276999"/>
          </a:xfrm>
          <a:prstGeom prst="rect">
            <a:avLst/>
          </a:prstGeom>
          <a:noFill/>
        </p:spPr>
        <p:txBody>
          <a:bodyPr wrap="square" rtlCol="0">
            <a:spAutoFit/>
          </a:bodyPr>
          <a:lstStyle/>
          <a:p>
            <a:r>
              <a:rPr lang="es-MX" sz="1200" dirty="0" smtClean="0"/>
              <a:t>Dentro “Diálogo”</a:t>
            </a:r>
            <a:endParaRPr lang="es-MX" sz="1200" dirty="0"/>
          </a:p>
        </p:txBody>
      </p:sp>
      <p:sp>
        <p:nvSpPr>
          <p:cNvPr id="36" name="35 CuadroTexto"/>
          <p:cNvSpPr txBox="1"/>
          <p:nvPr/>
        </p:nvSpPr>
        <p:spPr>
          <a:xfrm>
            <a:off x="785786" y="1357298"/>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37" name="36 CuadroTexto"/>
          <p:cNvSpPr txBox="1"/>
          <p:nvPr/>
        </p:nvSpPr>
        <p:spPr>
          <a:xfrm>
            <a:off x="285720" y="357166"/>
            <a:ext cx="1071570" cy="338554"/>
          </a:xfrm>
          <a:prstGeom prst="rect">
            <a:avLst/>
          </a:prstGeom>
          <a:noFill/>
        </p:spPr>
        <p:txBody>
          <a:bodyPr wrap="square" rtlCol="0">
            <a:spAutoFit/>
          </a:bodyPr>
          <a:lstStyle/>
          <a:p>
            <a:r>
              <a:rPr lang="es-MX" sz="1600" dirty="0" smtClean="0">
                <a:solidFill>
                  <a:schemeClr val="bg1"/>
                </a:solidFill>
                <a:latin typeface="Arial Narrow" pitchFamily="34" charset="0"/>
              </a:rPr>
              <a:t>MA-CH-11</a:t>
            </a:r>
          </a:p>
        </p:txBody>
      </p:sp>
      <p:sp>
        <p:nvSpPr>
          <p:cNvPr id="39" name="13 Rectángulo redondeado"/>
          <p:cNvSpPr/>
          <p:nvPr/>
        </p:nvSpPr>
        <p:spPr>
          <a:xfrm>
            <a:off x="76962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0" name="13 Rectángulo redondeado"/>
          <p:cNvSpPr/>
          <p:nvPr/>
        </p:nvSpPr>
        <p:spPr>
          <a:xfrm>
            <a:off x="69342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1" name="13 Rectángulo redondeado"/>
          <p:cNvSpPr/>
          <p:nvPr/>
        </p:nvSpPr>
        <p:spPr>
          <a:xfrm>
            <a:off x="8458200" y="51482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2" name="26 CuadroTexto"/>
          <p:cNvSpPr txBox="1"/>
          <p:nvPr/>
        </p:nvSpPr>
        <p:spPr>
          <a:xfrm rot="16200000">
            <a:off x="6591300" y="44577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43" name="26 CuadroTexto"/>
          <p:cNvSpPr txBox="1"/>
          <p:nvPr/>
        </p:nvSpPr>
        <p:spPr>
          <a:xfrm rot="16200000">
            <a:off x="7299425" y="44038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44" name="26 CuadroTexto"/>
          <p:cNvSpPr txBox="1"/>
          <p:nvPr/>
        </p:nvSpPr>
        <p:spPr>
          <a:xfrm rot="16200000">
            <a:off x="8039100" y="44577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45" name="33 CuadroTexto"/>
          <p:cNvSpPr txBox="1"/>
          <p:nvPr/>
        </p:nvSpPr>
        <p:spPr>
          <a:xfrm>
            <a:off x="6810356" y="5505464"/>
            <a:ext cx="885844" cy="276999"/>
          </a:xfrm>
          <a:prstGeom prst="rect">
            <a:avLst/>
          </a:prstGeom>
          <a:noFill/>
        </p:spPr>
        <p:txBody>
          <a:bodyPr wrap="square" rtlCol="0">
            <a:spAutoFit/>
          </a:bodyPr>
          <a:lstStyle/>
          <a:p>
            <a:r>
              <a:rPr lang="es-MX" sz="1200" dirty="0" smtClean="0">
                <a:latin typeface="Arial Narrow" pitchFamily="34" charset="0"/>
              </a:rPr>
              <a:t>MA-CH-11</a:t>
            </a:r>
            <a:endParaRPr lang="es-MX" sz="1200" dirty="0" smtClean="0">
              <a:solidFill>
                <a:schemeClr val="bg1"/>
              </a:solidFill>
              <a:latin typeface="Arial Narrow" pitchFamily="34" charset="0"/>
            </a:endParaRPr>
          </a:p>
        </p:txBody>
      </p:sp>
      <p:sp>
        <p:nvSpPr>
          <p:cNvPr id="46" name="33 CuadroTexto"/>
          <p:cNvSpPr txBox="1"/>
          <p:nvPr/>
        </p:nvSpPr>
        <p:spPr>
          <a:xfrm>
            <a:off x="7591420" y="5514201"/>
            <a:ext cx="790580" cy="276999"/>
          </a:xfrm>
          <a:prstGeom prst="rect">
            <a:avLst/>
          </a:prstGeom>
          <a:noFill/>
        </p:spPr>
        <p:txBody>
          <a:bodyPr wrap="square" rtlCol="0">
            <a:spAutoFit/>
          </a:bodyPr>
          <a:lstStyle/>
          <a:p>
            <a:r>
              <a:rPr lang="es-MX" sz="1200" dirty="0" smtClean="0">
                <a:latin typeface="Arial Narrow" pitchFamily="34" charset="0"/>
              </a:rPr>
              <a:t>MA-CH-12</a:t>
            </a:r>
            <a:endParaRPr lang="es-MX" sz="1200" dirty="0" smtClean="0">
              <a:solidFill>
                <a:schemeClr val="bg1"/>
              </a:solidFill>
              <a:latin typeface="Arial Narrow" pitchFamily="34" charset="0"/>
            </a:endParaRPr>
          </a:p>
        </p:txBody>
      </p:sp>
      <p:sp>
        <p:nvSpPr>
          <p:cNvPr id="47" name="33 CuadroTexto"/>
          <p:cNvSpPr txBox="1"/>
          <p:nvPr/>
        </p:nvSpPr>
        <p:spPr>
          <a:xfrm>
            <a:off x="8353420" y="5514201"/>
            <a:ext cx="790580" cy="276999"/>
          </a:xfrm>
          <a:prstGeom prst="rect">
            <a:avLst/>
          </a:prstGeom>
          <a:noFill/>
        </p:spPr>
        <p:txBody>
          <a:bodyPr wrap="square" rtlCol="0">
            <a:spAutoFit/>
          </a:bodyPr>
          <a:lstStyle/>
          <a:p>
            <a:r>
              <a:rPr lang="es-MX" sz="1200" dirty="0" smtClean="0">
                <a:latin typeface="Arial Narrow" pitchFamily="34" charset="0"/>
              </a:rPr>
              <a:t>MA-CH-14</a:t>
            </a:r>
            <a:endParaRPr lang="es-MX" sz="1200" dirty="0" smtClean="0">
              <a:solidFill>
                <a:schemeClr val="bg1"/>
              </a:solidFill>
              <a:latin typeface="Arial Narrow" pitchFamily="34" charset="0"/>
            </a:endParaRPr>
          </a:p>
        </p:txBody>
      </p:sp>
      <p:sp>
        <p:nvSpPr>
          <p:cNvPr id="48" name="TextBox 47"/>
          <p:cNvSpPr txBox="1"/>
          <p:nvPr/>
        </p:nvSpPr>
        <p:spPr>
          <a:xfrm>
            <a:off x="0" y="1828800"/>
            <a:ext cx="1752600" cy="3046987"/>
          </a:xfrm>
          <a:prstGeom prst="rect">
            <a:avLst/>
          </a:prstGeom>
          <a:noFill/>
        </p:spPr>
        <p:txBody>
          <a:bodyPr wrap="square" rtlCol="0">
            <a:spAutoFit/>
          </a:bodyPr>
          <a:lstStyle/>
          <a:p>
            <a:r>
              <a:rPr lang="en-US" sz="1200" dirty="0" err="1" smtClean="0">
                <a:latin typeface="Arial Narrow"/>
                <a:cs typeface="Arial Narrow"/>
              </a:rPr>
              <a:t>Imagen</a:t>
            </a:r>
            <a:r>
              <a:rPr lang="en-US" sz="1200" dirty="0" smtClean="0">
                <a:latin typeface="Arial Narrow"/>
                <a:cs typeface="Arial Narrow"/>
              </a:rPr>
              <a:t> de </a:t>
            </a:r>
            <a:r>
              <a:rPr lang="en-US" sz="1200" dirty="0" err="1" smtClean="0">
                <a:latin typeface="Arial Narrow"/>
                <a:cs typeface="Arial Narrow"/>
              </a:rPr>
              <a:t>fondo</a:t>
            </a:r>
            <a:r>
              <a:rPr lang="en-US" sz="1200" dirty="0" smtClean="0">
                <a:latin typeface="Arial Narrow"/>
                <a:cs typeface="Arial Narrow"/>
              </a:rPr>
              <a:t> </a:t>
            </a:r>
            <a:r>
              <a:rPr lang="en-US" sz="1200" dirty="0" err="1" smtClean="0">
                <a:latin typeface="Arial Narrow"/>
                <a:cs typeface="Arial Narrow"/>
              </a:rPr>
              <a:t>que</a:t>
            </a:r>
            <a:r>
              <a:rPr lang="en-US" sz="1200" dirty="0" smtClean="0">
                <a:latin typeface="Arial Narrow"/>
                <a:cs typeface="Arial Narrow"/>
              </a:rPr>
              <a:t> </a:t>
            </a:r>
            <a:r>
              <a:rPr lang="en-US" sz="1200" dirty="0" err="1" smtClean="0">
                <a:latin typeface="Arial Narrow"/>
                <a:cs typeface="Arial Narrow"/>
              </a:rPr>
              <a:t>remite</a:t>
            </a:r>
            <a:r>
              <a:rPr lang="en-US" sz="1200" dirty="0" smtClean="0">
                <a:latin typeface="Arial Narrow"/>
                <a:cs typeface="Arial Narrow"/>
              </a:rPr>
              <a:t> </a:t>
            </a:r>
          </a:p>
          <a:p>
            <a:r>
              <a:rPr lang="en-US" sz="1200" dirty="0" smtClean="0">
                <a:latin typeface="Arial Narrow"/>
                <a:cs typeface="Arial Narrow"/>
              </a:rPr>
              <a:t>a </a:t>
            </a:r>
            <a:r>
              <a:rPr lang="en-US" sz="1200" dirty="0" err="1" smtClean="0">
                <a:latin typeface="Arial Narrow"/>
                <a:cs typeface="Arial Narrow"/>
              </a:rPr>
              <a:t>diálogo</a:t>
            </a:r>
            <a:r>
              <a:rPr lang="en-US" sz="1200" dirty="0" smtClean="0">
                <a:latin typeface="Arial Narrow"/>
                <a:cs typeface="Arial Narrow"/>
              </a:rPr>
              <a:t>,</a:t>
            </a:r>
          </a:p>
          <a:p>
            <a:endParaRPr lang="en-US" sz="1200" dirty="0" smtClean="0">
              <a:latin typeface="Arial Narrow"/>
              <a:cs typeface="Arial Narrow"/>
            </a:endParaRPr>
          </a:p>
          <a:p>
            <a:r>
              <a:rPr lang="en-US" sz="1200" dirty="0" smtClean="0">
                <a:latin typeface="Arial Narrow"/>
                <a:cs typeface="Arial Narrow"/>
              </a:rPr>
              <a:t>En primer </a:t>
            </a:r>
            <a:r>
              <a:rPr lang="en-US" sz="1200" dirty="0" err="1" smtClean="0">
                <a:latin typeface="Arial Narrow"/>
                <a:cs typeface="Arial Narrow"/>
              </a:rPr>
              <a:t>plano</a:t>
            </a:r>
            <a:r>
              <a:rPr lang="en-US" sz="1200" dirty="0" smtClean="0">
                <a:latin typeface="Arial Narrow"/>
                <a:cs typeface="Arial Narrow"/>
              </a:rPr>
              <a:t> </a:t>
            </a:r>
            <a:r>
              <a:rPr lang="en-US" sz="1200" dirty="0" err="1" smtClean="0">
                <a:latin typeface="Arial Narrow"/>
                <a:cs typeface="Arial Narrow"/>
              </a:rPr>
              <a:t>una</a:t>
            </a:r>
            <a:r>
              <a:rPr lang="en-US" sz="1200" dirty="0" smtClean="0">
                <a:latin typeface="Arial Narrow"/>
                <a:cs typeface="Arial Narrow"/>
              </a:rPr>
              <a:t> </a:t>
            </a:r>
            <a:r>
              <a:rPr lang="en-US" sz="1200" dirty="0" err="1" smtClean="0">
                <a:latin typeface="Arial Narrow"/>
                <a:cs typeface="Arial Narrow"/>
              </a:rPr>
              <a:t>consola</a:t>
            </a:r>
            <a:r>
              <a:rPr lang="en-US" sz="1200" dirty="0" smtClean="0">
                <a:latin typeface="Arial Narrow"/>
                <a:cs typeface="Arial Narrow"/>
              </a:rPr>
              <a:t> </a:t>
            </a:r>
            <a:r>
              <a:rPr lang="en-US" sz="1200" dirty="0" err="1" smtClean="0">
                <a:latin typeface="Arial Narrow"/>
                <a:cs typeface="Arial Narrow"/>
              </a:rPr>
              <a:t>que</a:t>
            </a:r>
            <a:r>
              <a:rPr lang="en-US" sz="1200" dirty="0" smtClean="0">
                <a:latin typeface="Arial Narrow"/>
                <a:cs typeface="Arial Narrow"/>
              </a:rPr>
              <a:t> </a:t>
            </a:r>
            <a:r>
              <a:rPr lang="en-US" sz="1200" dirty="0" err="1" smtClean="0">
                <a:latin typeface="Arial Narrow"/>
                <a:cs typeface="Arial Narrow"/>
              </a:rPr>
              <a:t>nos</a:t>
            </a:r>
            <a:r>
              <a:rPr lang="en-US" sz="1200" dirty="0" smtClean="0">
                <a:latin typeface="Arial Narrow"/>
                <a:cs typeface="Arial Narrow"/>
              </a:rPr>
              <a:t> </a:t>
            </a:r>
            <a:r>
              <a:rPr lang="en-US" sz="1200" dirty="0" err="1" smtClean="0">
                <a:latin typeface="Arial Narrow"/>
                <a:cs typeface="Arial Narrow"/>
              </a:rPr>
              <a:t>permitirá</a:t>
            </a:r>
            <a:r>
              <a:rPr lang="en-US" sz="1200" dirty="0" smtClean="0">
                <a:latin typeface="Arial Narrow"/>
                <a:cs typeface="Arial Narrow"/>
              </a:rPr>
              <a:t>:</a:t>
            </a:r>
          </a:p>
          <a:p>
            <a:endParaRPr lang="en-US" sz="1200" dirty="0" smtClean="0">
              <a:latin typeface="Arial Narrow"/>
              <a:cs typeface="Arial Narrow"/>
            </a:endParaRPr>
          </a:p>
          <a:p>
            <a:r>
              <a:rPr lang="en-US" sz="1200" dirty="0" smtClean="0">
                <a:latin typeface="Arial Narrow"/>
                <a:cs typeface="Arial Narrow"/>
              </a:rPr>
              <a:t>1. Dar play a </a:t>
            </a:r>
            <a:r>
              <a:rPr lang="en-US" sz="1200" dirty="0" err="1" smtClean="0">
                <a:latin typeface="Arial Narrow"/>
                <a:cs typeface="Arial Narrow"/>
              </a:rPr>
              <a:t>dialogo</a:t>
            </a:r>
            <a:r>
              <a:rPr lang="en-US" sz="1200" dirty="0" smtClean="0">
                <a:latin typeface="Arial Narrow"/>
                <a:cs typeface="Arial Narrow"/>
              </a:rPr>
              <a:t> MA-CH-11 </a:t>
            </a:r>
          </a:p>
          <a:p>
            <a:endParaRPr lang="en-US" sz="1200" dirty="0" smtClean="0">
              <a:latin typeface="Arial Narrow"/>
              <a:cs typeface="Arial Narrow"/>
            </a:endParaRPr>
          </a:p>
          <a:p>
            <a:r>
              <a:rPr lang="en-US" sz="1200" dirty="0" smtClean="0">
                <a:latin typeface="Arial Narrow"/>
                <a:cs typeface="Arial Narrow"/>
              </a:rPr>
              <a:t>2.-Incluir “Stop”</a:t>
            </a:r>
          </a:p>
          <a:p>
            <a:endParaRPr lang="en-US" sz="1200" dirty="0" smtClean="0">
              <a:latin typeface="Arial Narrow"/>
              <a:cs typeface="Arial Narrow"/>
            </a:endParaRPr>
          </a:p>
          <a:p>
            <a:r>
              <a:rPr lang="en-US" sz="1200" dirty="0" smtClean="0">
                <a:latin typeface="Arial Narrow"/>
                <a:cs typeface="Arial Narrow"/>
              </a:rPr>
              <a:t>3.- 2 </a:t>
            </a:r>
            <a:r>
              <a:rPr lang="en-US" sz="1200" dirty="0" err="1" smtClean="0">
                <a:latin typeface="Arial Narrow"/>
                <a:cs typeface="Arial Narrow"/>
              </a:rPr>
              <a:t>velocidades</a:t>
            </a:r>
            <a:r>
              <a:rPr lang="en-US" sz="1200" dirty="0" smtClean="0">
                <a:latin typeface="Arial Narrow"/>
                <a:cs typeface="Arial Narrow"/>
              </a:rPr>
              <a:t> </a:t>
            </a:r>
            <a:r>
              <a:rPr lang="en-US" sz="1200" dirty="0" err="1" smtClean="0">
                <a:latin typeface="Arial Narrow"/>
                <a:cs typeface="Arial Narrow"/>
              </a:rPr>
              <a:t>para</a:t>
            </a:r>
            <a:r>
              <a:rPr lang="en-US" sz="1200" dirty="0" smtClean="0">
                <a:latin typeface="Arial Narrow"/>
                <a:cs typeface="Arial Narrow"/>
              </a:rPr>
              <a:t> el audio, </a:t>
            </a:r>
            <a:r>
              <a:rPr lang="en-US" sz="1200" dirty="0" err="1" smtClean="0">
                <a:latin typeface="Arial Narrow"/>
                <a:cs typeface="Arial Narrow"/>
              </a:rPr>
              <a:t>medio</a:t>
            </a:r>
            <a:r>
              <a:rPr lang="en-US" sz="1200" dirty="0" smtClean="0">
                <a:latin typeface="Arial Narrow"/>
                <a:cs typeface="Arial Narrow"/>
              </a:rPr>
              <a:t> </a:t>
            </a:r>
            <a:r>
              <a:rPr lang="en-US" sz="1200" dirty="0" err="1" smtClean="0">
                <a:latin typeface="Arial Narrow"/>
                <a:cs typeface="Arial Narrow"/>
              </a:rPr>
              <a:t>y</a:t>
            </a:r>
            <a:r>
              <a:rPr lang="en-US" sz="1200" dirty="0" smtClean="0">
                <a:latin typeface="Arial Narrow"/>
                <a:cs typeface="Arial Narrow"/>
              </a:rPr>
              <a:t> lento</a:t>
            </a:r>
          </a:p>
          <a:p>
            <a:endParaRPr lang="en-US" sz="1200" dirty="0" smtClean="0">
              <a:latin typeface="Arial Narrow"/>
              <a:cs typeface="Arial Narrow"/>
            </a:endParaRPr>
          </a:p>
          <a:p>
            <a:r>
              <a:rPr lang="en-US" sz="1200" dirty="0" smtClean="0">
                <a:latin typeface="Arial Narrow"/>
                <a:cs typeface="Arial Narrow"/>
              </a:rPr>
              <a:t>4.- </a:t>
            </a:r>
            <a:r>
              <a:rPr lang="en-US" sz="1200" dirty="0" err="1" smtClean="0">
                <a:latin typeface="Arial Narrow"/>
                <a:cs typeface="Arial Narrow"/>
              </a:rPr>
              <a:t>Imprimir</a:t>
            </a:r>
            <a:endParaRPr lang="en-US" sz="1200" dirty="0" smtClean="0">
              <a:latin typeface="Arial Narrow"/>
              <a:cs typeface="Arial Narrow"/>
            </a:endParaRPr>
          </a:p>
          <a:p>
            <a:r>
              <a:rPr lang="en-US" sz="1200" dirty="0" smtClean="0">
                <a:latin typeface="Arial Narrow"/>
                <a:cs typeface="Arial Narrow"/>
              </a:rPr>
              <a:t> </a:t>
            </a:r>
            <a:endParaRPr lang="en-US" sz="1200" dirty="0">
              <a:latin typeface="Arial Narrow"/>
              <a:cs typeface="Arial Narrow"/>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46" name="45 CuadroTexto"/>
          <p:cNvSpPr txBox="1"/>
          <p:nvPr/>
        </p:nvSpPr>
        <p:spPr>
          <a:xfrm>
            <a:off x="2286000" y="1371600"/>
            <a:ext cx="1588596" cy="369332"/>
          </a:xfrm>
          <a:prstGeom prst="rect">
            <a:avLst/>
          </a:prstGeom>
          <a:noFill/>
        </p:spPr>
        <p:txBody>
          <a:bodyPr wrap="none" rtlCol="0">
            <a:spAutoFit/>
          </a:bodyPr>
          <a:lstStyle/>
          <a:p>
            <a:pPr algn="ctr"/>
            <a:r>
              <a:rPr lang="es-MX" b="1" dirty="0" smtClean="0"/>
              <a:t>¿Tlen Motoca?</a:t>
            </a:r>
          </a:p>
        </p:txBody>
      </p:sp>
      <p:sp>
        <p:nvSpPr>
          <p:cNvPr id="49" name="TextBox 22"/>
          <p:cNvSpPr txBox="1"/>
          <p:nvPr/>
        </p:nvSpPr>
        <p:spPr>
          <a:xfrm>
            <a:off x="357158" y="4343400"/>
            <a:ext cx="2214578" cy="861774"/>
          </a:xfrm>
          <a:prstGeom prst="rect">
            <a:avLst/>
          </a:prstGeom>
          <a:noFill/>
        </p:spPr>
        <p:txBody>
          <a:bodyPr wrap="square" rtlCol="0">
            <a:spAutoFit/>
          </a:bodyPr>
          <a:lstStyle/>
          <a:p>
            <a:r>
              <a:rPr lang="en-US" sz="1000" dirty="0" err="1" smtClean="0"/>
              <a:t>Aparece</a:t>
            </a:r>
            <a:r>
              <a:rPr lang="en-US" sz="1000" dirty="0" smtClean="0"/>
              <a:t> </a:t>
            </a:r>
            <a:r>
              <a:rPr lang="en-US" sz="1000" dirty="0" err="1" smtClean="0"/>
              <a:t>pregunta</a:t>
            </a:r>
            <a:r>
              <a:rPr lang="en-US" sz="1000" dirty="0" smtClean="0"/>
              <a:t> con audio</a:t>
            </a:r>
          </a:p>
          <a:p>
            <a:r>
              <a:rPr lang="en-US" sz="1000" dirty="0" err="1" smtClean="0"/>
              <a:t>Aparece</a:t>
            </a:r>
            <a:r>
              <a:rPr lang="en-US" sz="1000" dirty="0" smtClean="0"/>
              <a:t> </a:t>
            </a:r>
            <a:r>
              <a:rPr lang="en-US" sz="1000" dirty="0" err="1" smtClean="0"/>
              <a:t>retrato</a:t>
            </a:r>
            <a:r>
              <a:rPr lang="en-US" sz="1000" dirty="0" smtClean="0"/>
              <a:t> de </a:t>
            </a:r>
            <a:r>
              <a:rPr lang="en-US" sz="1000" dirty="0" err="1" smtClean="0"/>
              <a:t>personaje</a:t>
            </a:r>
            <a:endParaRPr lang="en-US" sz="1000" dirty="0" smtClean="0"/>
          </a:p>
          <a:p>
            <a:r>
              <a:rPr lang="en-US" sz="1000" dirty="0" smtClean="0"/>
              <a:t>Se </a:t>
            </a:r>
            <a:r>
              <a:rPr lang="en-US" sz="1000" dirty="0" err="1" smtClean="0"/>
              <a:t>desvanece</a:t>
            </a:r>
            <a:r>
              <a:rPr lang="en-US" sz="1000" dirty="0" smtClean="0"/>
              <a:t> </a:t>
            </a:r>
            <a:r>
              <a:rPr lang="en-US" sz="1000" dirty="0" err="1" smtClean="0"/>
              <a:t>y</a:t>
            </a:r>
            <a:r>
              <a:rPr lang="en-US" sz="1000" dirty="0" smtClean="0"/>
              <a:t> </a:t>
            </a:r>
            <a:r>
              <a:rPr lang="en-US" sz="1000" dirty="0" err="1" smtClean="0"/>
              <a:t>aparece</a:t>
            </a:r>
            <a:r>
              <a:rPr lang="en-US" sz="1000" dirty="0" smtClean="0"/>
              <a:t> </a:t>
            </a:r>
            <a:r>
              <a:rPr lang="en-US" sz="1000" dirty="0" err="1" smtClean="0"/>
              <a:t>pregunta</a:t>
            </a:r>
            <a:r>
              <a:rPr lang="en-US" sz="1000" dirty="0" smtClean="0"/>
              <a:t> 2 con audio, </a:t>
            </a:r>
            <a:r>
              <a:rPr lang="en-US" sz="1000" dirty="0" err="1" smtClean="0"/>
              <a:t>aparece</a:t>
            </a:r>
            <a:r>
              <a:rPr lang="en-US" sz="1000" dirty="0" smtClean="0"/>
              <a:t> en </a:t>
            </a:r>
            <a:r>
              <a:rPr lang="en-US" sz="1000" dirty="0" err="1" smtClean="0"/>
              <a:t>recuadro</a:t>
            </a:r>
            <a:r>
              <a:rPr lang="en-US" sz="1000" dirty="0" smtClean="0"/>
              <a:t> de </a:t>
            </a:r>
            <a:r>
              <a:rPr lang="en-US" sz="1000" dirty="0" err="1" smtClean="0"/>
              <a:t>abajo</a:t>
            </a:r>
            <a:r>
              <a:rPr lang="en-US" sz="1000" dirty="0" smtClean="0"/>
              <a:t> con </a:t>
            </a:r>
            <a:r>
              <a:rPr lang="en-US" sz="1000" dirty="0" err="1" smtClean="0"/>
              <a:t>imagen</a:t>
            </a:r>
            <a:r>
              <a:rPr lang="en-US" sz="1000" dirty="0" smtClean="0"/>
              <a:t> </a:t>
            </a:r>
          </a:p>
        </p:txBody>
      </p:sp>
      <p:sp>
        <p:nvSpPr>
          <p:cNvPr id="28" name="27 Rectángulo"/>
          <p:cNvSpPr/>
          <p:nvPr/>
        </p:nvSpPr>
        <p:spPr>
          <a:xfrm>
            <a:off x="3124200" y="1905000"/>
            <a:ext cx="1223970" cy="10096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34 Rectángulo"/>
          <p:cNvSpPr/>
          <p:nvPr/>
        </p:nvSpPr>
        <p:spPr>
          <a:xfrm>
            <a:off x="3124200" y="2971800"/>
            <a:ext cx="1223970" cy="990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39 Rectángulo"/>
          <p:cNvSpPr/>
          <p:nvPr/>
        </p:nvSpPr>
        <p:spPr>
          <a:xfrm>
            <a:off x="4419600" y="1905000"/>
            <a:ext cx="1143000" cy="10096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1" name="50 Rectángulo"/>
          <p:cNvSpPr/>
          <p:nvPr/>
        </p:nvSpPr>
        <p:spPr>
          <a:xfrm>
            <a:off x="4419600" y="2971800"/>
            <a:ext cx="1143000" cy="990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 name="38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42" name="41 CuadroTexto"/>
          <p:cNvSpPr txBox="1"/>
          <p:nvPr/>
        </p:nvSpPr>
        <p:spPr>
          <a:xfrm>
            <a:off x="285720" y="357166"/>
            <a:ext cx="1085880" cy="338554"/>
          </a:xfrm>
          <a:prstGeom prst="rect">
            <a:avLst/>
          </a:prstGeom>
          <a:noFill/>
        </p:spPr>
        <p:txBody>
          <a:bodyPr wrap="square" rtlCol="0">
            <a:spAutoFit/>
          </a:bodyPr>
          <a:lstStyle/>
          <a:p>
            <a:r>
              <a:rPr lang="es-MX" sz="1600" dirty="0" smtClean="0">
                <a:solidFill>
                  <a:schemeClr val="bg1"/>
                </a:solidFill>
                <a:latin typeface="Arial Narrow" pitchFamily="34" charset="0"/>
              </a:rPr>
              <a:t>MA-CH-12</a:t>
            </a:r>
          </a:p>
        </p:txBody>
      </p:sp>
      <p:sp>
        <p:nvSpPr>
          <p:cNvPr id="47" name="13 Rectángulo redondeado"/>
          <p:cNvSpPr/>
          <p:nvPr/>
        </p:nvSpPr>
        <p:spPr>
          <a:xfrm>
            <a:off x="7772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13 Rectángulo redondeado"/>
          <p:cNvSpPr/>
          <p:nvPr/>
        </p:nvSpPr>
        <p:spPr>
          <a:xfrm>
            <a:off x="7010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8" name="13 Rectángulo redondeado"/>
          <p:cNvSpPr/>
          <p:nvPr/>
        </p:nvSpPr>
        <p:spPr>
          <a:xfrm>
            <a:off x="8534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9" name="26 CuadroTexto"/>
          <p:cNvSpPr txBox="1"/>
          <p:nvPr/>
        </p:nvSpPr>
        <p:spPr>
          <a:xfrm rot="16200000">
            <a:off x="6667500" y="45339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60" name="26 CuadroTexto"/>
          <p:cNvSpPr txBox="1"/>
          <p:nvPr/>
        </p:nvSpPr>
        <p:spPr>
          <a:xfrm rot="16200000">
            <a:off x="7375625" y="44800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61" name="26 CuadroTexto"/>
          <p:cNvSpPr txBox="1"/>
          <p:nvPr/>
        </p:nvSpPr>
        <p:spPr>
          <a:xfrm rot="16200000">
            <a:off x="8115300" y="45339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62" name="33 CuadroTexto"/>
          <p:cNvSpPr txBox="1"/>
          <p:nvPr/>
        </p:nvSpPr>
        <p:spPr>
          <a:xfrm>
            <a:off x="6886556" y="5581664"/>
            <a:ext cx="885844" cy="276999"/>
          </a:xfrm>
          <a:prstGeom prst="rect">
            <a:avLst/>
          </a:prstGeom>
          <a:noFill/>
        </p:spPr>
        <p:txBody>
          <a:bodyPr wrap="square" rtlCol="0">
            <a:spAutoFit/>
          </a:bodyPr>
          <a:lstStyle/>
          <a:p>
            <a:r>
              <a:rPr lang="es-MX" sz="1200" dirty="0" smtClean="0">
                <a:latin typeface="Arial Narrow" pitchFamily="34" charset="0"/>
              </a:rPr>
              <a:t>MA-CH-11</a:t>
            </a:r>
            <a:endParaRPr lang="es-MX" sz="1200" dirty="0" smtClean="0">
              <a:solidFill>
                <a:schemeClr val="bg1"/>
              </a:solidFill>
              <a:latin typeface="Arial Narrow" pitchFamily="34" charset="0"/>
            </a:endParaRPr>
          </a:p>
        </p:txBody>
      </p:sp>
      <p:sp>
        <p:nvSpPr>
          <p:cNvPr id="63" name="33 CuadroTexto"/>
          <p:cNvSpPr txBox="1"/>
          <p:nvPr/>
        </p:nvSpPr>
        <p:spPr>
          <a:xfrm>
            <a:off x="7667620" y="5590401"/>
            <a:ext cx="714380" cy="276999"/>
          </a:xfrm>
          <a:prstGeom prst="rect">
            <a:avLst/>
          </a:prstGeom>
          <a:noFill/>
        </p:spPr>
        <p:txBody>
          <a:bodyPr wrap="square" rtlCol="0">
            <a:spAutoFit/>
          </a:bodyPr>
          <a:lstStyle/>
          <a:p>
            <a:r>
              <a:rPr lang="es-MX" sz="1200" dirty="0" smtClean="0">
                <a:latin typeface="Arial Narrow" pitchFamily="34" charset="0"/>
              </a:rPr>
              <a:t>MA-CH-</a:t>
            </a:r>
            <a:endParaRPr lang="es-MX" sz="1200" dirty="0" smtClean="0">
              <a:solidFill>
                <a:schemeClr val="bg1"/>
              </a:solidFill>
              <a:latin typeface="Arial Narrow" pitchFamily="34" charset="0"/>
            </a:endParaRPr>
          </a:p>
        </p:txBody>
      </p:sp>
      <p:sp>
        <p:nvSpPr>
          <p:cNvPr id="64" name="33 CuadroTexto"/>
          <p:cNvSpPr txBox="1"/>
          <p:nvPr/>
        </p:nvSpPr>
        <p:spPr>
          <a:xfrm>
            <a:off x="8429620" y="5590401"/>
            <a:ext cx="714380" cy="276999"/>
          </a:xfrm>
          <a:prstGeom prst="rect">
            <a:avLst/>
          </a:prstGeom>
          <a:noFill/>
        </p:spPr>
        <p:txBody>
          <a:bodyPr wrap="square" rtlCol="0">
            <a:spAutoFit/>
          </a:bodyPr>
          <a:lstStyle/>
          <a:p>
            <a:r>
              <a:rPr lang="es-MX" sz="1200" dirty="0" smtClean="0">
                <a:latin typeface="Arial Narrow" pitchFamily="34" charset="0"/>
              </a:rPr>
              <a:t>MA-CH-6</a:t>
            </a:r>
            <a:endParaRPr lang="es-MX" sz="1200" dirty="0" smtClean="0">
              <a:solidFill>
                <a:schemeClr val="bg1"/>
              </a:solidFill>
              <a:latin typeface="Arial Narrow" pitchFamily="34" charset="0"/>
            </a:endParaRPr>
          </a:p>
        </p:txBody>
      </p:sp>
      <p:sp>
        <p:nvSpPr>
          <p:cNvPr id="37" name="45 CuadroTexto"/>
          <p:cNvSpPr txBox="1"/>
          <p:nvPr/>
        </p:nvSpPr>
        <p:spPr>
          <a:xfrm>
            <a:off x="5040804" y="1371600"/>
            <a:ext cx="1537651" cy="369332"/>
          </a:xfrm>
          <a:prstGeom prst="rect">
            <a:avLst/>
          </a:prstGeom>
          <a:noFill/>
        </p:spPr>
        <p:txBody>
          <a:bodyPr wrap="none" rtlCol="0">
            <a:spAutoFit/>
          </a:bodyPr>
          <a:lstStyle/>
          <a:p>
            <a:pPr algn="ctr"/>
            <a:r>
              <a:rPr lang="es-MX" b="1" dirty="0" smtClean="0"/>
              <a:t>¿Tlen Tichiua?</a:t>
            </a:r>
          </a:p>
        </p:txBody>
      </p:sp>
      <p:sp>
        <p:nvSpPr>
          <p:cNvPr id="38" name="45 CuadroTexto"/>
          <p:cNvSpPr txBox="1"/>
          <p:nvPr/>
        </p:nvSpPr>
        <p:spPr>
          <a:xfrm>
            <a:off x="304800" y="1992868"/>
            <a:ext cx="1464276" cy="369332"/>
          </a:xfrm>
          <a:prstGeom prst="rect">
            <a:avLst/>
          </a:prstGeom>
          <a:noFill/>
        </p:spPr>
        <p:txBody>
          <a:bodyPr wrap="none" rtlCol="0">
            <a:spAutoFit/>
          </a:bodyPr>
          <a:lstStyle/>
          <a:p>
            <a:pPr algn="ctr"/>
            <a:r>
              <a:rPr lang="es-MX" b="1" dirty="0" smtClean="0"/>
              <a:t>notoca María</a:t>
            </a:r>
          </a:p>
        </p:txBody>
      </p:sp>
      <p:sp>
        <p:nvSpPr>
          <p:cNvPr id="41" name="45 CuadroTexto"/>
          <p:cNvSpPr txBox="1"/>
          <p:nvPr/>
        </p:nvSpPr>
        <p:spPr>
          <a:xfrm>
            <a:off x="304800" y="2297668"/>
            <a:ext cx="1458415" cy="369332"/>
          </a:xfrm>
          <a:prstGeom prst="rect">
            <a:avLst/>
          </a:prstGeom>
          <a:noFill/>
        </p:spPr>
        <p:txBody>
          <a:bodyPr wrap="none" rtlCol="0">
            <a:spAutoFit/>
          </a:bodyPr>
          <a:lstStyle/>
          <a:p>
            <a:pPr algn="ctr"/>
            <a:r>
              <a:rPr lang="es-MX" b="1" dirty="0" smtClean="0"/>
              <a:t>notoca Pedro</a:t>
            </a:r>
          </a:p>
        </p:txBody>
      </p:sp>
      <p:sp>
        <p:nvSpPr>
          <p:cNvPr id="43" name="45 CuadroTexto"/>
          <p:cNvSpPr txBox="1"/>
          <p:nvPr/>
        </p:nvSpPr>
        <p:spPr>
          <a:xfrm>
            <a:off x="304800" y="2602468"/>
            <a:ext cx="1333981" cy="369332"/>
          </a:xfrm>
          <a:prstGeom prst="rect">
            <a:avLst/>
          </a:prstGeom>
          <a:noFill/>
        </p:spPr>
        <p:txBody>
          <a:bodyPr wrap="none" rtlCol="0">
            <a:spAutoFit/>
          </a:bodyPr>
          <a:lstStyle/>
          <a:p>
            <a:pPr algn="ctr"/>
            <a:r>
              <a:rPr lang="es-MX" b="1" dirty="0" smtClean="0"/>
              <a:t>notoca Juan</a:t>
            </a:r>
          </a:p>
        </p:txBody>
      </p:sp>
      <p:sp>
        <p:nvSpPr>
          <p:cNvPr id="44" name="45 CuadroTexto"/>
          <p:cNvSpPr txBox="1"/>
          <p:nvPr/>
        </p:nvSpPr>
        <p:spPr>
          <a:xfrm>
            <a:off x="304800" y="2907268"/>
            <a:ext cx="1464276" cy="369332"/>
          </a:xfrm>
          <a:prstGeom prst="rect">
            <a:avLst/>
          </a:prstGeom>
          <a:noFill/>
        </p:spPr>
        <p:txBody>
          <a:bodyPr wrap="none" rtlCol="0">
            <a:spAutoFit/>
          </a:bodyPr>
          <a:lstStyle/>
          <a:p>
            <a:pPr algn="ctr"/>
            <a:r>
              <a:rPr lang="es-MX" b="1" dirty="0" smtClean="0"/>
              <a:t>notoca María</a:t>
            </a:r>
          </a:p>
        </p:txBody>
      </p:sp>
      <p:sp>
        <p:nvSpPr>
          <p:cNvPr id="45" name="45 CuadroTexto"/>
          <p:cNvSpPr txBox="1"/>
          <p:nvPr/>
        </p:nvSpPr>
        <p:spPr>
          <a:xfrm>
            <a:off x="304800" y="3212068"/>
            <a:ext cx="1769385" cy="369332"/>
          </a:xfrm>
          <a:prstGeom prst="rect">
            <a:avLst/>
          </a:prstGeom>
          <a:noFill/>
        </p:spPr>
        <p:txBody>
          <a:bodyPr wrap="none" rtlCol="0">
            <a:spAutoFit/>
          </a:bodyPr>
          <a:lstStyle/>
          <a:p>
            <a:pPr algn="ctr"/>
            <a:r>
              <a:rPr lang="es-MX" b="1" dirty="0" smtClean="0"/>
              <a:t>notoca Indalecio</a:t>
            </a:r>
          </a:p>
        </p:txBody>
      </p:sp>
      <p:sp>
        <p:nvSpPr>
          <p:cNvPr id="65" name="45 CuadroTexto"/>
          <p:cNvSpPr txBox="1"/>
          <p:nvPr/>
        </p:nvSpPr>
        <p:spPr>
          <a:xfrm>
            <a:off x="304800" y="3505200"/>
            <a:ext cx="1941557" cy="369332"/>
          </a:xfrm>
          <a:prstGeom prst="rect">
            <a:avLst/>
          </a:prstGeom>
          <a:noFill/>
        </p:spPr>
        <p:txBody>
          <a:bodyPr wrap="none" rtlCol="0">
            <a:spAutoFit/>
          </a:bodyPr>
          <a:lstStyle/>
          <a:p>
            <a:pPr algn="ctr"/>
            <a:r>
              <a:rPr lang="es-MX" b="1" dirty="0" smtClean="0"/>
              <a:t>notoca Guadalupe</a:t>
            </a:r>
          </a:p>
        </p:txBody>
      </p:sp>
      <p:sp>
        <p:nvSpPr>
          <p:cNvPr id="66" name="45 CuadroTexto"/>
          <p:cNvSpPr txBox="1"/>
          <p:nvPr/>
        </p:nvSpPr>
        <p:spPr>
          <a:xfrm>
            <a:off x="6231924" y="1828800"/>
            <a:ext cx="1770174" cy="369332"/>
          </a:xfrm>
          <a:prstGeom prst="rect">
            <a:avLst/>
          </a:prstGeom>
          <a:noFill/>
        </p:spPr>
        <p:txBody>
          <a:bodyPr wrap="none" rtlCol="0">
            <a:spAutoFit/>
          </a:bodyPr>
          <a:lstStyle/>
          <a:p>
            <a:pPr algn="ctr"/>
            <a:r>
              <a:rPr lang="es-MX" b="1" dirty="0" smtClean="0"/>
              <a:t>nitlamachtiquetl</a:t>
            </a:r>
          </a:p>
        </p:txBody>
      </p:sp>
      <p:sp>
        <p:nvSpPr>
          <p:cNvPr id="67" name="45 CuadroTexto"/>
          <p:cNvSpPr txBox="1"/>
          <p:nvPr/>
        </p:nvSpPr>
        <p:spPr>
          <a:xfrm>
            <a:off x="6248400" y="2145268"/>
            <a:ext cx="1850649" cy="369332"/>
          </a:xfrm>
          <a:prstGeom prst="rect">
            <a:avLst/>
          </a:prstGeom>
          <a:noFill/>
        </p:spPr>
        <p:txBody>
          <a:bodyPr wrap="none" rtlCol="0">
            <a:spAutoFit/>
          </a:bodyPr>
          <a:lstStyle/>
          <a:p>
            <a:pPr algn="ctr"/>
            <a:r>
              <a:rPr lang="es-MX" b="1" dirty="0" smtClean="0"/>
              <a:t>nimiltequitiquetl</a:t>
            </a:r>
          </a:p>
        </p:txBody>
      </p:sp>
      <p:sp>
        <p:nvSpPr>
          <p:cNvPr id="68" name="45 CuadroTexto"/>
          <p:cNvSpPr txBox="1"/>
          <p:nvPr/>
        </p:nvSpPr>
        <p:spPr>
          <a:xfrm>
            <a:off x="6326158" y="2450068"/>
            <a:ext cx="1446242" cy="369332"/>
          </a:xfrm>
          <a:prstGeom prst="rect">
            <a:avLst/>
          </a:prstGeom>
          <a:noFill/>
        </p:spPr>
        <p:txBody>
          <a:bodyPr wrap="none" rtlCol="0">
            <a:spAutoFit/>
          </a:bodyPr>
          <a:lstStyle/>
          <a:p>
            <a:pPr algn="ctr"/>
            <a:r>
              <a:rPr lang="es-MX" b="1" dirty="0" smtClean="0"/>
              <a:t>nimomachtia</a:t>
            </a:r>
          </a:p>
        </p:txBody>
      </p:sp>
      <p:sp>
        <p:nvSpPr>
          <p:cNvPr id="69" name="45 CuadroTexto"/>
          <p:cNvSpPr txBox="1"/>
          <p:nvPr/>
        </p:nvSpPr>
        <p:spPr>
          <a:xfrm>
            <a:off x="6324600" y="2754868"/>
            <a:ext cx="1535396" cy="369332"/>
          </a:xfrm>
          <a:prstGeom prst="rect">
            <a:avLst/>
          </a:prstGeom>
          <a:noFill/>
        </p:spPr>
        <p:txBody>
          <a:bodyPr wrap="none" rtlCol="0">
            <a:spAutoFit/>
          </a:bodyPr>
          <a:lstStyle/>
          <a:p>
            <a:pPr algn="ctr"/>
            <a:r>
              <a:rPr lang="es-MX" b="1" dirty="0" smtClean="0"/>
              <a:t>nicuaxinquetl</a:t>
            </a:r>
          </a:p>
        </p:txBody>
      </p:sp>
      <p:sp>
        <p:nvSpPr>
          <p:cNvPr id="70" name="45 CuadroTexto"/>
          <p:cNvSpPr txBox="1"/>
          <p:nvPr/>
        </p:nvSpPr>
        <p:spPr>
          <a:xfrm>
            <a:off x="6324600" y="3048000"/>
            <a:ext cx="1863724" cy="369332"/>
          </a:xfrm>
          <a:prstGeom prst="rect">
            <a:avLst/>
          </a:prstGeom>
          <a:noFill/>
        </p:spPr>
        <p:txBody>
          <a:bodyPr wrap="none" rtlCol="0">
            <a:spAutoFit/>
          </a:bodyPr>
          <a:lstStyle/>
          <a:p>
            <a:pPr algn="ctr"/>
            <a:r>
              <a:rPr lang="es-MX" b="1" dirty="0" smtClean="0"/>
              <a:t>nitlanamacaquetl</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MX" sz="4000" b="1" dirty="0" smtClean="0">
              <a:solidFill>
                <a:schemeClr val="tx2">
                  <a:lumMod val="75000"/>
                </a:schemeClr>
              </a:solidFill>
              <a:effectLst>
                <a:outerShdw blurRad="38100" dist="38100" dir="2700000" algn="tl">
                  <a:srgbClr val="000000">
                    <a:alpha val="43137"/>
                  </a:srgbClr>
                </a:outerShdw>
              </a:effectLst>
              <a:latin typeface="MS Reference Sans Serif" pitchFamily="34" charset="0"/>
            </a:endParaRPr>
          </a:p>
          <a:p>
            <a:pPr algn="ctr"/>
            <a:endParaRPr lang="es-ES" sz="2800" b="1" dirty="0">
              <a:solidFill>
                <a:schemeClr val="tx2">
                  <a:lumMod val="75000"/>
                </a:schemeClr>
              </a:solidFill>
              <a:effectLst>
                <a:outerShdw blurRad="38100" dist="38100" dir="2700000" algn="tl">
                  <a:srgbClr val="000000">
                    <a:alpha val="43137"/>
                  </a:srgbClr>
                </a:outerShdw>
              </a:effectLst>
              <a:latin typeface="MS Reference Sans Serif" pitchFamily="34" charset="0"/>
            </a:endParaRPr>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28" name="27 Rectángulo"/>
          <p:cNvSpPr/>
          <p:nvPr/>
        </p:nvSpPr>
        <p:spPr>
          <a:xfrm>
            <a:off x="685800" y="1828800"/>
            <a:ext cx="1066800" cy="1524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1" name="50 Rectángulo"/>
          <p:cNvSpPr/>
          <p:nvPr/>
        </p:nvSpPr>
        <p:spPr>
          <a:xfrm>
            <a:off x="6096000" y="2743200"/>
            <a:ext cx="1143000" cy="16002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 name="38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42" name="41 CuadroTexto"/>
          <p:cNvSpPr txBox="1"/>
          <p:nvPr/>
        </p:nvSpPr>
        <p:spPr>
          <a:xfrm>
            <a:off x="285720" y="357166"/>
            <a:ext cx="1085880" cy="338554"/>
          </a:xfrm>
          <a:prstGeom prst="rect">
            <a:avLst/>
          </a:prstGeom>
          <a:noFill/>
        </p:spPr>
        <p:txBody>
          <a:bodyPr wrap="square" rtlCol="0">
            <a:spAutoFit/>
          </a:bodyPr>
          <a:lstStyle/>
          <a:p>
            <a:r>
              <a:rPr lang="es-MX" sz="1600" dirty="0" smtClean="0">
                <a:solidFill>
                  <a:schemeClr val="bg1"/>
                </a:solidFill>
                <a:latin typeface="Arial Narrow" pitchFamily="34" charset="0"/>
              </a:rPr>
              <a:t>MA-CH-13</a:t>
            </a:r>
          </a:p>
        </p:txBody>
      </p:sp>
      <p:sp>
        <p:nvSpPr>
          <p:cNvPr id="47" name="13 Rectángulo redondeado"/>
          <p:cNvSpPr/>
          <p:nvPr/>
        </p:nvSpPr>
        <p:spPr>
          <a:xfrm>
            <a:off x="7772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13 Rectángulo redondeado"/>
          <p:cNvSpPr/>
          <p:nvPr/>
        </p:nvSpPr>
        <p:spPr>
          <a:xfrm>
            <a:off x="7010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8" name="13 Rectángulo redondeado"/>
          <p:cNvSpPr/>
          <p:nvPr/>
        </p:nvSpPr>
        <p:spPr>
          <a:xfrm>
            <a:off x="8534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9" name="26 CuadroTexto"/>
          <p:cNvSpPr txBox="1"/>
          <p:nvPr/>
        </p:nvSpPr>
        <p:spPr>
          <a:xfrm rot="16200000">
            <a:off x="6667500" y="45339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60" name="26 CuadroTexto"/>
          <p:cNvSpPr txBox="1"/>
          <p:nvPr/>
        </p:nvSpPr>
        <p:spPr>
          <a:xfrm rot="16200000">
            <a:off x="7375625" y="44800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61" name="26 CuadroTexto"/>
          <p:cNvSpPr txBox="1"/>
          <p:nvPr/>
        </p:nvSpPr>
        <p:spPr>
          <a:xfrm rot="16200000">
            <a:off x="8115300" y="45339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62" name="33 CuadroTexto"/>
          <p:cNvSpPr txBox="1"/>
          <p:nvPr/>
        </p:nvSpPr>
        <p:spPr>
          <a:xfrm>
            <a:off x="6781800" y="5581664"/>
            <a:ext cx="809644" cy="276999"/>
          </a:xfrm>
          <a:prstGeom prst="rect">
            <a:avLst/>
          </a:prstGeom>
          <a:noFill/>
        </p:spPr>
        <p:txBody>
          <a:bodyPr wrap="square" rtlCol="0">
            <a:spAutoFit/>
          </a:bodyPr>
          <a:lstStyle/>
          <a:p>
            <a:r>
              <a:rPr lang="es-MX" sz="1200" dirty="0" smtClean="0">
                <a:latin typeface="Arial Narrow" pitchFamily="34" charset="0"/>
              </a:rPr>
              <a:t>MA-CH-11</a:t>
            </a:r>
            <a:endParaRPr lang="es-MX" sz="1200" dirty="0" smtClean="0">
              <a:solidFill>
                <a:schemeClr val="bg1"/>
              </a:solidFill>
              <a:latin typeface="Arial Narrow" pitchFamily="34" charset="0"/>
            </a:endParaRPr>
          </a:p>
        </p:txBody>
      </p:sp>
      <p:sp>
        <p:nvSpPr>
          <p:cNvPr id="63" name="33 CuadroTexto"/>
          <p:cNvSpPr txBox="1"/>
          <p:nvPr/>
        </p:nvSpPr>
        <p:spPr>
          <a:xfrm>
            <a:off x="7667620" y="5590401"/>
            <a:ext cx="714380" cy="276999"/>
          </a:xfrm>
          <a:prstGeom prst="rect">
            <a:avLst/>
          </a:prstGeom>
          <a:noFill/>
        </p:spPr>
        <p:txBody>
          <a:bodyPr wrap="square" rtlCol="0">
            <a:spAutoFit/>
          </a:bodyPr>
          <a:lstStyle/>
          <a:p>
            <a:r>
              <a:rPr lang="es-MX" sz="1200" dirty="0" smtClean="0">
                <a:latin typeface="Arial Narrow" pitchFamily="34" charset="0"/>
              </a:rPr>
              <a:t>MA-CH-</a:t>
            </a:r>
            <a:endParaRPr lang="es-MX" sz="1200" dirty="0" smtClean="0">
              <a:solidFill>
                <a:schemeClr val="bg1"/>
              </a:solidFill>
              <a:latin typeface="Arial Narrow" pitchFamily="34" charset="0"/>
            </a:endParaRPr>
          </a:p>
        </p:txBody>
      </p:sp>
      <p:sp>
        <p:nvSpPr>
          <p:cNvPr id="64" name="33 CuadroTexto"/>
          <p:cNvSpPr txBox="1"/>
          <p:nvPr/>
        </p:nvSpPr>
        <p:spPr>
          <a:xfrm>
            <a:off x="8429620" y="5590401"/>
            <a:ext cx="866780" cy="276999"/>
          </a:xfrm>
          <a:prstGeom prst="rect">
            <a:avLst/>
          </a:prstGeom>
          <a:noFill/>
        </p:spPr>
        <p:txBody>
          <a:bodyPr wrap="square" rtlCol="0">
            <a:spAutoFit/>
          </a:bodyPr>
          <a:lstStyle/>
          <a:p>
            <a:r>
              <a:rPr lang="es-MX" sz="1200" dirty="0" smtClean="0">
                <a:latin typeface="Arial Narrow" pitchFamily="34" charset="0"/>
              </a:rPr>
              <a:t>MA-CH-14</a:t>
            </a:r>
            <a:endParaRPr lang="es-MX" sz="1200" dirty="0" smtClean="0">
              <a:solidFill>
                <a:schemeClr val="bg1"/>
              </a:solidFill>
              <a:latin typeface="Arial Narrow" pitchFamily="34" charset="0"/>
            </a:endParaRPr>
          </a:p>
        </p:txBody>
      </p:sp>
      <p:sp>
        <p:nvSpPr>
          <p:cNvPr id="45" name="45 CuadroTexto"/>
          <p:cNvSpPr txBox="1"/>
          <p:nvPr/>
        </p:nvSpPr>
        <p:spPr>
          <a:xfrm>
            <a:off x="1981200" y="1905000"/>
            <a:ext cx="1560994" cy="1384995"/>
          </a:xfrm>
          <a:prstGeom prst="rect">
            <a:avLst/>
          </a:prstGeom>
          <a:noFill/>
        </p:spPr>
        <p:txBody>
          <a:bodyPr wrap="none" rtlCol="0">
            <a:spAutoFit/>
          </a:bodyPr>
          <a:lstStyle/>
          <a:p>
            <a:r>
              <a:rPr lang="es-MX" sz="1400" b="1" dirty="0" smtClean="0"/>
              <a:t>notoca María</a:t>
            </a:r>
          </a:p>
          <a:p>
            <a:r>
              <a:rPr lang="es-MX" sz="1400" b="1" dirty="0" smtClean="0"/>
              <a:t>Nieua Pachuca</a:t>
            </a:r>
          </a:p>
          <a:p>
            <a:r>
              <a:rPr lang="es-MX" sz="1400" b="1" dirty="0" smtClean="0"/>
              <a:t>Nitlamachtihquetl</a:t>
            </a:r>
          </a:p>
          <a:p>
            <a:endParaRPr lang="es-MX" sz="1400" b="1" dirty="0" smtClean="0"/>
          </a:p>
          <a:p>
            <a:r>
              <a:rPr lang="es-MX" sz="1400" b="1" dirty="0" smtClean="0"/>
              <a:t>Iuan ta?</a:t>
            </a:r>
          </a:p>
          <a:p>
            <a:r>
              <a:rPr lang="es-MX" sz="1400" b="1" dirty="0" smtClean="0"/>
              <a:t>Motoca Indalecio?</a:t>
            </a:r>
          </a:p>
        </p:txBody>
      </p:sp>
      <p:sp>
        <p:nvSpPr>
          <p:cNvPr id="50" name="45 CuadroTexto"/>
          <p:cNvSpPr txBox="1"/>
          <p:nvPr/>
        </p:nvSpPr>
        <p:spPr>
          <a:xfrm>
            <a:off x="4492794" y="3362980"/>
            <a:ext cx="1527006" cy="523220"/>
          </a:xfrm>
          <a:prstGeom prst="rect">
            <a:avLst/>
          </a:prstGeom>
          <a:noFill/>
        </p:spPr>
        <p:txBody>
          <a:bodyPr wrap="square" rtlCol="0">
            <a:spAutoFit/>
          </a:bodyPr>
          <a:lstStyle/>
          <a:p>
            <a:r>
              <a:rPr lang="es-MX" sz="1400" b="1" dirty="0" smtClean="0"/>
              <a:t>Amo, notoca Juan</a:t>
            </a:r>
          </a:p>
          <a:p>
            <a:endParaRPr lang="es-MX" sz="1400" b="1" dirty="0" smtClean="0"/>
          </a:p>
          <a:p>
            <a:endParaRPr lang="es-MX" sz="1400" b="1" dirty="0" smtClean="0"/>
          </a:p>
        </p:txBody>
      </p:sp>
      <p:sp>
        <p:nvSpPr>
          <p:cNvPr id="52" name="45 CuadroTexto"/>
          <p:cNvSpPr txBox="1"/>
          <p:nvPr/>
        </p:nvSpPr>
        <p:spPr>
          <a:xfrm>
            <a:off x="1981200" y="3667780"/>
            <a:ext cx="1527006" cy="523220"/>
          </a:xfrm>
          <a:prstGeom prst="rect">
            <a:avLst/>
          </a:prstGeom>
          <a:noFill/>
        </p:spPr>
        <p:txBody>
          <a:bodyPr wrap="square" rtlCol="0">
            <a:spAutoFit/>
          </a:bodyPr>
          <a:lstStyle/>
          <a:p>
            <a:r>
              <a:rPr lang="es-MX" sz="1400" b="1" dirty="0" smtClean="0"/>
              <a:t>Tieua Santa Cruz?</a:t>
            </a:r>
          </a:p>
          <a:p>
            <a:endParaRPr lang="es-MX" sz="1400" b="1" dirty="0" smtClean="0"/>
          </a:p>
          <a:p>
            <a:endParaRPr lang="es-MX" sz="1400" b="1" dirty="0" smtClean="0"/>
          </a:p>
        </p:txBody>
      </p:sp>
      <p:sp>
        <p:nvSpPr>
          <p:cNvPr id="53" name="45 CuadroTexto"/>
          <p:cNvSpPr txBox="1"/>
          <p:nvPr/>
        </p:nvSpPr>
        <p:spPr>
          <a:xfrm>
            <a:off x="4495800" y="3896380"/>
            <a:ext cx="1527006" cy="738664"/>
          </a:xfrm>
          <a:prstGeom prst="rect">
            <a:avLst/>
          </a:prstGeom>
          <a:noFill/>
        </p:spPr>
        <p:txBody>
          <a:bodyPr wrap="square" rtlCol="0">
            <a:spAutoFit/>
          </a:bodyPr>
          <a:lstStyle/>
          <a:p>
            <a:r>
              <a:rPr lang="es-MX" sz="1400" b="1" dirty="0" smtClean="0"/>
              <a:t>Amo, nieua San Gregorio.</a:t>
            </a:r>
          </a:p>
          <a:p>
            <a:endParaRPr lang="es-MX" sz="1400" b="1" dirty="0" smtClean="0"/>
          </a:p>
          <a:p>
            <a:endParaRPr lang="es-MX" sz="1400" b="1" dirty="0" smtClean="0"/>
          </a:p>
        </p:txBody>
      </p:sp>
      <p:sp>
        <p:nvSpPr>
          <p:cNvPr id="54" name="45 CuadroTexto"/>
          <p:cNvSpPr txBox="1"/>
          <p:nvPr/>
        </p:nvSpPr>
        <p:spPr>
          <a:xfrm>
            <a:off x="2054394" y="4343400"/>
            <a:ext cx="1527006" cy="523220"/>
          </a:xfrm>
          <a:prstGeom prst="rect">
            <a:avLst/>
          </a:prstGeom>
          <a:noFill/>
        </p:spPr>
        <p:txBody>
          <a:bodyPr wrap="square" rtlCol="0">
            <a:spAutoFit/>
          </a:bodyPr>
          <a:lstStyle/>
          <a:p>
            <a:r>
              <a:rPr lang="es-MX" sz="1400" b="1" dirty="0" smtClean="0"/>
              <a:t>Timomachtia?</a:t>
            </a:r>
          </a:p>
          <a:p>
            <a:endParaRPr lang="es-MX" sz="1400" b="1" dirty="0" smtClean="0"/>
          </a:p>
          <a:p>
            <a:endParaRPr lang="es-MX" sz="1400" b="1" dirty="0" smtClean="0"/>
          </a:p>
        </p:txBody>
      </p:sp>
      <p:sp>
        <p:nvSpPr>
          <p:cNvPr id="55" name="45 CuadroTexto"/>
          <p:cNvSpPr txBox="1"/>
          <p:nvPr/>
        </p:nvSpPr>
        <p:spPr>
          <a:xfrm>
            <a:off x="4495800" y="4595336"/>
            <a:ext cx="1527006" cy="954107"/>
          </a:xfrm>
          <a:prstGeom prst="rect">
            <a:avLst/>
          </a:prstGeom>
          <a:noFill/>
        </p:spPr>
        <p:txBody>
          <a:bodyPr wrap="square" rtlCol="0">
            <a:spAutoFit/>
          </a:bodyPr>
          <a:lstStyle/>
          <a:p>
            <a:r>
              <a:rPr lang="es-MX" sz="1400" b="1" dirty="0" smtClean="0"/>
              <a:t>Quena</a:t>
            </a:r>
          </a:p>
          <a:p>
            <a:r>
              <a:rPr lang="es-MX" sz="1400" b="1" dirty="0" smtClean="0"/>
              <a:t>Nimomachtia Mexcatl</a:t>
            </a:r>
          </a:p>
          <a:p>
            <a:endParaRPr lang="es-MX" sz="1400" b="1" dirty="0" smtClean="0"/>
          </a:p>
          <a:p>
            <a:endParaRPr lang="es-MX" sz="1400" b="1"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5 Rectángulo"/>
          <p:cNvSpPr/>
          <p:nvPr/>
        </p:nvSpPr>
        <p:spPr>
          <a:xfrm>
            <a:off x="0" y="990600"/>
            <a:ext cx="9144000"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MX" sz="4000" b="1" dirty="0" smtClean="0"/>
          </a:p>
        </p:txBody>
      </p:sp>
      <p:sp>
        <p:nvSpPr>
          <p:cNvPr id="9" name="8 Rectángulo"/>
          <p:cNvSpPr/>
          <p:nvPr/>
        </p:nvSpPr>
        <p:spPr>
          <a:xfrm>
            <a:off x="323528"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Mapa</a:t>
            </a:r>
            <a:endParaRPr lang="es-ES" b="1" dirty="0">
              <a:solidFill>
                <a:schemeClr val="tx1"/>
              </a:solidFill>
            </a:endParaRPr>
          </a:p>
        </p:txBody>
      </p:sp>
      <p:sp>
        <p:nvSpPr>
          <p:cNvPr id="15" name="14 CuadroTexto"/>
          <p:cNvSpPr txBox="1"/>
          <p:nvPr/>
        </p:nvSpPr>
        <p:spPr>
          <a:xfrm>
            <a:off x="2806474" y="116632"/>
            <a:ext cx="2997711" cy="646331"/>
          </a:xfrm>
          <a:prstGeom prst="rect">
            <a:avLst/>
          </a:prstGeom>
          <a:noFill/>
        </p:spPr>
        <p:txBody>
          <a:bodyPr wrap="none" rtlCol="0">
            <a:spAutoFit/>
          </a:bodyPr>
          <a:lstStyle/>
          <a:p>
            <a:r>
              <a:rPr lang="es-MX" sz="3600" dirty="0" smtClean="0">
                <a:solidFill>
                  <a:schemeClr val="bg1"/>
                </a:solidFill>
                <a:effectLst>
                  <a:outerShdw blurRad="38100" dist="38100" dir="2700000" algn="tl">
                    <a:srgbClr val="000000">
                      <a:alpha val="43137"/>
                    </a:srgbClr>
                  </a:outerShdw>
                </a:effectLst>
                <a:latin typeface="MS Reference Sans Serif" pitchFamily="34" charset="0"/>
              </a:rPr>
              <a:t>CHANEUANI</a:t>
            </a:r>
            <a:endParaRPr lang="es-ES" sz="3600" dirty="0">
              <a:solidFill>
                <a:schemeClr val="bg1"/>
              </a:solidFill>
              <a:effectLst>
                <a:outerShdw blurRad="38100" dist="38100" dir="2700000" algn="tl">
                  <a:srgbClr val="000000">
                    <a:alpha val="43137"/>
                  </a:srgbClr>
                </a:outerShdw>
              </a:effectLst>
              <a:latin typeface="MS Reference Sans Serif" pitchFamily="34" charset="0"/>
            </a:endParaRPr>
          </a:p>
        </p:txBody>
      </p:sp>
      <p:sp>
        <p:nvSpPr>
          <p:cNvPr id="24" name="23 Rectángulo"/>
          <p:cNvSpPr/>
          <p:nvPr/>
        </p:nvSpPr>
        <p:spPr>
          <a:xfrm>
            <a:off x="6948264" y="6093296"/>
            <a:ext cx="1584176" cy="432048"/>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smtClean="0">
                <a:solidFill>
                  <a:schemeClr val="tx1"/>
                </a:solidFill>
              </a:rPr>
              <a:t>Ayuda</a:t>
            </a:r>
            <a:endParaRPr lang="es-ES" b="1" dirty="0">
              <a:solidFill>
                <a:schemeClr val="tx1"/>
              </a:solidFill>
            </a:endParaRPr>
          </a:p>
        </p:txBody>
      </p:sp>
      <p:grpSp>
        <p:nvGrpSpPr>
          <p:cNvPr id="2" name="28 Grupo"/>
          <p:cNvGrpSpPr/>
          <p:nvPr/>
        </p:nvGrpSpPr>
        <p:grpSpPr>
          <a:xfrm>
            <a:off x="211432" y="1071546"/>
            <a:ext cx="1431610" cy="500066"/>
            <a:chOff x="285720" y="857232"/>
            <a:chExt cx="1431610" cy="500066"/>
          </a:xfrm>
        </p:grpSpPr>
        <p:sp>
          <p:nvSpPr>
            <p:cNvPr id="30" name="29 Rectángulo redondeado"/>
            <p:cNvSpPr/>
            <p:nvPr/>
          </p:nvSpPr>
          <p:spPr>
            <a:xfrm>
              <a:off x="285720" y="857232"/>
              <a:ext cx="360040" cy="28803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s-ES" sz="2000" b="1" dirty="0">
                <a:latin typeface="Arial Narrow" pitchFamily="34" charset="0"/>
              </a:endParaRPr>
            </a:p>
          </p:txBody>
        </p:sp>
        <p:sp>
          <p:nvSpPr>
            <p:cNvPr id="31" name="30 Rectángulo redondeado"/>
            <p:cNvSpPr/>
            <p:nvPr/>
          </p:nvSpPr>
          <p:spPr>
            <a:xfrm>
              <a:off x="642910" y="857232"/>
              <a:ext cx="360040" cy="288032"/>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s-ES" sz="2000" b="1" dirty="0">
                <a:latin typeface="Arial Narrow" pitchFamily="34" charset="0"/>
              </a:endParaRPr>
            </a:p>
          </p:txBody>
        </p:sp>
        <p:sp>
          <p:nvSpPr>
            <p:cNvPr id="32" name="31 Rectángulo redondeado"/>
            <p:cNvSpPr/>
            <p:nvPr/>
          </p:nvSpPr>
          <p:spPr>
            <a:xfrm>
              <a:off x="1000100" y="857232"/>
              <a:ext cx="360040" cy="28803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sz="2000" b="1" dirty="0">
                <a:latin typeface="Arial Narrow" pitchFamily="34" charset="0"/>
              </a:endParaRPr>
            </a:p>
          </p:txBody>
        </p:sp>
        <p:sp>
          <p:nvSpPr>
            <p:cNvPr id="33" name="32 Rectángulo redondeado"/>
            <p:cNvSpPr/>
            <p:nvPr/>
          </p:nvSpPr>
          <p:spPr>
            <a:xfrm>
              <a:off x="1357290" y="857232"/>
              <a:ext cx="360040" cy="28803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34" name="33 CuadroTexto"/>
            <p:cNvSpPr txBox="1"/>
            <p:nvPr/>
          </p:nvSpPr>
          <p:spPr>
            <a:xfrm>
              <a:off x="285720" y="1111077"/>
              <a:ext cx="1428760" cy="246221"/>
            </a:xfrm>
            <a:prstGeom prst="rect">
              <a:avLst/>
            </a:prstGeom>
            <a:noFill/>
          </p:spPr>
          <p:txBody>
            <a:bodyPr wrap="square" rtlCol="0">
              <a:spAutoFit/>
            </a:bodyPr>
            <a:lstStyle/>
            <a:p>
              <a:r>
                <a:rPr lang="es-MX" sz="1000" dirty="0" smtClean="0">
                  <a:latin typeface="Arial Narrow" pitchFamily="34" charset="0"/>
                </a:rPr>
                <a:t>Regreso a menú. Módulos</a:t>
              </a:r>
            </a:p>
          </p:txBody>
        </p:sp>
      </p:grpSp>
      <p:sp>
        <p:nvSpPr>
          <p:cNvPr id="28" name="27 Rectángulo"/>
          <p:cNvSpPr/>
          <p:nvPr/>
        </p:nvSpPr>
        <p:spPr>
          <a:xfrm>
            <a:off x="685800" y="1828800"/>
            <a:ext cx="1066800" cy="1524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1" name="50 Rectángulo"/>
          <p:cNvSpPr/>
          <p:nvPr/>
        </p:nvSpPr>
        <p:spPr>
          <a:xfrm>
            <a:off x="7467600" y="1752600"/>
            <a:ext cx="1143000" cy="16002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 name="38 CuadroTexto"/>
          <p:cNvSpPr txBox="1"/>
          <p:nvPr/>
        </p:nvSpPr>
        <p:spPr>
          <a:xfrm>
            <a:off x="785786" y="1428736"/>
            <a:ext cx="928694" cy="338554"/>
          </a:xfrm>
          <a:prstGeom prst="rect">
            <a:avLst/>
          </a:prstGeom>
          <a:noFill/>
        </p:spPr>
        <p:txBody>
          <a:bodyPr wrap="square" rtlCol="0">
            <a:spAutoFit/>
          </a:bodyPr>
          <a:lstStyle/>
          <a:p>
            <a:r>
              <a:rPr lang="es-MX" sz="1600" dirty="0" smtClean="0">
                <a:latin typeface="Arial Narrow" pitchFamily="34" charset="0"/>
              </a:rPr>
              <a:t>MA1</a:t>
            </a:r>
            <a:endParaRPr lang="es-MX" sz="1600" dirty="0" smtClean="0">
              <a:solidFill>
                <a:schemeClr val="bg1"/>
              </a:solidFill>
              <a:latin typeface="Arial Narrow" pitchFamily="34" charset="0"/>
            </a:endParaRPr>
          </a:p>
        </p:txBody>
      </p:sp>
      <p:sp>
        <p:nvSpPr>
          <p:cNvPr id="42" name="41 CuadroTexto"/>
          <p:cNvSpPr txBox="1"/>
          <p:nvPr/>
        </p:nvSpPr>
        <p:spPr>
          <a:xfrm>
            <a:off x="285720" y="357166"/>
            <a:ext cx="1085880" cy="338554"/>
          </a:xfrm>
          <a:prstGeom prst="rect">
            <a:avLst/>
          </a:prstGeom>
          <a:noFill/>
        </p:spPr>
        <p:txBody>
          <a:bodyPr wrap="square" rtlCol="0">
            <a:spAutoFit/>
          </a:bodyPr>
          <a:lstStyle/>
          <a:p>
            <a:r>
              <a:rPr lang="es-MX" sz="1600" dirty="0" smtClean="0">
                <a:solidFill>
                  <a:schemeClr val="bg1"/>
                </a:solidFill>
                <a:latin typeface="Arial Narrow" pitchFamily="34" charset="0"/>
              </a:rPr>
              <a:t>MA-CH-14</a:t>
            </a:r>
          </a:p>
        </p:txBody>
      </p:sp>
      <p:sp>
        <p:nvSpPr>
          <p:cNvPr id="47" name="13 Rectángulo redondeado"/>
          <p:cNvSpPr/>
          <p:nvPr/>
        </p:nvSpPr>
        <p:spPr>
          <a:xfrm>
            <a:off x="7772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48" name="13 Rectángulo redondeado"/>
          <p:cNvSpPr/>
          <p:nvPr/>
        </p:nvSpPr>
        <p:spPr>
          <a:xfrm>
            <a:off x="7010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8" name="13 Rectángulo redondeado"/>
          <p:cNvSpPr/>
          <p:nvPr/>
        </p:nvSpPr>
        <p:spPr>
          <a:xfrm>
            <a:off x="8534400" y="5224474"/>
            <a:ext cx="457200" cy="381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ES" sz="2000" b="1" dirty="0">
              <a:latin typeface="Arial Narrow" pitchFamily="34" charset="0"/>
            </a:endParaRPr>
          </a:p>
        </p:txBody>
      </p:sp>
      <p:sp>
        <p:nvSpPr>
          <p:cNvPr id="59" name="26 CuadroTexto"/>
          <p:cNvSpPr txBox="1"/>
          <p:nvPr/>
        </p:nvSpPr>
        <p:spPr>
          <a:xfrm rot="16200000">
            <a:off x="6667500" y="4533900"/>
            <a:ext cx="1143000" cy="304800"/>
          </a:xfrm>
          <a:prstGeom prst="rect">
            <a:avLst/>
          </a:prstGeom>
          <a:noFill/>
        </p:spPr>
        <p:txBody>
          <a:bodyPr wrap="square" rtlCol="0">
            <a:spAutoFit/>
          </a:bodyPr>
          <a:lstStyle/>
          <a:p>
            <a:r>
              <a:rPr lang="es-MX" sz="1400" dirty="0" smtClean="0">
                <a:latin typeface="Arial Narrow" pitchFamily="34" charset="0"/>
              </a:rPr>
              <a:t>Diálogos</a:t>
            </a:r>
          </a:p>
        </p:txBody>
      </p:sp>
      <p:sp>
        <p:nvSpPr>
          <p:cNvPr id="60" name="26 CuadroTexto"/>
          <p:cNvSpPr txBox="1"/>
          <p:nvPr/>
        </p:nvSpPr>
        <p:spPr>
          <a:xfrm rot="16200000">
            <a:off x="7375625" y="4480025"/>
            <a:ext cx="1247772" cy="307777"/>
          </a:xfrm>
          <a:prstGeom prst="rect">
            <a:avLst/>
          </a:prstGeom>
          <a:noFill/>
        </p:spPr>
        <p:txBody>
          <a:bodyPr wrap="square" rtlCol="0">
            <a:spAutoFit/>
          </a:bodyPr>
          <a:lstStyle/>
          <a:p>
            <a:r>
              <a:rPr lang="es-MX" sz="1400" dirty="0" smtClean="0">
                <a:latin typeface="Arial Narrow" pitchFamily="34" charset="0"/>
              </a:rPr>
              <a:t>Descubrimiento</a:t>
            </a:r>
          </a:p>
        </p:txBody>
      </p:sp>
      <p:sp>
        <p:nvSpPr>
          <p:cNvPr id="61" name="26 CuadroTexto"/>
          <p:cNvSpPr txBox="1"/>
          <p:nvPr/>
        </p:nvSpPr>
        <p:spPr>
          <a:xfrm rot="16200000">
            <a:off x="8115300" y="4533900"/>
            <a:ext cx="1143000" cy="304800"/>
          </a:xfrm>
          <a:prstGeom prst="rect">
            <a:avLst/>
          </a:prstGeom>
          <a:noFill/>
        </p:spPr>
        <p:txBody>
          <a:bodyPr wrap="square" rtlCol="0">
            <a:spAutoFit/>
          </a:bodyPr>
          <a:lstStyle/>
          <a:p>
            <a:r>
              <a:rPr lang="es-MX" sz="1400" dirty="0" smtClean="0">
                <a:latin typeface="Arial Narrow" pitchFamily="34" charset="0"/>
              </a:rPr>
              <a:t>Práctica</a:t>
            </a:r>
          </a:p>
        </p:txBody>
      </p:sp>
      <p:sp>
        <p:nvSpPr>
          <p:cNvPr id="62" name="33 CuadroTexto"/>
          <p:cNvSpPr txBox="1"/>
          <p:nvPr/>
        </p:nvSpPr>
        <p:spPr>
          <a:xfrm>
            <a:off x="6705600" y="5581664"/>
            <a:ext cx="885844" cy="276999"/>
          </a:xfrm>
          <a:prstGeom prst="rect">
            <a:avLst/>
          </a:prstGeom>
          <a:noFill/>
        </p:spPr>
        <p:txBody>
          <a:bodyPr wrap="square" rtlCol="0">
            <a:spAutoFit/>
          </a:bodyPr>
          <a:lstStyle/>
          <a:p>
            <a:r>
              <a:rPr lang="es-MX" sz="1200" dirty="0" smtClean="0">
                <a:latin typeface="Arial Narrow" pitchFamily="34" charset="0"/>
              </a:rPr>
              <a:t>MA-CH-11</a:t>
            </a:r>
            <a:endParaRPr lang="es-MX" sz="1200" dirty="0" smtClean="0">
              <a:solidFill>
                <a:schemeClr val="bg1"/>
              </a:solidFill>
              <a:latin typeface="Arial Narrow" pitchFamily="34" charset="0"/>
            </a:endParaRPr>
          </a:p>
        </p:txBody>
      </p:sp>
      <p:sp>
        <p:nvSpPr>
          <p:cNvPr id="63" name="33 CuadroTexto"/>
          <p:cNvSpPr txBox="1"/>
          <p:nvPr/>
        </p:nvSpPr>
        <p:spPr>
          <a:xfrm>
            <a:off x="7667620" y="5590401"/>
            <a:ext cx="714380" cy="276999"/>
          </a:xfrm>
          <a:prstGeom prst="rect">
            <a:avLst/>
          </a:prstGeom>
          <a:noFill/>
        </p:spPr>
        <p:txBody>
          <a:bodyPr wrap="square" rtlCol="0">
            <a:spAutoFit/>
          </a:bodyPr>
          <a:lstStyle/>
          <a:p>
            <a:r>
              <a:rPr lang="es-MX" sz="1200" dirty="0" smtClean="0">
                <a:latin typeface="Arial Narrow" pitchFamily="34" charset="0"/>
              </a:rPr>
              <a:t>MA-CH-</a:t>
            </a:r>
            <a:endParaRPr lang="es-MX" sz="1200" dirty="0" smtClean="0">
              <a:solidFill>
                <a:schemeClr val="bg1"/>
              </a:solidFill>
              <a:latin typeface="Arial Narrow" pitchFamily="34" charset="0"/>
            </a:endParaRPr>
          </a:p>
        </p:txBody>
      </p:sp>
      <p:sp>
        <p:nvSpPr>
          <p:cNvPr id="64" name="33 CuadroTexto"/>
          <p:cNvSpPr txBox="1"/>
          <p:nvPr/>
        </p:nvSpPr>
        <p:spPr>
          <a:xfrm>
            <a:off x="8429620" y="5590401"/>
            <a:ext cx="714380" cy="276999"/>
          </a:xfrm>
          <a:prstGeom prst="rect">
            <a:avLst/>
          </a:prstGeom>
          <a:noFill/>
        </p:spPr>
        <p:txBody>
          <a:bodyPr wrap="square" rtlCol="0">
            <a:spAutoFit/>
          </a:bodyPr>
          <a:lstStyle/>
          <a:p>
            <a:r>
              <a:rPr lang="es-MX" sz="1200" dirty="0" smtClean="0">
                <a:latin typeface="Arial Narrow" pitchFamily="34" charset="0"/>
              </a:rPr>
              <a:t>MA-CH-6</a:t>
            </a:r>
            <a:endParaRPr lang="es-MX" sz="1200" dirty="0" smtClean="0">
              <a:solidFill>
                <a:schemeClr val="bg1"/>
              </a:solidFill>
              <a:latin typeface="Arial Narrow" pitchFamily="34" charset="0"/>
            </a:endParaRPr>
          </a:p>
        </p:txBody>
      </p:sp>
      <p:sp>
        <p:nvSpPr>
          <p:cNvPr id="45" name="45 CuadroTexto"/>
          <p:cNvSpPr txBox="1"/>
          <p:nvPr/>
        </p:nvSpPr>
        <p:spPr>
          <a:xfrm>
            <a:off x="1981200" y="1905000"/>
            <a:ext cx="1662106" cy="307777"/>
          </a:xfrm>
          <a:prstGeom prst="rect">
            <a:avLst/>
          </a:prstGeom>
          <a:noFill/>
        </p:spPr>
        <p:txBody>
          <a:bodyPr wrap="square" rtlCol="0">
            <a:spAutoFit/>
          </a:bodyPr>
          <a:lstStyle/>
          <a:p>
            <a:r>
              <a:rPr lang="es-MX" sz="1400" b="1" dirty="0" smtClean="0"/>
              <a:t>1. </a:t>
            </a:r>
            <a:r>
              <a:rPr lang="es-MX" sz="1400" b="1" dirty="0" err="1" smtClean="0"/>
              <a:t>Cani</a:t>
            </a:r>
            <a:r>
              <a:rPr lang="es-MX" sz="1400" b="1" dirty="0" smtClean="0"/>
              <a:t> </a:t>
            </a:r>
            <a:endParaRPr lang="es-MX" sz="1400" b="1" dirty="0" smtClean="0"/>
          </a:p>
        </p:txBody>
      </p:sp>
      <p:sp>
        <p:nvSpPr>
          <p:cNvPr id="35" name="45 CuadroTexto"/>
          <p:cNvSpPr txBox="1"/>
          <p:nvPr/>
        </p:nvSpPr>
        <p:spPr>
          <a:xfrm>
            <a:off x="1981200" y="2206823"/>
            <a:ext cx="1590668" cy="307777"/>
          </a:xfrm>
          <a:prstGeom prst="rect">
            <a:avLst/>
          </a:prstGeom>
          <a:noFill/>
        </p:spPr>
        <p:txBody>
          <a:bodyPr wrap="square" rtlCol="0">
            <a:spAutoFit/>
          </a:bodyPr>
          <a:lstStyle/>
          <a:p>
            <a:r>
              <a:rPr lang="es-MX" sz="1400" b="1" dirty="0" smtClean="0"/>
              <a:t>3.  ¿</a:t>
            </a:r>
            <a:r>
              <a:rPr lang="es-MX" sz="1400" b="1" dirty="0" err="1" smtClean="0"/>
              <a:t>Tlen</a:t>
            </a:r>
            <a:r>
              <a:rPr lang="es-MX" sz="1400" b="1" dirty="0" smtClean="0"/>
              <a:t> </a:t>
            </a:r>
            <a:r>
              <a:rPr lang="es-MX" sz="1400" b="1" dirty="0" smtClean="0"/>
              <a:t>? </a:t>
            </a:r>
            <a:endParaRPr lang="es-MX" sz="1400" b="1" dirty="0" smtClean="0"/>
          </a:p>
        </p:txBody>
      </p:sp>
      <p:sp>
        <p:nvSpPr>
          <p:cNvPr id="36" name="45 CuadroTexto"/>
          <p:cNvSpPr txBox="1"/>
          <p:nvPr/>
        </p:nvSpPr>
        <p:spPr>
          <a:xfrm>
            <a:off x="1981200" y="2511623"/>
            <a:ext cx="1590668" cy="738664"/>
          </a:xfrm>
          <a:prstGeom prst="rect">
            <a:avLst/>
          </a:prstGeom>
          <a:noFill/>
        </p:spPr>
        <p:txBody>
          <a:bodyPr wrap="square" rtlCol="0">
            <a:spAutoFit/>
          </a:bodyPr>
          <a:lstStyle/>
          <a:p>
            <a:pPr marL="342900" indent="-342900"/>
            <a:r>
              <a:rPr lang="es-MX" sz="1400" b="1" dirty="0" smtClean="0"/>
              <a:t>5. </a:t>
            </a:r>
            <a:r>
              <a:rPr lang="es-MX" sz="1400" b="1" dirty="0" smtClean="0"/>
              <a:t>Aurelia </a:t>
            </a:r>
            <a:endParaRPr lang="es-MX" sz="1400" b="1" dirty="0" smtClean="0"/>
          </a:p>
          <a:p>
            <a:pPr marL="342900" indent="-342900"/>
            <a:r>
              <a:rPr lang="es-MX" sz="1400" b="1" dirty="0" smtClean="0"/>
              <a:t>    ¿</a:t>
            </a:r>
            <a:r>
              <a:rPr lang="es-MX" sz="1400" b="1" dirty="0" err="1" smtClean="0"/>
              <a:t>Tlen</a:t>
            </a:r>
            <a:r>
              <a:rPr lang="es-MX" sz="1400" b="1" dirty="0" smtClean="0"/>
              <a:t>                 ? </a:t>
            </a:r>
            <a:endParaRPr lang="es-MX" sz="1400" b="1" dirty="0" smtClean="0"/>
          </a:p>
          <a:p>
            <a:pPr marL="342900" indent="-342900"/>
            <a:endParaRPr lang="es-MX" sz="1400" b="1" dirty="0" smtClean="0"/>
          </a:p>
        </p:txBody>
      </p:sp>
      <p:sp>
        <p:nvSpPr>
          <p:cNvPr id="37" name="45 CuadroTexto"/>
          <p:cNvSpPr txBox="1"/>
          <p:nvPr/>
        </p:nvSpPr>
        <p:spPr>
          <a:xfrm>
            <a:off x="1981200" y="3045023"/>
            <a:ext cx="2050161" cy="307777"/>
          </a:xfrm>
          <a:prstGeom prst="rect">
            <a:avLst/>
          </a:prstGeom>
          <a:noFill/>
        </p:spPr>
        <p:txBody>
          <a:bodyPr wrap="none" rtlCol="0">
            <a:spAutoFit/>
          </a:bodyPr>
          <a:lstStyle/>
          <a:p>
            <a:r>
              <a:rPr lang="es-MX" sz="1400" b="1" dirty="0" smtClean="0"/>
              <a:t>7. </a:t>
            </a:r>
            <a:r>
              <a:rPr lang="es-MX" sz="1400" b="1" dirty="0" err="1" smtClean="0"/>
              <a:t>nichiquichihchihquetl</a:t>
            </a:r>
            <a:endParaRPr lang="es-MX" sz="1400" b="1" dirty="0" smtClean="0"/>
          </a:p>
        </p:txBody>
      </p:sp>
      <p:sp>
        <p:nvSpPr>
          <p:cNvPr id="38" name="45 CuadroTexto"/>
          <p:cNvSpPr txBox="1"/>
          <p:nvPr/>
        </p:nvSpPr>
        <p:spPr>
          <a:xfrm>
            <a:off x="1981200" y="3349823"/>
            <a:ext cx="1686179" cy="523220"/>
          </a:xfrm>
          <a:prstGeom prst="rect">
            <a:avLst/>
          </a:prstGeom>
          <a:noFill/>
        </p:spPr>
        <p:txBody>
          <a:bodyPr wrap="none" rtlCol="0">
            <a:spAutoFit/>
          </a:bodyPr>
          <a:lstStyle/>
          <a:p>
            <a:pPr marL="342900" indent="-342900"/>
            <a:r>
              <a:rPr lang="es-MX" sz="1400" b="1" dirty="0" smtClean="0"/>
              <a:t>9. niya tianguis</a:t>
            </a:r>
          </a:p>
          <a:p>
            <a:pPr marL="342900" indent="-342900"/>
            <a:r>
              <a:rPr lang="es-MX" sz="1400" b="1" dirty="0" smtClean="0"/>
              <a:t>    Timoitaseh nimah</a:t>
            </a:r>
          </a:p>
          <a:p>
            <a:pPr marL="342900" indent="-342900"/>
            <a:endParaRPr lang="es-MX" sz="1400" b="1" dirty="0" smtClean="0"/>
          </a:p>
        </p:txBody>
      </p:sp>
      <p:sp>
        <p:nvSpPr>
          <p:cNvPr id="40" name="45 CuadroTexto"/>
          <p:cNvSpPr txBox="1"/>
          <p:nvPr/>
        </p:nvSpPr>
        <p:spPr>
          <a:xfrm>
            <a:off x="5609967" y="1905000"/>
            <a:ext cx="1915909" cy="307777"/>
          </a:xfrm>
          <a:prstGeom prst="rect">
            <a:avLst/>
          </a:prstGeom>
          <a:noFill/>
        </p:spPr>
        <p:txBody>
          <a:bodyPr wrap="none" rtlCol="0">
            <a:spAutoFit/>
          </a:bodyPr>
          <a:lstStyle/>
          <a:p>
            <a:r>
              <a:rPr lang="es-MX" sz="1400" b="1" dirty="0" smtClean="0"/>
              <a:t>2. Nihuala Embocadero</a:t>
            </a:r>
          </a:p>
        </p:txBody>
      </p:sp>
      <p:sp>
        <p:nvSpPr>
          <p:cNvPr id="41" name="45 CuadroTexto"/>
          <p:cNvSpPr txBox="1"/>
          <p:nvPr/>
        </p:nvSpPr>
        <p:spPr>
          <a:xfrm>
            <a:off x="5638800" y="2209800"/>
            <a:ext cx="1293969" cy="523220"/>
          </a:xfrm>
          <a:prstGeom prst="rect">
            <a:avLst/>
          </a:prstGeom>
          <a:noFill/>
        </p:spPr>
        <p:txBody>
          <a:bodyPr wrap="none" rtlCol="0">
            <a:spAutoFit/>
          </a:bodyPr>
          <a:lstStyle/>
          <a:p>
            <a:pPr marL="342900" indent="-342900"/>
            <a:r>
              <a:rPr lang="es-MX" sz="1400" b="1" dirty="0" smtClean="0"/>
              <a:t>4. Notoca Rosa</a:t>
            </a:r>
          </a:p>
          <a:p>
            <a:pPr marL="342900" indent="-342900"/>
            <a:r>
              <a:rPr lang="es-MX" sz="1400" b="1" dirty="0" smtClean="0"/>
              <a:t>¿Iuan ta?</a:t>
            </a:r>
          </a:p>
          <a:p>
            <a:pPr marL="342900" indent="-342900"/>
            <a:endParaRPr lang="es-MX" sz="1400" b="1" dirty="0" smtClean="0"/>
          </a:p>
        </p:txBody>
      </p:sp>
      <p:sp>
        <p:nvSpPr>
          <p:cNvPr id="43" name="45 CuadroTexto"/>
          <p:cNvSpPr txBox="1"/>
          <p:nvPr/>
        </p:nvSpPr>
        <p:spPr>
          <a:xfrm>
            <a:off x="5638800" y="2677180"/>
            <a:ext cx="1692052" cy="523220"/>
          </a:xfrm>
          <a:prstGeom prst="rect">
            <a:avLst/>
          </a:prstGeom>
          <a:noFill/>
        </p:spPr>
        <p:txBody>
          <a:bodyPr wrap="none" rtlCol="0">
            <a:spAutoFit/>
          </a:bodyPr>
          <a:lstStyle/>
          <a:p>
            <a:pPr marL="342900" indent="-342900"/>
            <a:r>
              <a:rPr lang="es-MX" sz="1400" b="1" dirty="0" smtClean="0"/>
              <a:t>6. Nitlanamacaquetl</a:t>
            </a:r>
          </a:p>
          <a:p>
            <a:pPr marL="342900" indent="-342900"/>
            <a:r>
              <a:rPr lang="es-MX" sz="1400" b="1" dirty="0" smtClean="0"/>
              <a:t>    ¿Iuan ta?</a:t>
            </a:r>
          </a:p>
          <a:p>
            <a:pPr marL="342900" indent="-342900"/>
            <a:endParaRPr lang="es-MX" sz="1400" b="1" dirty="0" smtClean="0"/>
          </a:p>
        </p:txBody>
      </p:sp>
      <p:sp>
        <p:nvSpPr>
          <p:cNvPr id="44" name="45 CuadroTexto"/>
          <p:cNvSpPr txBox="1"/>
          <p:nvPr/>
        </p:nvSpPr>
        <p:spPr>
          <a:xfrm>
            <a:off x="5638800" y="3134380"/>
            <a:ext cx="1199204" cy="307777"/>
          </a:xfrm>
          <a:prstGeom prst="rect">
            <a:avLst/>
          </a:prstGeom>
          <a:noFill/>
        </p:spPr>
        <p:txBody>
          <a:bodyPr wrap="none" rtlCol="0">
            <a:spAutoFit/>
          </a:bodyPr>
          <a:lstStyle/>
          <a:p>
            <a:pPr marL="342900" indent="-342900"/>
            <a:r>
              <a:rPr lang="es-MX" sz="1400" b="1" dirty="0" smtClean="0"/>
              <a:t>8. ¿Cani Tiya?</a:t>
            </a:r>
          </a:p>
          <a:p>
            <a:pPr marL="342900" indent="-342900"/>
            <a:endParaRPr lang="es-MX" sz="1400" b="1" dirty="0" smtClean="0"/>
          </a:p>
        </p:txBody>
      </p:sp>
      <p:sp>
        <p:nvSpPr>
          <p:cNvPr id="46" name="45 CuadroTexto"/>
          <p:cNvSpPr txBox="1"/>
          <p:nvPr/>
        </p:nvSpPr>
        <p:spPr>
          <a:xfrm>
            <a:off x="5638800" y="3515380"/>
            <a:ext cx="1794356" cy="307777"/>
          </a:xfrm>
          <a:prstGeom prst="rect">
            <a:avLst/>
          </a:prstGeom>
          <a:noFill/>
        </p:spPr>
        <p:txBody>
          <a:bodyPr wrap="none" rtlCol="0">
            <a:spAutoFit/>
          </a:bodyPr>
          <a:lstStyle/>
          <a:p>
            <a:pPr marL="342900" indent="-342900"/>
            <a:r>
              <a:rPr lang="es-MX" sz="1400" b="1" dirty="0" smtClean="0"/>
              <a:t>10. Timoitaseh nimah</a:t>
            </a:r>
          </a:p>
          <a:p>
            <a:pPr marL="342900" indent="-342900"/>
            <a:endParaRPr lang="es-MX" sz="1400" b="1" dirty="0" smtClean="0"/>
          </a:p>
        </p:txBody>
      </p:sp>
      <p:sp>
        <p:nvSpPr>
          <p:cNvPr id="49" name="TextBox 22"/>
          <p:cNvSpPr txBox="1"/>
          <p:nvPr/>
        </p:nvSpPr>
        <p:spPr>
          <a:xfrm>
            <a:off x="142844" y="4214818"/>
            <a:ext cx="2500330" cy="1477328"/>
          </a:xfrm>
          <a:prstGeom prst="rect">
            <a:avLst/>
          </a:prstGeom>
          <a:noFill/>
        </p:spPr>
        <p:txBody>
          <a:bodyPr wrap="square" rtlCol="0">
            <a:spAutoFit/>
          </a:bodyPr>
          <a:lstStyle/>
          <a:p>
            <a:r>
              <a:rPr lang="en-US" sz="1000" dirty="0" err="1" smtClean="0"/>
              <a:t>Aparecen</a:t>
            </a:r>
            <a:r>
              <a:rPr lang="en-US" sz="1000" dirty="0" smtClean="0"/>
              <a:t> los </a:t>
            </a:r>
            <a:r>
              <a:rPr lang="en-US" sz="1000" dirty="0" err="1" smtClean="0"/>
              <a:t>personajes</a:t>
            </a:r>
            <a:r>
              <a:rPr lang="en-US" sz="1000" dirty="0" smtClean="0"/>
              <a:t> y el </a:t>
            </a:r>
            <a:r>
              <a:rPr lang="en-US" sz="1000" dirty="0" err="1" smtClean="0"/>
              <a:t>diálogo</a:t>
            </a:r>
            <a:r>
              <a:rPr lang="en-US" sz="1000" dirty="0" smtClean="0"/>
              <a:t> </a:t>
            </a:r>
            <a:r>
              <a:rPr lang="en-US" sz="1000" dirty="0" err="1" smtClean="0"/>
              <a:t>incompleto</a:t>
            </a:r>
            <a:r>
              <a:rPr lang="en-US" sz="1000" dirty="0" smtClean="0"/>
              <a:t>.</a:t>
            </a:r>
          </a:p>
          <a:p>
            <a:endParaRPr lang="en-US" sz="1000" dirty="0" smtClean="0"/>
          </a:p>
          <a:p>
            <a:r>
              <a:rPr lang="en-US" sz="1000" dirty="0" smtClean="0"/>
              <a:t>Abajo la </a:t>
            </a:r>
            <a:r>
              <a:rPr lang="en-US" sz="1000" dirty="0" err="1" smtClean="0"/>
              <a:t>colección</a:t>
            </a:r>
            <a:r>
              <a:rPr lang="en-US" sz="1000" dirty="0" smtClean="0"/>
              <a:t> de </a:t>
            </a:r>
            <a:r>
              <a:rPr lang="en-US" sz="1000" dirty="0" err="1" smtClean="0"/>
              <a:t>palabra</a:t>
            </a:r>
            <a:r>
              <a:rPr lang="en-US" sz="1000" dirty="0" smtClean="0"/>
              <a:t> </a:t>
            </a:r>
            <a:r>
              <a:rPr lang="en-US" sz="1000" dirty="0" err="1" smtClean="0"/>
              <a:t>para</a:t>
            </a:r>
            <a:r>
              <a:rPr lang="en-US" sz="1000" dirty="0" smtClean="0"/>
              <a:t> </a:t>
            </a:r>
            <a:r>
              <a:rPr lang="en-US" sz="1000" dirty="0" err="1" smtClean="0"/>
              <a:t>acomodar</a:t>
            </a:r>
            <a:r>
              <a:rPr lang="en-US" sz="1000" dirty="0" smtClean="0"/>
              <a:t> en </a:t>
            </a:r>
            <a:r>
              <a:rPr lang="en-US" sz="1000" dirty="0" err="1" smtClean="0"/>
              <a:t>lugar</a:t>
            </a:r>
            <a:r>
              <a:rPr lang="en-US" sz="1000" dirty="0" smtClean="0"/>
              <a:t> </a:t>
            </a:r>
            <a:r>
              <a:rPr lang="en-US" sz="1000" dirty="0" err="1" smtClean="0"/>
              <a:t>correcto</a:t>
            </a:r>
            <a:r>
              <a:rPr lang="en-US" sz="1000" dirty="0" smtClean="0"/>
              <a:t>.</a:t>
            </a:r>
          </a:p>
          <a:p>
            <a:endParaRPr lang="en-US" sz="1000" dirty="0" smtClean="0"/>
          </a:p>
          <a:p>
            <a:r>
              <a:rPr lang="en-US" sz="1000" dirty="0" smtClean="0"/>
              <a:t>El </a:t>
            </a:r>
            <a:r>
              <a:rPr lang="en-US" sz="1000" dirty="0" err="1" smtClean="0"/>
              <a:t>usuario</a:t>
            </a:r>
            <a:r>
              <a:rPr lang="en-US" sz="1000" dirty="0" smtClean="0"/>
              <a:t> </a:t>
            </a:r>
            <a:r>
              <a:rPr lang="en-US" sz="1000" dirty="0" err="1" smtClean="0"/>
              <a:t>arrastra</a:t>
            </a:r>
            <a:r>
              <a:rPr lang="en-US" sz="1000" dirty="0" smtClean="0"/>
              <a:t> </a:t>
            </a:r>
            <a:r>
              <a:rPr lang="en-US" sz="1000" dirty="0" err="1" smtClean="0"/>
              <a:t>para</a:t>
            </a:r>
            <a:r>
              <a:rPr lang="en-US" sz="1000" dirty="0" smtClean="0"/>
              <a:t> </a:t>
            </a:r>
            <a:r>
              <a:rPr lang="en-US" sz="1000" dirty="0" err="1" smtClean="0"/>
              <a:t>completar</a:t>
            </a:r>
            <a:r>
              <a:rPr lang="en-US" sz="1000" dirty="0" smtClean="0"/>
              <a:t> y </a:t>
            </a:r>
            <a:r>
              <a:rPr lang="en-US" sz="1000" dirty="0" err="1" smtClean="0"/>
              <a:t>una</a:t>
            </a:r>
            <a:r>
              <a:rPr lang="en-US" sz="1000" dirty="0" smtClean="0"/>
              <a:t> </a:t>
            </a:r>
            <a:r>
              <a:rPr lang="en-US" sz="1000" dirty="0" err="1" smtClean="0"/>
              <a:t>vez</a:t>
            </a:r>
            <a:r>
              <a:rPr lang="en-US" sz="1000" dirty="0" smtClean="0"/>
              <a:t> </a:t>
            </a:r>
            <a:r>
              <a:rPr lang="en-US" sz="1000" dirty="0" err="1" smtClean="0"/>
              <a:t>que</a:t>
            </a:r>
            <a:r>
              <a:rPr lang="en-US" sz="1000" dirty="0" smtClean="0"/>
              <a:t> </a:t>
            </a:r>
            <a:r>
              <a:rPr lang="en-US" sz="1000" dirty="0" err="1" smtClean="0"/>
              <a:t>completo</a:t>
            </a:r>
            <a:r>
              <a:rPr lang="en-US" sz="1000" dirty="0" smtClean="0"/>
              <a:t> el </a:t>
            </a:r>
            <a:r>
              <a:rPr lang="en-US" sz="1000" dirty="0" err="1" smtClean="0"/>
              <a:t>sistema</a:t>
            </a:r>
            <a:r>
              <a:rPr lang="en-US" sz="1000" dirty="0" smtClean="0"/>
              <a:t> </a:t>
            </a:r>
            <a:r>
              <a:rPr lang="en-US" sz="1000" dirty="0" err="1" smtClean="0"/>
              <a:t>verifica</a:t>
            </a:r>
            <a:r>
              <a:rPr lang="en-US" sz="1000" dirty="0" smtClean="0"/>
              <a:t> y </a:t>
            </a:r>
            <a:r>
              <a:rPr lang="en-US" sz="1000" dirty="0" err="1" smtClean="0"/>
              <a:t>regresa</a:t>
            </a:r>
            <a:r>
              <a:rPr lang="en-US" sz="1000" dirty="0" smtClean="0"/>
              <a:t> </a:t>
            </a:r>
            <a:r>
              <a:rPr lang="en-US" sz="1000" dirty="0" err="1" smtClean="0"/>
              <a:t>abajo</a:t>
            </a:r>
            <a:r>
              <a:rPr lang="en-US" sz="1000" dirty="0" smtClean="0"/>
              <a:t> </a:t>
            </a:r>
            <a:r>
              <a:rPr lang="en-US" sz="1000" dirty="0" err="1" smtClean="0"/>
              <a:t>las</a:t>
            </a:r>
            <a:r>
              <a:rPr lang="en-US" sz="1000" dirty="0" smtClean="0"/>
              <a:t> </a:t>
            </a:r>
            <a:r>
              <a:rPr lang="en-US" sz="1000" dirty="0" err="1" smtClean="0"/>
              <a:t>que</a:t>
            </a:r>
            <a:r>
              <a:rPr lang="en-US" sz="1000" dirty="0" smtClean="0"/>
              <a:t> </a:t>
            </a:r>
            <a:r>
              <a:rPr lang="en-US" sz="1000" dirty="0" err="1" smtClean="0"/>
              <a:t>están</a:t>
            </a:r>
            <a:r>
              <a:rPr lang="en-US" sz="1000" dirty="0" smtClean="0"/>
              <a:t> mal.</a:t>
            </a:r>
          </a:p>
        </p:txBody>
      </p:sp>
      <p:sp>
        <p:nvSpPr>
          <p:cNvPr id="50" name="45 CuadroTexto"/>
          <p:cNvSpPr txBox="1"/>
          <p:nvPr/>
        </p:nvSpPr>
        <p:spPr>
          <a:xfrm>
            <a:off x="3714744" y="4786322"/>
            <a:ext cx="598241" cy="307777"/>
          </a:xfrm>
          <a:prstGeom prst="rect">
            <a:avLst/>
          </a:prstGeom>
          <a:noFill/>
        </p:spPr>
        <p:txBody>
          <a:bodyPr wrap="none" rtlCol="0">
            <a:spAutoFit/>
          </a:bodyPr>
          <a:lstStyle/>
          <a:p>
            <a:r>
              <a:rPr lang="es-MX" sz="1400" b="1" dirty="0" err="1" smtClean="0"/>
              <a:t>huala</a:t>
            </a:r>
            <a:endParaRPr lang="es-MX" sz="1400" b="1" dirty="0" smtClean="0"/>
          </a:p>
        </p:txBody>
      </p:sp>
      <p:sp>
        <p:nvSpPr>
          <p:cNvPr id="52" name="51 Rectángulo"/>
          <p:cNvSpPr/>
          <p:nvPr/>
        </p:nvSpPr>
        <p:spPr>
          <a:xfrm>
            <a:off x="2643174" y="2000240"/>
            <a:ext cx="142876"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3" name="52 Rectángulo"/>
          <p:cNvSpPr/>
          <p:nvPr/>
        </p:nvSpPr>
        <p:spPr>
          <a:xfrm>
            <a:off x="2786050" y="2000240"/>
            <a:ext cx="357190"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4" name="45 CuadroTexto"/>
          <p:cNvSpPr txBox="1"/>
          <p:nvPr/>
        </p:nvSpPr>
        <p:spPr>
          <a:xfrm>
            <a:off x="3214678" y="4714884"/>
            <a:ext cx="347666" cy="307777"/>
          </a:xfrm>
          <a:prstGeom prst="rect">
            <a:avLst/>
          </a:prstGeom>
          <a:noFill/>
        </p:spPr>
        <p:txBody>
          <a:bodyPr wrap="square" rtlCol="0">
            <a:spAutoFit/>
          </a:bodyPr>
          <a:lstStyle/>
          <a:p>
            <a:r>
              <a:rPr lang="es-MX" sz="1400" b="1" dirty="0" smtClean="0"/>
              <a:t>ti</a:t>
            </a:r>
            <a:endParaRPr lang="es-MX" sz="1400" b="1" dirty="0" smtClean="0"/>
          </a:p>
        </p:txBody>
      </p:sp>
      <p:sp>
        <p:nvSpPr>
          <p:cNvPr id="55" name="45 CuadroTexto"/>
          <p:cNvSpPr txBox="1"/>
          <p:nvPr/>
        </p:nvSpPr>
        <p:spPr>
          <a:xfrm>
            <a:off x="2857488" y="5000636"/>
            <a:ext cx="504112" cy="307777"/>
          </a:xfrm>
          <a:prstGeom prst="rect">
            <a:avLst/>
          </a:prstGeom>
          <a:noFill/>
        </p:spPr>
        <p:txBody>
          <a:bodyPr wrap="none" rtlCol="0">
            <a:spAutoFit/>
          </a:bodyPr>
          <a:lstStyle/>
          <a:p>
            <a:r>
              <a:rPr lang="es-MX" sz="1400" b="1" dirty="0" smtClean="0"/>
              <a:t>toca</a:t>
            </a:r>
            <a:endParaRPr lang="es-MX" sz="1400" b="1" dirty="0" smtClean="0"/>
          </a:p>
        </p:txBody>
      </p:sp>
      <p:sp>
        <p:nvSpPr>
          <p:cNvPr id="56" name="45 CuadroTexto"/>
          <p:cNvSpPr txBox="1"/>
          <p:nvPr/>
        </p:nvSpPr>
        <p:spPr>
          <a:xfrm>
            <a:off x="4000496" y="5214950"/>
            <a:ext cx="426720" cy="307777"/>
          </a:xfrm>
          <a:prstGeom prst="rect">
            <a:avLst/>
          </a:prstGeom>
          <a:noFill/>
        </p:spPr>
        <p:txBody>
          <a:bodyPr wrap="none" rtlCol="0">
            <a:spAutoFit/>
          </a:bodyPr>
          <a:lstStyle/>
          <a:p>
            <a:r>
              <a:rPr lang="es-MX" sz="1400" b="1" dirty="0" err="1" smtClean="0"/>
              <a:t>mo</a:t>
            </a:r>
            <a:endParaRPr lang="es-MX" sz="1400" b="1" dirty="0" smtClean="0"/>
          </a:p>
        </p:txBody>
      </p:sp>
      <p:sp>
        <p:nvSpPr>
          <p:cNvPr id="57" name="56 Rectángulo"/>
          <p:cNvSpPr/>
          <p:nvPr/>
        </p:nvSpPr>
        <p:spPr>
          <a:xfrm>
            <a:off x="2857488" y="2285992"/>
            <a:ext cx="142876"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5" name="64 Rectángulo"/>
          <p:cNvSpPr/>
          <p:nvPr/>
        </p:nvSpPr>
        <p:spPr>
          <a:xfrm>
            <a:off x="3000364" y="2285992"/>
            <a:ext cx="357190"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6" name="45 CuadroTexto"/>
          <p:cNvSpPr txBox="1"/>
          <p:nvPr/>
        </p:nvSpPr>
        <p:spPr>
          <a:xfrm>
            <a:off x="5143504" y="5286388"/>
            <a:ext cx="504112" cy="307777"/>
          </a:xfrm>
          <a:prstGeom prst="rect">
            <a:avLst/>
          </a:prstGeom>
          <a:noFill/>
        </p:spPr>
        <p:txBody>
          <a:bodyPr wrap="none" rtlCol="0">
            <a:spAutoFit/>
          </a:bodyPr>
          <a:lstStyle/>
          <a:p>
            <a:pPr marL="342900" indent="-342900"/>
            <a:r>
              <a:rPr lang="es-MX" sz="1400" b="1" dirty="0" smtClean="0"/>
              <a:t>toca</a:t>
            </a:r>
            <a:endParaRPr lang="es-MX" sz="1400" b="1" dirty="0" smtClean="0"/>
          </a:p>
        </p:txBody>
      </p:sp>
      <p:sp>
        <p:nvSpPr>
          <p:cNvPr id="67" name="45 CuadroTexto"/>
          <p:cNvSpPr txBox="1"/>
          <p:nvPr/>
        </p:nvSpPr>
        <p:spPr>
          <a:xfrm>
            <a:off x="4714876" y="5214950"/>
            <a:ext cx="377026" cy="307777"/>
          </a:xfrm>
          <a:prstGeom prst="rect">
            <a:avLst/>
          </a:prstGeom>
          <a:noFill/>
        </p:spPr>
        <p:txBody>
          <a:bodyPr wrap="none" rtlCol="0">
            <a:spAutoFit/>
          </a:bodyPr>
          <a:lstStyle/>
          <a:p>
            <a:pPr marL="342900" indent="-342900"/>
            <a:r>
              <a:rPr lang="es-MX" sz="1400" b="1" dirty="0" smtClean="0"/>
              <a:t>n</a:t>
            </a:r>
            <a:r>
              <a:rPr lang="es-MX" sz="1400" b="1" dirty="0" smtClean="0"/>
              <a:t>o</a:t>
            </a:r>
            <a:endParaRPr lang="es-MX" sz="1400" b="1" dirty="0" smtClean="0"/>
          </a:p>
        </p:txBody>
      </p:sp>
      <p:sp>
        <p:nvSpPr>
          <p:cNvPr id="69" name="45 CuadroTexto"/>
          <p:cNvSpPr txBox="1"/>
          <p:nvPr/>
        </p:nvSpPr>
        <p:spPr>
          <a:xfrm>
            <a:off x="4786314" y="4786322"/>
            <a:ext cx="776294" cy="307777"/>
          </a:xfrm>
          <a:prstGeom prst="rect">
            <a:avLst/>
          </a:prstGeom>
          <a:noFill/>
        </p:spPr>
        <p:txBody>
          <a:bodyPr wrap="square" rtlCol="0">
            <a:spAutoFit/>
          </a:bodyPr>
          <a:lstStyle/>
          <a:p>
            <a:r>
              <a:rPr lang="es-MX" sz="1400" b="1" dirty="0" smtClean="0"/>
              <a:t>chihua</a:t>
            </a:r>
            <a:endParaRPr lang="es-MX" sz="1400" b="1" dirty="0" smtClean="0"/>
          </a:p>
        </p:txBody>
      </p:sp>
      <p:sp>
        <p:nvSpPr>
          <p:cNvPr id="70" name="69 Rectángulo"/>
          <p:cNvSpPr/>
          <p:nvPr/>
        </p:nvSpPr>
        <p:spPr>
          <a:xfrm>
            <a:off x="2857488" y="2571744"/>
            <a:ext cx="142876"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1" name="70 Rectángulo"/>
          <p:cNvSpPr/>
          <p:nvPr/>
        </p:nvSpPr>
        <p:spPr>
          <a:xfrm>
            <a:off x="3000364" y="2571744"/>
            <a:ext cx="357190"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2" name="71 Rectángulo"/>
          <p:cNvSpPr/>
          <p:nvPr/>
        </p:nvSpPr>
        <p:spPr>
          <a:xfrm>
            <a:off x="2714612" y="2786058"/>
            <a:ext cx="142876"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3" name="72 Rectángulo"/>
          <p:cNvSpPr/>
          <p:nvPr/>
        </p:nvSpPr>
        <p:spPr>
          <a:xfrm>
            <a:off x="2857488" y="2786058"/>
            <a:ext cx="357190" cy="142876"/>
          </a:xfrm>
          <a:prstGeom prst="rect">
            <a:avLst/>
          </a:prstGeom>
          <a:solidFill>
            <a:srgbClr val="FFFF00"/>
          </a:solid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1515</TotalTime>
  <Words>1512</Words>
  <Application>Microsoft Office PowerPoint</Application>
  <PresentationFormat>Presentación en pantalla (4:3)</PresentationFormat>
  <Paragraphs>518</Paragraphs>
  <Slides>17</Slides>
  <Notes>1</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vector>
  </TitlesOfParts>
  <Company>Universidad Pedagógica Nacional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Ruth Briones Fragoso</dc:creator>
  <cp:lastModifiedBy>flor</cp:lastModifiedBy>
  <cp:revision>108</cp:revision>
  <dcterms:created xsi:type="dcterms:W3CDTF">2010-10-12T00:36:38Z</dcterms:created>
  <dcterms:modified xsi:type="dcterms:W3CDTF">2010-10-26T20:05:57Z</dcterms:modified>
</cp:coreProperties>
</file>